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8" r:id="rId4"/>
  </p:sldMasterIdLst>
  <p:notesMasterIdLst>
    <p:notesMasterId r:id="rId8"/>
  </p:notesMasterIdLst>
  <p:handoutMasterIdLst>
    <p:handoutMasterId r:id="rId9"/>
  </p:handoutMasterIdLst>
  <p:sldIdLst>
    <p:sldId id="2147309557" r:id="rId5"/>
    <p:sldId id="2147378421" r:id="rId6"/>
    <p:sldId id="2147378422" r:id="rId7"/>
  </p:sldIdLst>
  <p:sldSz cx="12188825" cy="6858000"/>
  <p:notesSz cx="9601200" cy="7315200"/>
  <p:defaultTextStyle>
    <a:defPPr>
      <a:defRPr lang="en-US"/>
    </a:defPPr>
    <a:lvl1pPr marL="0" indent="0" algn="l" defTabSz="457200" rtl="0" eaLnBrk="1" latinLnBrk="0" hangingPunct="1">
      <a:buClrTx/>
      <a:buFont typeface="Arial"/>
      <a:buNone/>
      <a:defRPr sz="1500" b="0" kern="1200">
        <a:solidFill>
          <a:schemeClr val="tx2"/>
        </a:solidFill>
        <a:latin typeface="+mn-lt"/>
        <a:ea typeface="+mn-ea"/>
        <a:cs typeface="+mn-cs"/>
      </a:defRPr>
    </a:lvl1pPr>
    <a:lvl2pPr marL="0" indent="0">
      <a:buFontTx/>
      <a:buNone/>
      <a:defRPr sz="1500">
        <a:solidFill>
          <a:schemeClr val="tx2"/>
        </a:solidFill>
      </a:defRPr>
    </a:lvl2pPr>
    <a:lvl3pPr marL="173038" indent="-173038">
      <a:spcBef>
        <a:spcPts val="1200"/>
      </a:spcBef>
      <a:buFont typeface="Arial" panose="020B0604020202020204" pitchFamily="34" charset="0"/>
      <a:buChar char="•"/>
      <a:defRPr sz="1500">
        <a:solidFill>
          <a:schemeClr val="tx2"/>
        </a:solidFill>
      </a:defRPr>
    </a:lvl3pPr>
    <a:lvl4pPr marL="347663" indent="-174625">
      <a:spcBef>
        <a:spcPts val="600"/>
      </a:spcBef>
      <a:buFont typeface="Arial" panose="020B0604020202020204" pitchFamily="34" charset="0"/>
      <a:buChar char="–"/>
      <a:defRPr sz="1500">
        <a:solidFill>
          <a:schemeClr val="tx2"/>
        </a:solidFill>
      </a:defRPr>
    </a:lvl4pPr>
    <a:lvl5pPr marL="509588" indent="-161925">
      <a:spcBef>
        <a:spcPts val="600"/>
      </a:spcBef>
      <a:buFont typeface="Arial" panose="020B0604020202020204" pitchFamily="34" charset="0"/>
      <a:buChar char="•"/>
      <a:defRPr sz="1500">
        <a:solidFill>
          <a:schemeClr val="tx2"/>
        </a:solidFill>
      </a:defRPr>
    </a:lvl5pPr>
    <a:lvl6pPr marL="682625" indent="-173038">
      <a:buFont typeface="Arial" panose="020B0604020202020204" pitchFamily="34" charset="0"/>
      <a:buChar char="–"/>
      <a:defRPr sz="1500" baseline="0"/>
    </a:lvl6pPr>
    <a:lvl7pPr marL="857250" indent="-174625">
      <a:spcBef>
        <a:spcPts val="600"/>
      </a:spcBef>
      <a:buFont typeface="Arial" panose="020B0604020202020204" pitchFamily="34" charset="0"/>
      <a:buChar char="•"/>
      <a:defRPr sz="1500" baseline="0">
        <a:solidFill>
          <a:schemeClr val="tx2"/>
        </a:solidFill>
      </a:defRPr>
    </a:lvl7pPr>
    <a:lvl8pPr marL="1030288" indent="-173038">
      <a:spcBef>
        <a:spcPts val="600"/>
      </a:spcBef>
      <a:buFont typeface="Arial" panose="020B0604020202020204" pitchFamily="34" charset="0"/>
      <a:buChar char="–"/>
      <a:defRPr sz="1500" baseline="0">
        <a:solidFill>
          <a:schemeClr val="tx2"/>
        </a:solidFill>
      </a:defRPr>
    </a:lvl8pPr>
    <a:lvl9pPr marL="1203325" indent="-173038">
      <a:spcBef>
        <a:spcPts val="600"/>
      </a:spcBef>
      <a:buFont typeface="Arial" panose="020B0604020202020204" pitchFamily="34" charset="0"/>
      <a:buChar char="•"/>
      <a:defRPr sz="1500" baseline="0">
        <a:solidFill>
          <a:schemeClr val="tx2"/>
        </a:solidFill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304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E0FB613-8E99-56CB-8D9C-B5F66598AD24}" name="Timmermann, Aly" initials="AT" userId="S::TimmermannA@aetna.com::c7f6dbae-4c4b-4e48-b0da-7c5c9600818c" providerId="AD"/>
  <p188:author id="{8F6EB75B-47EA-9CDB-5855-BAE5786D4F24}" name="Kotenoglou, Dino" initials="KD" userId="S::Konstantinos.Kotenoglou3@aetna.com::9da961fe-727c-4a63-83fd-3f5bc85e06ed" providerId="AD"/>
  <p188:author id="{94D5D07E-D085-1CC5-6BE0-CD5C08B81FD5}" name="Ransford, Liz" initials="RL" userId="S::liz.ransford@crowe.com::0ee32998-c59f-4911-908a-292ec60cdef0" providerId="AD"/>
  <p188:author id="{81B9F494-BB47-00EF-B393-B496A902C39C}" name="Crockett, Lawrence" initials="CL" userId="S::CrockettL1@aetna.com::0bc79c8b-cadd-4e4e-b0c6-d6f6102b38f7" providerId="AD"/>
  <p188:author id="{3A1FA89F-8547-7210-2680-4BF4B69E9A8C}" name="Gardner, Blake" initials="GB" userId="S::gardnerb2@aetna.com::bda6ba6d-3408-457a-8fa2-032285156528" providerId="AD"/>
  <p188:author id="{18A758AE-85EF-4C45-B3CB-545FBC222F27}" name="Kotenoglou, Dino" initials="KD" userId="S::konstantinos.kotenoglou3@aetna.com::9da961fe-727c-4a63-83fd-3f5bc85e06ed" providerId="AD"/>
  <p188:author id="{3DF14FE5-E471-B5B1-B92C-B963956533D5}" name="Crockett, Lawrence" initials="CL" userId="S::crockettl1@aetna.com::0bc79c8b-cadd-4e4e-b0c6-d6f6102b38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B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154C8C-E6A7-154A-4D8B-14676CDC1A1D}" v="24" dt="2025-04-23T15:37:42.140"/>
    <p1510:client id="{872FF322-0365-4BA9-8988-74B15C573098}" v="281" dt="2025-04-23T15:50:33.808"/>
    <p1510:client id="{C347EDA8-2DD7-6E41-49A6-0DB0BA5AABE9}" v="1" dt="2025-04-23T15:41:10.449"/>
  </p1510:revLst>
</p1510:revInfo>
</file>

<file path=ppt/tableStyles.xml><?xml version="1.0" encoding="utf-8"?>
<a:tblStyleLst xmlns:a="http://schemas.openxmlformats.org/drawingml/2006/main" def="{9F4BECD3-1946-49B8-A077-205F1168E22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F4BECD3-1946-49B8-A077-205F1168E22D}" styleName="CVS Table 1">
    <a:wholeTbl>
      <a:tcTxStyle>
        <a:fontRef idx="minor">
          <a:prstClr val="black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0" cmpd="sng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tx2"/>
      </a:tcTxStyle>
      <a:tcStyle>
        <a:tcBdr/>
        <a:fill>
          <a:solidFill>
            <a:srgbClr val="E9E9E9"/>
          </a:solidFill>
        </a:fill>
      </a:tcStyle>
    </a:lastCol>
    <a:firstCol>
      <a:tcTxStyle b="on">
        <a:fontRef idx="minor">
          <a:prstClr val="black"/>
        </a:fontRef>
        <a:schemeClr val="tx2"/>
      </a:tcTxStyle>
      <a:tcStyle>
        <a:tcBdr/>
      </a:tcStyle>
    </a:firstCol>
    <a:lastRow>
      <a:tcTxStyle b="on">
        <a:fontRef idx="minor">
          <a:prstClr val="black"/>
        </a:fontRef>
        <a:schemeClr val="tx2"/>
      </a:tcTxStyle>
      <a:tcStyle>
        <a:tcBdr/>
        <a:fill>
          <a:solidFill>
            <a:srgbClr val="E9E9E9"/>
          </a:solidFill>
        </a:fill>
      </a:tcStyle>
    </a:lastRow>
    <a:firstRow>
      <a:tcTxStyle b="on">
        <a:fontRef idx="minor">
          <a:prstClr val="black"/>
        </a:fontRef>
        <a:schemeClr val="tx2"/>
      </a:tcTxStyle>
      <a:tcStyle>
        <a:tcBdr>
          <a:bottom>
            <a:ln w="12700" cmpd="sng">
              <a:solidFill>
                <a:schemeClr val="accent6"/>
              </a:solidFill>
            </a:ln>
          </a:bottom>
        </a:tcBdr>
      </a:tcStyle>
    </a:firstRow>
  </a:tblStyle>
  <a:tblStyle styleId="{C0B4EDBA-67D5-4435-A0B7-D5753C67F26B}" styleName="CVS Table 2">
    <a:wholeTbl>
      <a:tcTxStyle>
        <a:fontRef idx="minor">
          <a:prstClr val="black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0" cmpd="sng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tx2"/>
      </a:tcTxStyle>
      <a:tcStyle>
        <a:tcBdr/>
        <a:fill>
          <a:solidFill>
            <a:srgbClr val="E9E9E9"/>
          </a:solidFill>
        </a:fill>
      </a:tcStyle>
    </a:lastCol>
    <a:firstCol>
      <a:tcTxStyle b="on">
        <a:fontRef idx="minor">
          <a:prstClr val="black"/>
        </a:fontRef>
        <a:schemeClr val="tx2"/>
      </a:tcTxStyle>
      <a:tcStyle>
        <a:tcBdr/>
      </a:tcStyle>
    </a:firstCol>
    <a:lastRow>
      <a:tcTxStyle b="on">
        <a:fontRef idx="minor">
          <a:prstClr val="black"/>
        </a:fontRef>
        <a:schemeClr val="tx2"/>
      </a:tcTxStyle>
      <a:tcStyle>
        <a:tcBdr/>
        <a:fill>
          <a:solidFill>
            <a:srgbClr val="E9E9E9"/>
          </a:solidFill>
        </a:fill>
      </a:tcStyle>
    </a:lastRow>
    <a:firstRow>
      <a:tcTxStyle b="on">
        <a:fontRef idx="minor">
          <a:prstClr val="black"/>
        </a:fontRef>
        <a:schemeClr val="tx2"/>
      </a:tcTxStyle>
      <a:tcStyle>
        <a:tcBdr>
          <a:bottom>
            <a:ln w="12700" cmpd="sng">
              <a:solidFill>
                <a:schemeClr val="accent2"/>
              </a:solidFill>
            </a:ln>
          </a:bottom>
        </a:tcBdr>
      </a:tcStyle>
    </a:firstRow>
  </a:tblStyle>
  <a:tblStyle styleId="{16486439-AC5F-4A27-B78C-A0BE22C8523E}" styleName="CVS Table 3">
    <a:wholeTbl>
      <a:tcTxStyle>
        <a:fontRef idx="minor">
          <a:prstClr val="black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0" cmpd="sng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tx2"/>
      </a:tcTxStyle>
      <a:tcStyle>
        <a:tcBdr/>
        <a:fill>
          <a:solidFill>
            <a:srgbClr val="E9E9E9"/>
          </a:solidFill>
        </a:fill>
      </a:tcStyle>
    </a:lastCol>
    <a:firstCol>
      <a:tcTxStyle b="on">
        <a:fontRef idx="minor">
          <a:prstClr val="black"/>
        </a:fontRef>
        <a:schemeClr val="tx2"/>
      </a:tcTxStyle>
      <a:tcStyle>
        <a:tcBdr/>
      </a:tcStyle>
    </a:firstCol>
    <a:lastRow>
      <a:tcTxStyle b="on">
        <a:fontRef idx="minor">
          <a:prstClr val="black"/>
        </a:fontRef>
        <a:schemeClr val="tx2"/>
      </a:tcTxStyle>
      <a:tcStyle>
        <a:tcBdr/>
        <a:fill>
          <a:solidFill>
            <a:srgbClr val="E9E9E9"/>
          </a:solidFill>
        </a:fill>
      </a:tcStyle>
    </a:lastRow>
    <a:firstRow>
      <a:tcTxStyle b="on">
        <a:fontRef idx="minor">
          <a:prstClr val="red"/>
        </a:fontRef>
        <a:schemeClr val="accent2"/>
      </a:tcTxStyle>
      <a:tcStyle>
        <a:tcBdr>
          <a:bottom>
            <a:ln w="12700" cmpd="sng">
              <a:solidFill>
                <a:schemeClr val="accent6"/>
              </a:solidFill>
            </a:ln>
          </a:bottom>
        </a:tcBdr>
      </a:tcStyle>
    </a:firstRow>
  </a:tblStyle>
  <a:tblStyle styleId="{45550388-6236-4824-97A7-F25172F56FC5}" styleName="CVS Table 4">
    <a:wholeTbl>
      <a:tcTxStyle>
        <a:fontRef idx="minor">
          <a:prstClr val="black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0" cmpd="sng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tx2"/>
      </a:tcTxStyle>
      <a:tcStyle>
        <a:tcBdr/>
        <a:fill>
          <a:solidFill>
            <a:srgbClr val="E9E9E9"/>
          </a:solidFill>
        </a:fill>
      </a:tcStyle>
    </a:lastCol>
    <a:firstCol>
      <a:tcTxStyle b="on">
        <a:fontRef idx="minor">
          <a:prstClr val="black"/>
        </a:fontRef>
        <a:schemeClr val="tx2"/>
      </a:tcTxStyle>
      <a:tcStyle>
        <a:tcBdr/>
      </a:tcStyle>
    </a:firstCol>
    <a:lastRow>
      <a:tcTxStyle b="on">
        <a:fontRef idx="minor">
          <a:prstClr val="black"/>
        </a:fontRef>
        <a:schemeClr val="tx2"/>
      </a:tcTxStyle>
      <a:tcStyle>
        <a:tcBdr/>
        <a:fill>
          <a:solidFill>
            <a:srgbClr val="E9E9E9"/>
          </a:solidFill>
        </a:fill>
      </a:tcStyle>
    </a:lastRow>
    <a:firstRow>
      <a:tcTxStyle b="on">
        <a:fontRef idx="minor">
          <a:prstClr val="blue"/>
        </a:fontRef>
        <a:srgbClr val="0A4B8C"/>
      </a:tcTxStyle>
      <a:tcStyle>
        <a:tcBdr>
          <a:bottom>
            <a:ln w="12700" cmpd="sng">
              <a:solidFill>
                <a:schemeClr val="accent6"/>
              </a:solidFill>
            </a:ln>
          </a:bottom>
        </a:tcBdr>
      </a:tcStyle>
    </a:firstRow>
  </a:tblStyle>
  <a:tblStyle styleId="{2268F375-FF24-489F-8BCC-F0714B050B05}" styleName="CVS Table 5">
    <a:wholeTbl>
      <a:tcTxStyle>
        <a:fontRef idx="minor">
          <a:prstClr val="black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0" cmpd="sng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  <a:fill>
          <a:solidFill>
            <a:srgbClr val="E9E9E9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E9E9E9"/>
          </a:solidFill>
        </a:fill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tx2"/>
      </a:tcTxStyle>
      <a:tcStyle>
        <a:tcBdr/>
      </a:tcStyle>
    </a:firstCol>
    <a:lastRow>
      <a:tcTxStyle b="on">
        <a:fontRef idx="minor">
          <a:prstClr val="brown"/>
        </a:fontRef>
        <a:schemeClr val="accent1"/>
      </a:tcTxStyle>
      <a:tcStyle>
        <a:tcBdr/>
      </a:tcStyle>
    </a:lastRow>
    <a:firstRow>
      <a:tcTxStyle b="on">
        <a:fontRef idx="minor">
          <a:prstClr val="black"/>
        </a:fontRef>
        <a:schemeClr val="tx2"/>
      </a:tcTxStyle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solidFill>
            <a:srgbClr val="E9E9E9"/>
          </a:solidFill>
        </a:fill>
      </a:tcStyle>
    </a:firstRow>
  </a:tblStyle>
  <a:tblStyle styleId="{5B16CA05-3835-4193-AC71-686F5E0D2453}" styleName="CVS Table 6">
    <a:wholeTbl>
      <a:tcTxStyle>
        <a:fontRef idx="minor">
          <a:prstClr val="black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0" cmpd="sng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  <a:fill>
          <a:solidFill>
            <a:srgbClr val="E9E9E9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E9E9E9"/>
          </a:solidFill>
        </a:fill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tx2"/>
      </a:tcTxStyle>
      <a:tcStyle>
        <a:tcBdr/>
      </a:tcStyle>
    </a:firstCol>
    <a:lastRow>
      <a:tcTxStyle b="on">
        <a:fontRef idx="minor">
          <a:prstClr val="black"/>
        </a:fontRef>
        <a:schemeClr val="tx2"/>
      </a:tcTxStyle>
      <a:tcStyle>
        <a:tcBdr/>
      </a:tcStyle>
    </a:lastRow>
    <a:firstRow>
      <a:tcTxStyle b="on">
        <a:fontRef idx="minor">
          <a:prstClr val="black"/>
        </a:fontRef>
        <a:schemeClr val="tx2"/>
      </a:tcTxStyle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solidFill>
            <a:srgbClr val="E9E9E9"/>
          </a:solidFill>
        </a:fill>
      </a:tcStyle>
    </a:firstRow>
  </a:tblStyle>
  <a:tblStyle styleId="{FA0B3A61-A383-473F-9F12-C45DFEE99176}" styleName="CVS Table 7">
    <a:wholeTbl>
      <a:tcTxStyle>
        <a:fontRef idx="minor">
          <a:prstClr val="black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0" cmpd="sng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  <a:fill>
          <a:solidFill>
            <a:srgbClr val="E9E9E9"/>
          </a:solidFill>
        </a:fill>
      </a:tcStyle>
    </a:band2H>
    <a:band1V>
      <a:tcStyle>
        <a:tcBdr/>
      </a:tcStyle>
    </a:band1V>
    <a:band2V>
      <a:tcStyle>
        <a:tcBdr/>
        <a:fill>
          <a:solidFill>
            <a:srgbClr val="E9E9E9"/>
          </a:solidFill>
        </a:fill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tx2"/>
      </a:tcTxStyle>
      <a:tcStyle>
        <a:tcBdr/>
      </a:tcStyle>
    </a:firstCol>
    <a:lastRow>
      <a:tcTxStyle b="on">
        <a:fontRef idx="minor">
          <a:prstClr val="black"/>
        </a:fontRef>
        <a:schemeClr val="tx2"/>
      </a:tcTxStyle>
      <a:tcStyle>
        <a:tcBdr/>
      </a:tcStyle>
    </a:lastRow>
    <a:firstRow>
      <a:tcTxStyle b="on">
        <a:fontRef idx="minor">
          <a:prstClr val="blue"/>
        </a:fontRef>
        <a:srgbClr val="0A4B8C"/>
      </a:tcTxStyle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solidFill>
            <a:srgbClr val="E9E9E9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068" autoAdjust="0"/>
  </p:normalViewPr>
  <p:slideViewPr>
    <p:cSldViewPr snapToGrid="0">
      <p:cViewPr varScale="1">
        <p:scale>
          <a:sx n="121" d="100"/>
          <a:sy n="121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sz="1100"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9014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2541AEF-3112-6549-914A-E0D9B60F40EA}" type="datetimeFigureOut">
              <a:rPr lang="en-US" sz="1100">
                <a:cs typeface="Arial" panose="020B0604020202020204" pitchFamily="34" charset="0"/>
              </a:rPr>
              <a:t>7/25/25</a:t>
            </a:fld>
            <a:endParaRPr lang="en-US" sz="1100"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7747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sz="1100"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9014" y="6947747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F293638-C25A-9844-8D5B-B0309EC5F961}" type="slidenum">
              <a:rPr lang="en-US" sz="1100">
                <a:cs typeface="Arial" panose="020B0604020202020204" pitchFamily="34" charset="0"/>
              </a:rPr>
              <a:t>‹#›</a:t>
            </a:fld>
            <a:endParaRPr lang="en-US" sz="11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834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9014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EC2C7003-A6A9-A249-88AD-8CFDA7DED64B}" type="datetimeFigureOut">
              <a:rPr lang="en-US" smtClean="0"/>
              <a:pPr/>
              <a:t>7/25/25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3788" y="549275"/>
            <a:ext cx="4873625" cy="2743200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474720"/>
            <a:ext cx="7680960" cy="32918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7747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9014" y="6947747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50AD15A5-6128-B84F-818D-8AA5BDD9AF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69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2"/>
        </a:solidFill>
        <a:latin typeface="+mn-lt"/>
        <a:ea typeface="+mn-ea"/>
        <a:cs typeface="Arial" panose="020B0604020202020204" pitchFamily="34" charset="0"/>
      </a:defRPr>
    </a:lvl1pPr>
    <a:lvl2pPr marL="457200" algn="l" defTabSz="457200" rtl="0" eaLnBrk="1" latinLnBrk="0" hangingPunct="1">
      <a:defRPr sz="1200" kern="1200">
        <a:solidFill>
          <a:schemeClr val="tx2"/>
        </a:solidFill>
        <a:latin typeface="+mn-lt"/>
        <a:ea typeface="+mn-ea"/>
        <a:cs typeface="Arial" panose="020B0604020202020204" pitchFamily="34" charset="0"/>
      </a:defRPr>
    </a:lvl2pPr>
    <a:lvl3pPr marL="914400" algn="l" defTabSz="457200" rtl="0" eaLnBrk="1" latinLnBrk="0" hangingPunct="1">
      <a:defRPr sz="1200" kern="1200">
        <a:solidFill>
          <a:schemeClr val="tx2"/>
        </a:solidFill>
        <a:latin typeface="+mn-lt"/>
        <a:ea typeface="+mn-ea"/>
        <a:cs typeface="Arial" panose="020B0604020202020204" pitchFamily="34" charset="0"/>
      </a:defRPr>
    </a:lvl3pPr>
    <a:lvl4pPr marL="1371600" algn="l" defTabSz="457200" rtl="0" eaLnBrk="1" latinLnBrk="0" hangingPunct="1">
      <a:defRPr sz="1200" kern="1200">
        <a:solidFill>
          <a:schemeClr val="tx2"/>
        </a:solidFill>
        <a:latin typeface="+mn-lt"/>
        <a:ea typeface="+mn-ea"/>
        <a:cs typeface="Arial" panose="020B0604020202020204" pitchFamily="34" charset="0"/>
      </a:defRPr>
    </a:lvl4pPr>
    <a:lvl5pPr marL="1828800" algn="l" defTabSz="457200" rtl="0" eaLnBrk="1" latinLnBrk="0" hangingPunct="1">
      <a:defRPr sz="1200" kern="1200">
        <a:solidFill>
          <a:schemeClr val="tx2"/>
        </a:solidFill>
        <a:latin typeface="+mn-lt"/>
        <a:ea typeface="+mn-ea"/>
        <a:cs typeface="Arial" panose="020B0604020202020204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Firewall Operations (Jeelani Mohammed)</a:t>
            </a:r>
          </a:p>
          <a:p>
            <a:r>
              <a:rPr lang="en-US"/>
              <a:t>Information Security Data Science (Farzaneh </a:t>
            </a:r>
            <a:r>
              <a:rPr lang="en-US" err="1"/>
              <a:t>Poorjabar</a:t>
            </a:r>
            <a:r>
              <a:rPr lang="en-US"/>
              <a:t>) </a:t>
            </a:r>
          </a:p>
          <a:p>
            <a:r>
              <a:rPr lang="en-US"/>
              <a:t>CVS SFTP (Mary Rogan)</a:t>
            </a:r>
          </a:p>
          <a:p>
            <a:r>
              <a:rPr lang="en-US"/>
              <a:t>Aetna SFTP (Daniel Infante)</a:t>
            </a:r>
          </a:p>
          <a:p>
            <a:r>
              <a:rPr lang="en-US"/>
              <a:t>SFTP Engineering (Franz Westerhof)</a:t>
            </a:r>
          </a:p>
          <a:p>
            <a:r>
              <a:rPr lang="en-US"/>
              <a:t>Sterling File Gateway (Jeffrey Booker)</a:t>
            </a:r>
          </a:p>
          <a:p>
            <a:endParaRPr lang="en-US"/>
          </a:p>
          <a:p>
            <a:r>
              <a:rPr lang="en-US" err="1"/>
              <a:t>eShare</a:t>
            </a:r>
            <a:r>
              <a:rPr lang="en-US"/>
              <a:t> (Laura Shepherd, Prashant Kaushik)</a:t>
            </a:r>
          </a:p>
          <a:p>
            <a:r>
              <a:rPr lang="en-US"/>
              <a:t>Teams (Scott Beattie, Randy Marrone)</a:t>
            </a:r>
          </a:p>
          <a:p>
            <a:r>
              <a:rPr lang="en-US"/>
              <a:t>Slack (Scott Beattie, Randy Marrone)</a:t>
            </a:r>
          </a:p>
          <a:p>
            <a:endParaRPr lang="en-US">
              <a:latin typeface="CVS Health Sans"/>
              <a:ea typeface="Calibri"/>
              <a:cs typeface="Calibri"/>
            </a:endParaRPr>
          </a:p>
          <a:p>
            <a:r>
              <a:rPr lang="en-US">
                <a:latin typeface="CVS Health Sans"/>
                <a:ea typeface="Calibri"/>
                <a:cs typeface="Calibri"/>
              </a:rPr>
              <a:t>Cloud Infrastructure (Yanay Ibanez)</a:t>
            </a:r>
          </a:p>
          <a:p>
            <a:r>
              <a:rPr lang="en-US">
                <a:latin typeface="CVS Health Sans"/>
                <a:ea typeface="Calibri"/>
                <a:cs typeface="Calibri"/>
              </a:rPr>
              <a:t>PCW Technology/API Application Security (Chris </a:t>
            </a:r>
            <a:r>
              <a:rPr lang="en-US" err="1">
                <a:latin typeface="CVS Health Sans"/>
                <a:ea typeface="Calibri"/>
                <a:cs typeface="Calibri"/>
              </a:rPr>
              <a:t>Kwabi</a:t>
            </a:r>
            <a:r>
              <a:rPr lang="en-US">
                <a:latin typeface="CVS Health Sans"/>
                <a:ea typeface="Calibri"/>
                <a:cs typeface="Calibri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D15A5-6128-B84F-818D-8AA5BDD9AF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9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134F7-FE31-765C-BDC7-814A73740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570732-ECBE-7212-03ED-6121A219B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ADABBD-79ED-A44F-C025-9AE94B70F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Virtual Operations </a:t>
            </a:r>
            <a:r>
              <a:rPr lang="en-US"/>
              <a:t>(</a:t>
            </a:r>
            <a:r>
              <a:rPr lang="en-US" dirty="0"/>
              <a:t>Jason Card, Chris </a:t>
            </a:r>
            <a:r>
              <a:rPr lang="en-US"/>
              <a:t>Rekowski</a:t>
            </a:r>
            <a:r>
              <a:rPr lang="en-US" dirty="0"/>
              <a:t>, Greg </a:t>
            </a:r>
            <a:r>
              <a:rPr lang="en-US" dirty="0" err="1"/>
              <a:t>Pirtz</a:t>
            </a:r>
            <a:r>
              <a:rPr lang="en-US" dirty="0"/>
              <a:t>, </a:t>
            </a:r>
            <a:r>
              <a:rPr lang="en-US"/>
              <a:t>Duby</a:t>
            </a:r>
            <a:r>
              <a:rPr lang="en-US" dirty="0"/>
              <a:t> </a:t>
            </a:r>
            <a:r>
              <a:rPr lang="en-US"/>
              <a:t>Callari</a:t>
            </a:r>
            <a:r>
              <a:rPr lang="en-US" dirty="0"/>
              <a:t>, Stephen Holder, Ken Butler, Michelle </a:t>
            </a:r>
            <a:r>
              <a:rPr lang="en-US" err="1"/>
              <a:t>Palkanikos</a:t>
            </a:r>
            <a:r>
              <a:rPr lang="en-US"/>
              <a:t>)</a:t>
            </a:r>
            <a:br>
              <a:rPr lang="en-US">
                <a:cs typeface="+mn-lt"/>
              </a:rPr>
            </a:br>
            <a:endParaRPr lang="en-US" dirty="0">
              <a:latin typeface="CVS Health Sans"/>
              <a:ea typeface="Calibri"/>
              <a:cs typeface="Calibri"/>
            </a:endParaRPr>
          </a:p>
          <a:p>
            <a:r>
              <a:rPr lang="en-US" dirty="0"/>
              <a:t>Firewall Operations </a:t>
            </a:r>
            <a:r>
              <a:rPr lang="en-US"/>
              <a:t>(Chetan</a:t>
            </a:r>
            <a:r>
              <a:rPr lang="en-US" dirty="0"/>
              <a:t> Bhatt, Brian Tam, Mike Daramola, Jeelani Mohammed, Bridgett Parks</a:t>
            </a:r>
            <a:r>
              <a:rPr lang="en-US"/>
              <a:t>)</a:t>
            </a:r>
            <a:br>
              <a:rPr lang="en-US">
                <a:cs typeface="+mn-lt"/>
              </a:rPr>
            </a:br>
            <a:br>
              <a:rPr lang="en-US">
                <a:cs typeface="+mn-lt"/>
              </a:rPr>
            </a:br>
            <a:r>
              <a:rPr lang="en-US" dirty="0">
                <a:effectLst/>
              </a:rPr>
              <a:t>Firewall Engineering </a:t>
            </a:r>
            <a:r>
              <a:rPr lang="en-US"/>
              <a:t>Team (Nicholas</a:t>
            </a:r>
            <a:r>
              <a:rPr lang="en-US" dirty="0">
                <a:effectLst/>
              </a:rPr>
              <a:t> Claudio, Daksha Patel, Kartheek </a:t>
            </a:r>
            <a:r>
              <a:rPr lang="en-US" err="1">
                <a:effectLst/>
              </a:rPr>
              <a:t>Cheenpalli</a:t>
            </a:r>
            <a:r>
              <a:rPr lang="en-US"/>
              <a:t>)</a:t>
            </a:r>
            <a:endParaRPr lang="en-US" dirty="0">
              <a:latin typeface="CVS Health Sans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311CC-B77E-FC6A-6FC3-503F145AB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D15A5-6128-B84F-818D-8AA5BDD9AF9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05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-1587" y="0"/>
            <a:ext cx="12191999" cy="6858000"/>
          </a:xfrm>
          <a:solidFill>
            <a:schemeClr val="bg1">
              <a:lumMod val="75000"/>
            </a:schemeClr>
          </a:solidFill>
        </p:spPr>
        <p:txBody>
          <a:bodyPr rIns="457200"/>
          <a:lstStyle>
            <a:lvl1pPr algn="r">
              <a:defRPr sz="2000" b="1" baseline="0">
                <a:solidFill>
                  <a:schemeClr val="bg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  <p:sp>
        <p:nvSpPr>
          <p:cNvPr id="29" name="Title 1"/>
          <p:cNvSpPr>
            <a:spLocks noGrp="1"/>
          </p:cNvSpPr>
          <p:nvPr>
            <p:ph type="ctrTitle" hasCustomPrompt="1"/>
          </p:nvPr>
        </p:nvSpPr>
        <p:spPr>
          <a:xfrm>
            <a:off x="568670" y="850392"/>
            <a:ext cx="4178808" cy="5157216"/>
          </a:xfrm>
          <a:solidFill>
            <a:srgbClr val="CC0000">
              <a:alpha val="74902"/>
            </a:srgbClr>
          </a:solidFill>
        </p:spPr>
        <p:txBody>
          <a:bodyPr lIns="402336" tIns="457200" rIns="365760" bIns="182880" anchor="t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16726" y="2679062"/>
            <a:ext cx="393596" cy="0"/>
          </a:xfrm>
          <a:prstGeom prst="line">
            <a:avLst/>
          </a:prstGeom>
          <a:ln w="2540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991707" y="3063240"/>
            <a:ext cx="3282696" cy="1262324"/>
          </a:xfrm>
        </p:spPr>
        <p:txBody>
          <a:bodyPr/>
          <a:lstStyle>
            <a:lvl1pPr>
              <a:defRPr sz="15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5" name="Graphic 14" descr="CVS Health logo">
            <a:extLst>
              <a:ext uri="{FF2B5EF4-FFF2-40B4-BE49-F238E27FC236}">
                <a16:creationId xmlns:a16="http://schemas.microsoft.com/office/drawing/2014/main" id="{DCA7CAE5-6AC5-9442-BDF8-6E9A04A35E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967" y="5243837"/>
            <a:ext cx="2276856" cy="27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787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-1587" y="0"/>
            <a:ext cx="12191999" cy="6858000"/>
          </a:xfrm>
          <a:solidFill>
            <a:schemeClr val="bg1">
              <a:lumMod val="75000"/>
            </a:schemeClr>
          </a:solidFill>
        </p:spPr>
        <p:txBody>
          <a:bodyPr rIns="457200"/>
          <a:lstStyle>
            <a:lvl1pPr algn="r">
              <a:defRPr sz="2000" b="1" baseline="0">
                <a:solidFill>
                  <a:schemeClr val="bg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68670" y="850392"/>
            <a:ext cx="4178808" cy="5157216"/>
          </a:xfrm>
          <a:solidFill>
            <a:srgbClr val="FFFFFF">
              <a:alpha val="89804"/>
            </a:srgbClr>
          </a:solidFill>
        </p:spPr>
        <p:txBody>
          <a:bodyPr lIns="402336" tIns="457200" rIns="365760" bIns="182880" anchor="t">
            <a:no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45137-D954-4F74-A043-F7DE2DC22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16726" y="2679062"/>
            <a:ext cx="393596" cy="0"/>
          </a:xfrm>
          <a:prstGeom prst="line">
            <a:avLst/>
          </a:prstGeom>
          <a:ln w="2540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989294" y="3063240"/>
            <a:ext cx="3282696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5" name="Graphic 14" descr="CVS Health logo">
            <a:extLst>
              <a:ext uri="{FF2B5EF4-FFF2-40B4-BE49-F238E27FC236}">
                <a16:creationId xmlns:a16="http://schemas.microsoft.com/office/drawing/2014/main" id="{20283CA7-E5C8-1743-B657-BA1BA157B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967" y="5243837"/>
            <a:ext cx="2276856" cy="27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EC9D8828-2691-49AC-9167-AEAE231E05A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587" y="0"/>
            <a:ext cx="12191999" cy="6858000"/>
          </a:xfrm>
          <a:solidFill>
            <a:schemeClr val="bg1">
              <a:lumMod val="75000"/>
            </a:schemeClr>
          </a:solidFill>
        </p:spPr>
        <p:txBody>
          <a:bodyPr rIns="457200"/>
          <a:lstStyle>
            <a:lvl1pPr algn="r">
              <a:defRPr sz="2000" b="1" baseline="0">
                <a:solidFill>
                  <a:schemeClr val="bg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DFFF97-1582-41BC-9990-9A7796F5EE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8670" y="850392"/>
            <a:ext cx="4178808" cy="5157216"/>
          </a:xfrm>
          <a:solidFill>
            <a:srgbClr val="0B315E">
              <a:alpha val="74902"/>
            </a:srgbClr>
          </a:solidFill>
        </p:spPr>
        <p:txBody>
          <a:bodyPr lIns="402336" tIns="457200" rIns="365760" bIns="182880" anchor="t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073308-B735-412A-BBBC-9AE66B6C3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16726" y="2679062"/>
            <a:ext cx="393596" cy="0"/>
          </a:xfrm>
          <a:prstGeom prst="line">
            <a:avLst/>
          </a:prstGeom>
          <a:ln w="2540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446ACD0-1177-4561-BFCC-8F65DE7CB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1707" y="3063240"/>
            <a:ext cx="3282696" cy="1262324"/>
          </a:xfrm>
        </p:spPr>
        <p:txBody>
          <a:bodyPr/>
          <a:lstStyle>
            <a:lvl1pPr>
              <a:defRPr sz="15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5" name="Graphic 14" descr="CVS Health logo">
            <a:extLst>
              <a:ext uri="{FF2B5EF4-FFF2-40B4-BE49-F238E27FC236}">
                <a16:creationId xmlns:a16="http://schemas.microsoft.com/office/drawing/2014/main" id="{9701B168-8879-8448-8373-B6B429C378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967" y="5243837"/>
            <a:ext cx="2276856" cy="27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4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717097" y="389319"/>
            <a:ext cx="9098665" cy="5724144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6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383948" y="1024128"/>
            <a:ext cx="5804928" cy="444398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7221880" y="1167898"/>
            <a:ext cx="3684705" cy="89002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7221879" y="2825587"/>
            <a:ext cx="3681473" cy="2407316"/>
          </a:xfrm>
        </p:spPr>
        <p:txBody>
          <a:bodyPr>
            <a:noAutofit/>
          </a:bodyPr>
          <a:lstStyle>
            <a:lvl1pPr>
              <a:defRPr sz="15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Text here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868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image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88825" cy="6107113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88952" cy="6108192"/>
          </a:xfrm>
          <a:solidFill>
            <a:srgbClr val="CC0000">
              <a:alpha val="69804"/>
            </a:srgbClr>
          </a:solidFill>
        </p:spPr>
        <p:txBody>
          <a:bodyPr rIns="0" anchor="ctr"/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488A55-A1E3-4589-84A6-891A58FB0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97615" y="2270492"/>
            <a:ext cx="393596" cy="1554480"/>
            <a:chOff x="5897615" y="2231631"/>
            <a:chExt cx="393596" cy="15544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3CD6507-4329-43F1-9783-C7A1ED84BBC5}"/>
                </a:ext>
              </a:extLst>
            </p:cNvPr>
            <p:cNvCxnSpPr/>
            <p:nvPr/>
          </p:nvCxnSpPr>
          <p:spPr>
            <a:xfrm>
              <a:off x="5897615" y="2231631"/>
              <a:ext cx="393596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CA169C1-F273-430E-82C8-6CC1089786DA}"/>
                </a:ext>
              </a:extLst>
            </p:cNvPr>
            <p:cNvCxnSpPr/>
            <p:nvPr/>
          </p:nvCxnSpPr>
          <p:spPr>
            <a:xfrm>
              <a:off x="5897615" y="3786111"/>
              <a:ext cx="393596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" y="6261904"/>
            <a:ext cx="4444678" cy="596096"/>
          </a:xfrm>
          <a:prstGeom prst="rect">
            <a:avLst/>
          </a:prstGeom>
          <a:solidFill>
            <a:schemeClr val="bg1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99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image_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88825" cy="6107113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88952" cy="6108192"/>
          </a:xfrm>
          <a:solidFill>
            <a:schemeClr val="accent5">
              <a:alpha val="69804"/>
            </a:schemeClr>
          </a:solidFill>
        </p:spPr>
        <p:txBody>
          <a:bodyPr rIns="0" anchor="ctr"/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488A55-A1E3-4589-84A6-891A58FB0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97615" y="2270492"/>
            <a:ext cx="393596" cy="1554480"/>
            <a:chOff x="5897615" y="2231631"/>
            <a:chExt cx="393596" cy="15544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3CD6507-4329-43F1-9783-C7A1ED84BBC5}"/>
                </a:ext>
              </a:extLst>
            </p:cNvPr>
            <p:cNvCxnSpPr/>
            <p:nvPr/>
          </p:nvCxnSpPr>
          <p:spPr>
            <a:xfrm>
              <a:off x="5897615" y="2231631"/>
              <a:ext cx="393596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CA169C1-F273-430E-82C8-6CC1089786DA}"/>
                </a:ext>
              </a:extLst>
            </p:cNvPr>
            <p:cNvCxnSpPr/>
            <p:nvPr/>
          </p:nvCxnSpPr>
          <p:spPr>
            <a:xfrm>
              <a:off x="5897615" y="3786111"/>
              <a:ext cx="393596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" y="6261904"/>
            <a:ext cx="4444678" cy="596096"/>
          </a:xfrm>
          <a:prstGeom prst="rect">
            <a:avLst/>
          </a:prstGeom>
          <a:solidFill>
            <a:schemeClr val="bg1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682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imag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88825" cy="6107113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88952" cy="6108192"/>
          </a:xfrm>
          <a:solidFill>
            <a:srgbClr val="0B315E">
              <a:alpha val="69804"/>
            </a:srgbClr>
          </a:solidFill>
        </p:spPr>
        <p:txBody>
          <a:bodyPr rIns="0" anchor="ctr"/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488A55-A1E3-4589-84A6-891A58FB0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97615" y="2270492"/>
            <a:ext cx="393596" cy="1554480"/>
            <a:chOff x="5897615" y="2231631"/>
            <a:chExt cx="393596" cy="15544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3CD6507-4329-43F1-9783-C7A1ED84BBC5}"/>
                </a:ext>
              </a:extLst>
            </p:cNvPr>
            <p:cNvCxnSpPr/>
            <p:nvPr/>
          </p:nvCxnSpPr>
          <p:spPr>
            <a:xfrm>
              <a:off x="5897615" y="2231631"/>
              <a:ext cx="393596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CA169C1-F273-430E-82C8-6CC1089786DA}"/>
                </a:ext>
              </a:extLst>
            </p:cNvPr>
            <p:cNvCxnSpPr/>
            <p:nvPr/>
          </p:nvCxnSpPr>
          <p:spPr>
            <a:xfrm>
              <a:off x="5897615" y="3786111"/>
              <a:ext cx="393596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" y="6261904"/>
            <a:ext cx="4444678" cy="596096"/>
          </a:xfrm>
          <a:prstGeom prst="rect">
            <a:avLst/>
          </a:prstGeom>
          <a:solidFill>
            <a:schemeClr val="bg1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665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1270" y="3022967"/>
            <a:ext cx="5726284" cy="812066"/>
          </a:xfrm>
        </p:spPr>
        <p:txBody>
          <a:bodyPr rIns="0" anchor="ctr"/>
          <a:lstStyle>
            <a:lvl1pPr algn="ctr">
              <a:defRPr sz="3200" b="1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1344669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20D3DB-63F4-412F-96CC-3E84E34BE0CE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1270" y="3022967"/>
            <a:ext cx="5726284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2588630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111EDB-A7DC-4D3C-BA73-E639327B03EF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B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8DD2AFC-8349-4DB3-855A-645AB85DF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1270" y="3022967"/>
            <a:ext cx="5726284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3037748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B6C09C-1569-4654-BB41-00C9680D2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3" y="649224"/>
            <a:ext cx="10380293" cy="767080"/>
          </a:xfrm>
        </p:spPr>
        <p:txBody>
          <a:bodyPr anchor="t"/>
          <a:lstStyle>
            <a:lvl1pPr>
              <a:defRPr baseline="0"/>
            </a:lvl1pPr>
          </a:lstStyle>
          <a:p>
            <a:r>
              <a:rPr lang="en-US"/>
              <a:t>Click to add title for three-column with text and pictograms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76397E4-B71C-46AA-956F-3D980F86C3D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14042" y="3474720"/>
            <a:ext cx="2925318" cy="2278380"/>
          </a:xfrm>
        </p:spPr>
        <p:txBody>
          <a:bodyPr/>
          <a:lstStyle>
            <a:lvl1pPr algn="ctr">
              <a:spcBef>
                <a:spcPts val="1200"/>
              </a:spcBef>
              <a:defRPr sz="2000" b="1"/>
            </a:lvl1pPr>
            <a:lvl2pPr marL="0" indent="0" algn="ctr">
              <a:spcBef>
                <a:spcPts val="1200"/>
              </a:spcBef>
              <a:buFontTx/>
              <a:buNone/>
              <a:defRPr sz="1500" baseline="0"/>
            </a:lvl2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Descriptor text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9553113-2B4B-401B-B370-4B3C744FACE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628270" y="3474720"/>
            <a:ext cx="2925318" cy="2278380"/>
          </a:xfrm>
        </p:spPr>
        <p:txBody>
          <a:bodyPr/>
          <a:lstStyle>
            <a:lvl1pPr algn="ctr">
              <a:spcBef>
                <a:spcPts val="1200"/>
              </a:spcBef>
              <a:defRPr sz="2000" b="1"/>
            </a:lvl1pPr>
            <a:lvl2pPr marL="0" indent="0" algn="ctr">
              <a:spcBef>
                <a:spcPts val="1200"/>
              </a:spcBef>
              <a:buFontTx/>
              <a:buNone/>
              <a:defRPr sz="1500"/>
            </a:lvl2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Descriptor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57CE74-CA0B-4C5C-9F24-0A4DDE0192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42499" y="3474720"/>
            <a:ext cx="2925318" cy="2278380"/>
          </a:xfrm>
        </p:spPr>
        <p:txBody>
          <a:bodyPr/>
          <a:lstStyle>
            <a:lvl1pPr algn="ctr">
              <a:spcBef>
                <a:spcPts val="1200"/>
              </a:spcBef>
              <a:defRPr sz="2000" b="1"/>
            </a:lvl1pPr>
            <a:lvl2pPr marL="0" indent="0" algn="ctr">
              <a:spcBef>
                <a:spcPts val="1200"/>
              </a:spcBef>
              <a:buFontTx/>
              <a:buNone/>
              <a:defRPr sz="1500"/>
            </a:lvl2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Descriptor text</a:t>
            </a:r>
          </a:p>
        </p:txBody>
      </p:sp>
    </p:spTree>
    <p:extLst>
      <p:ext uri="{BB962C8B-B14F-4D97-AF65-F5344CB8AC3E}">
        <p14:creationId xmlns:p14="http://schemas.microsoft.com/office/powerpoint/2010/main" val="1068553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 with Journ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36CF014F-B23E-4DD0-8A88-40A65BDAD14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0901" y="384047"/>
            <a:ext cx="11427023" cy="5723065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6009B7-5F33-4D7E-A4F7-6CA681DDE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1" y="645676"/>
            <a:ext cx="9588237" cy="501558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for five-column journey layout</a:t>
            </a:r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956EEDF9-B18F-4AFB-9E04-CA990EBDD6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3232" y="1147234"/>
            <a:ext cx="4500978" cy="663575"/>
          </a:xfrm>
        </p:spPr>
        <p:txBody>
          <a:bodyPr>
            <a:noAutofit/>
          </a:bodyPr>
          <a:lstStyle>
            <a:lvl1pPr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7C11469D-9EC8-4519-836A-687F6608159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74904" y="3794760"/>
            <a:ext cx="11439144" cy="2312352"/>
          </a:xfrm>
          <a:solidFill>
            <a:srgbClr val="FFFFFF">
              <a:alpha val="89804"/>
            </a:srgbClr>
          </a:solidFill>
        </p:spPr>
        <p:txBody>
          <a:bodyPr lIns="731520" tIns="292608" rIns="9144000" bIns="365760"/>
          <a:lstStyle>
            <a:lvl1pPr>
              <a:defRPr sz="2000" b="1"/>
            </a:lvl1pPr>
            <a:lvl2pPr marL="0" indent="0">
              <a:buFontTx/>
              <a:buNone/>
              <a:defRPr sz="1500"/>
            </a:lvl2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Descriptor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A75E45-8148-442F-822D-E9C73BA8CBE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180665" y="4087368"/>
            <a:ext cx="1554075" cy="1647866"/>
          </a:xfrm>
        </p:spPr>
        <p:txBody>
          <a:bodyPr/>
          <a:lstStyle>
            <a:lvl1pPr>
              <a:defRPr sz="2000" b="1"/>
            </a:lvl1pPr>
            <a:lvl2pPr marL="0" indent="0">
              <a:buFontTx/>
              <a:buNone/>
              <a:defRPr sz="1500"/>
            </a:lvl2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Descriptor text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E5F229D-5445-4481-B37A-7C803D7A4E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90725" y="4087368"/>
            <a:ext cx="1554075" cy="1647866"/>
          </a:xfrm>
        </p:spPr>
        <p:txBody>
          <a:bodyPr/>
          <a:lstStyle>
            <a:lvl1pPr>
              <a:defRPr sz="2000" b="1"/>
            </a:lvl1pPr>
            <a:lvl2pPr marL="0" indent="0">
              <a:buFontTx/>
              <a:buNone/>
              <a:defRPr sz="1500"/>
            </a:lvl2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Descriptor text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3FBD4EE-F77B-494E-85B2-4353717063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08402" y="4087368"/>
            <a:ext cx="1552193" cy="1647866"/>
          </a:xfrm>
        </p:spPr>
        <p:txBody>
          <a:bodyPr/>
          <a:lstStyle>
            <a:lvl1pPr>
              <a:defRPr sz="2000" b="1"/>
            </a:lvl1pPr>
            <a:lvl2pPr marL="0" indent="0">
              <a:buFontTx/>
              <a:buNone/>
              <a:defRPr sz="1500"/>
            </a:lvl2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Descriptor text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ABAA180E-9385-446C-8FE0-5A75D6AC5FA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19647" y="4087368"/>
            <a:ext cx="1599783" cy="1647866"/>
          </a:xfrm>
        </p:spPr>
        <p:txBody>
          <a:bodyPr/>
          <a:lstStyle>
            <a:lvl1pPr>
              <a:defRPr sz="2000" b="1"/>
            </a:lvl1pPr>
            <a:lvl2pPr marL="0" indent="0">
              <a:buFontTx/>
              <a:buNone/>
              <a:defRPr sz="1500"/>
            </a:lvl2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Descriptor text</a:t>
            </a:r>
          </a:p>
        </p:txBody>
      </p:sp>
    </p:spTree>
    <p:extLst>
      <p:ext uri="{BB962C8B-B14F-4D97-AF65-F5344CB8AC3E}">
        <p14:creationId xmlns:p14="http://schemas.microsoft.com/office/powerpoint/2010/main" val="587524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left re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D01347EA-A5E7-49A1-A514-68318CFEBC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048" y="384048"/>
            <a:ext cx="11430000" cy="5724144"/>
          </a:xfrm>
          <a:solidFill>
            <a:schemeClr val="bg1">
              <a:lumMod val="75000"/>
            </a:schemeClr>
          </a:solidFill>
        </p:spPr>
        <p:txBody>
          <a:bodyPr rIns="228600"/>
          <a:lstStyle>
            <a:lvl1pPr algn="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02D166E-0ECA-42FC-92B4-4E1210F30C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0" y="0"/>
            <a:ext cx="5317172" cy="5724144"/>
          </a:xfrm>
          <a:solidFill>
            <a:srgbClr val="CC0000">
              <a:alpha val="74902"/>
            </a:srgbClr>
          </a:solidFill>
        </p:spPr>
        <p:txBody>
          <a:bodyPr lIns="566928" tIns="822960" rIns="182880" bIns="182880"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1844AFB-2CD7-4A47-A791-8BD9C1F3A6E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1344168" y="2103120"/>
            <a:ext cx="4114800" cy="3154680"/>
          </a:xfrm>
        </p:spPr>
        <p:txBody>
          <a:bodyPr/>
          <a:lstStyle>
            <a:lvl1pPr>
              <a:defRPr sz="1500" cap="none" baseline="0">
                <a:solidFill>
                  <a:schemeClr val="bg1"/>
                </a:solidFill>
              </a:defRPr>
            </a:lvl1pPr>
            <a:lvl2pPr marL="171450" indent="-171450">
              <a:defRPr sz="1500">
                <a:solidFill>
                  <a:schemeClr val="bg1"/>
                </a:solidFill>
              </a:defRPr>
            </a:lvl2pPr>
            <a:lvl3pPr marL="347663" indent="-176213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bg1"/>
                </a:solidFill>
              </a:defRPr>
            </a:lvl3pPr>
            <a:lvl4pPr marL="509588" indent="-161925">
              <a:spcBef>
                <a:spcPts val="600"/>
              </a:spcBef>
              <a:defRPr sz="1500">
                <a:solidFill>
                  <a:schemeClr val="bg1"/>
                </a:solidFill>
              </a:defRPr>
            </a:lvl4pPr>
            <a:lvl5pPr marL="682625" indent="-173038">
              <a:spcBef>
                <a:spcPts val="600"/>
              </a:spcBef>
              <a:defRPr sz="1500">
                <a:solidFill>
                  <a:schemeClr val="bg1"/>
                </a:solidFill>
              </a:defRPr>
            </a:lvl5pPr>
            <a:lvl6pPr marL="857250" indent="-174625">
              <a:defRPr sz="1500">
                <a:solidFill>
                  <a:schemeClr val="bg1"/>
                </a:solidFill>
              </a:defRPr>
            </a:lvl6pPr>
            <a:lvl7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bg1"/>
                </a:solidFill>
              </a:defRPr>
            </a:lvl7pPr>
            <a:lvl8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8pPr>
            <a:lvl9pPr marL="1377950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593373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right re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A4D12A02-A360-46A7-8D87-07E27C95D1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048" y="384048"/>
            <a:ext cx="11430000" cy="572414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231775" indent="0" algn="l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A5028E0-B9C4-4F1E-B493-C01E099850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2" y="0"/>
            <a:ext cx="5321808" cy="5724144"/>
          </a:xfrm>
          <a:solidFill>
            <a:srgbClr val="CC0000">
              <a:alpha val="74902"/>
            </a:srgbClr>
          </a:solidFill>
        </p:spPr>
        <p:txBody>
          <a:bodyPr lIns="566928" tIns="822960" rIns="182880" bIns="182880"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B2D2B8-9FB8-4A09-A965-EDE29B294B6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665976" y="2103120"/>
            <a:ext cx="4114800" cy="3154680"/>
          </a:xfrm>
        </p:spPr>
        <p:txBody>
          <a:bodyPr/>
          <a:lstStyle>
            <a:lvl1pPr>
              <a:defRPr sz="1500" cap="none" baseline="0">
                <a:solidFill>
                  <a:schemeClr val="bg1"/>
                </a:solidFill>
              </a:defRPr>
            </a:lvl1pPr>
            <a:lvl2pPr marL="171450" indent="-171450">
              <a:defRPr sz="1500">
                <a:solidFill>
                  <a:schemeClr val="bg1"/>
                </a:solidFill>
              </a:defRPr>
            </a:lvl2pPr>
            <a:lvl3pPr marL="347663" indent="-176213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bg1"/>
                </a:solidFill>
              </a:defRPr>
            </a:lvl3pPr>
            <a:lvl4pPr marL="509588" indent="-161925">
              <a:spcBef>
                <a:spcPts val="600"/>
              </a:spcBef>
              <a:defRPr sz="1500">
                <a:solidFill>
                  <a:schemeClr val="bg1"/>
                </a:solidFill>
              </a:defRPr>
            </a:lvl4pPr>
            <a:lvl5pPr marL="682625" indent="-173038">
              <a:spcBef>
                <a:spcPts val="600"/>
              </a:spcBef>
              <a:defRPr sz="1500">
                <a:solidFill>
                  <a:schemeClr val="bg1"/>
                </a:solidFill>
              </a:defRPr>
            </a:lvl5pPr>
            <a:lvl6pPr marL="857250" indent="-174625">
              <a:defRPr sz="1500">
                <a:solidFill>
                  <a:schemeClr val="bg1"/>
                </a:solidFill>
              </a:defRPr>
            </a:lvl6pPr>
            <a:lvl7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bg1"/>
                </a:solidFill>
              </a:defRPr>
            </a:lvl7pPr>
            <a:lvl8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8pPr>
            <a:lvl9pPr marL="1377950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2091082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left whit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3D055086-58AC-42CE-888E-C815208128D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048" y="384048"/>
            <a:ext cx="11430000" cy="5724144"/>
          </a:xfrm>
          <a:solidFill>
            <a:schemeClr val="bg1">
              <a:lumMod val="75000"/>
            </a:schemeClr>
          </a:solidFill>
        </p:spPr>
        <p:txBody>
          <a:bodyPr rIns="228600"/>
          <a:lstStyle>
            <a:lvl1pPr algn="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E6573A-5FD6-4334-99D2-D89E563A3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0" y="0"/>
            <a:ext cx="5317172" cy="5724144"/>
          </a:xfrm>
          <a:solidFill>
            <a:srgbClr val="FFFFFF">
              <a:alpha val="89804"/>
            </a:srgbClr>
          </a:solidFill>
        </p:spPr>
        <p:txBody>
          <a:bodyPr lIns="566928" tIns="822960" rIns="182880" bIns="182880" anchor="t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C96A496-EE5B-40C6-8F1E-8D08A089A294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1344168" y="2103120"/>
            <a:ext cx="4114800" cy="3154680"/>
          </a:xfrm>
        </p:spPr>
        <p:txBody>
          <a:bodyPr/>
          <a:lstStyle>
            <a:lvl1pPr>
              <a:defRPr sz="1500" cap="none" baseline="0">
                <a:solidFill>
                  <a:schemeClr val="tx2"/>
                </a:solidFill>
              </a:defRPr>
            </a:lvl1pPr>
            <a:lvl2pPr marL="171450" indent="-171450">
              <a:defRPr sz="1500">
                <a:solidFill>
                  <a:schemeClr val="tx2"/>
                </a:solidFill>
              </a:defRPr>
            </a:lvl2pPr>
            <a:lvl3pPr marL="347663" indent="-176213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3pPr>
            <a:lvl4pPr marL="509588" indent="-161925">
              <a:spcBef>
                <a:spcPts val="600"/>
              </a:spcBef>
              <a:defRPr sz="1500">
                <a:solidFill>
                  <a:schemeClr val="tx2"/>
                </a:solidFill>
              </a:defRPr>
            </a:lvl4pPr>
            <a:lvl5pPr marL="682625" indent="-173038">
              <a:spcBef>
                <a:spcPts val="600"/>
              </a:spcBef>
              <a:defRPr sz="1500">
                <a:solidFill>
                  <a:schemeClr val="tx2"/>
                </a:solidFill>
              </a:defRPr>
            </a:lvl5pPr>
            <a:lvl6pPr marL="857250" indent="-174625">
              <a:defRPr sz="1500">
                <a:solidFill>
                  <a:schemeClr val="tx2"/>
                </a:solidFill>
              </a:defRPr>
            </a:lvl6pPr>
            <a:lvl7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7pPr>
            <a:lvl8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8pPr>
            <a:lvl9pPr marL="1377950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7591092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right whit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54CB2024-EDB7-4027-B7B3-F640F2EC12E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048" y="384048"/>
            <a:ext cx="11430000" cy="572414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231775" indent="0" algn="l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66DF86-B4A3-42B6-8919-C55C8B1577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2" y="0"/>
            <a:ext cx="5321808" cy="5724144"/>
          </a:xfrm>
          <a:solidFill>
            <a:srgbClr val="FFFFFF">
              <a:alpha val="89804"/>
            </a:srgbClr>
          </a:solidFill>
        </p:spPr>
        <p:txBody>
          <a:bodyPr lIns="566928" tIns="822960" rIns="182880" bIns="182880" anchor="t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0552F6-0A47-41DD-9EA5-4D6D279BD2A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665976" y="2103120"/>
            <a:ext cx="4114800" cy="3154680"/>
          </a:xfrm>
        </p:spPr>
        <p:txBody>
          <a:bodyPr/>
          <a:lstStyle>
            <a:lvl1pPr>
              <a:defRPr sz="1500" cap="none" baseline="0">
                <a:solidFill>
                  <a:schemeClr val="tx2"/>
                </a:solidFill>
              </a:defRPr>
            </a:lvl1pPr>
            <a:lvl2pPr marL="171450" indent="-171450">
              <a:defRPr sz="1500">
                <a:solidFill>
                  <a:schemeClr val="tx2"/>
                </a:solidFill>
              </a:defRPr>
            </a:lvl2pPr>
            <a:lvl3pPr marL="347663" indent="-176213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3pPr>
            <a:lvl4pPr marL="509588" indent="-161925">
              <a:spcBef>
                <a:spcPts val="600"/>
              </a:spcBef>
              <a:defRPr sz="1500">
                <a:solidFill>
                  <a:schemeClr val="tx2"/>
                </a:solidFill>
              </a:defRPr>
            </a:lvl4pPr>
            <a:lvl5pPr marL="682625" indent="-173038">
              <a:spcBef>
                <a:spcPts val="600"/>
              </a:spcBef>
              <a:defRPr sz="1500">
                <a:solidFill>
                  <a:schemeClr val="tx2"/>
                </a:solidFill>
              </a:defRPr>
            </a:lvl5pPr>
            <a:lvl6pPr marL="857250" indent="-174625">
              <a:defRPr sz="1500">
                <a:solidFill>
                  <a:schemeClr val="tx2"/>
                </a:solidFill>
              </a:defRPr>
            </a:lvl6pPr>
            <a:lvl7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7pPr>
            <a:lvl8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8pPr>
            <a:lvl9pPr marL="1377950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711777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left blu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384048" y="384048"/>
            <a:ext cx="11430000" cy="5724144"/>
          </a:xfrm>
          <a:solidFill>
            <a:schemeClr val="bg1">
              <a:lumMod val="75000"/>
            </a:schemeClr>
          </a:solidFill>
        </p:spPr>
        <p:txBody>
          <a:bodyPr rIns="228600"/>
          <a:lstStyle>
            <a:lvl1pPr algn="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B3AA7B-BFA1-4F3B-8433-5B996FE11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0" y="0"/>
            <a:ext cx="5317172" cy="5724144"/>
          </a:xfrm>
          <a:solidFill>
            <a:srgbClr val="0B315E">
              <a:alpha val="85098"/>
            </a:srgbClr>
          </a:solidFill>
        </p:spPr>
        <p:txBody>
          <a:bodyPr lIns="566928" tIns="822960" rIns="182880" bIns="182880"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7D4864B-4462-4B16-A8C6-1DC8862069AA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1344168" y="2103120"/>
            <a:ext cx="4114800" cy="3154680"/>
          </a:xfrm>
        </p:spPr>
        <p:txBody>
          <a:bodyPr/>
          <a:lstStyle>
            <a:lvl1pPr>
              <a:defRPr sz="1500" cap="none" baseline="0">
                <a:solidFill>
                  <a:schemeClr val="bg1"/>
                </a:solidFill>
              </a:defRPr>
            </a:lvl1pPr>
            <a:lvl2pPr marL="171450" indent="-171450">
              <a:defRPr sz="1500">
                <a:solidFill>
                  <a:schemeClr val="bg1"/>
                </a:solidFill>
              </a:defRPr>
            </a:lvl2pPr>
            <a:lvl3pPr marL="347663" indent="-176213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bg1"/>
                </a:solidFill>
              </a:defRPr>
            </a:lvl3pPr>
            <a:lvl4pPr marL="509588" indent="-161925">
              <a:spcBef>
                <a:spcPts val="600"/>
              </a:spcBef>
              <a:defRPr sz="1500">
                <a:solidFill>
                  <a:schemeClr val="bg1"/>
                </a:solidFill>
              </a:defRPr>
            </a:lvl4pPr>
            <a:lvl5pPr marL="682625" indent="-173038">
              <a:spcBef>
                <a:spcPts val="600"/>
              </a:spcBef>
              <a:defRPr sz="1500">
                <a:solidFill>
                  <a:schemeClr val="bg1"/>
                </a:solidFill>
              </a:defRPr>
            </a:lvl5pPr>
            <a:lvl6pPr marL="857250" indent="-174625">
              <a:defRPr sz="1500">
                <a:solidFill>
                  <a:schemeClr val="bg1"/>
                </a:solidFill>
              </a:defRPr>
            </a:lvl6pPr>
            <a:lvl7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bg1"/>
                </a:solidFill>
              </a:defRPr>
            </a:lvl7pPr>
            <a:lvl8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8pPr>
            <a:lvl9pPr marL="1377950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028327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right blu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384048" y="384048"/>
            <a:ext cx="11430000" cy="572414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231775" indent="0" algn="l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3148CBB-91E1-498A-B884-AECB778C0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2" y="0"/>
            <a:ext cx="5321808" cy="5724144"/>
          </a:xfrm>
          <a:solidFill>
            <a:srgbClr val="0B315E">
              <a:alpha val="85098"/>
            </a:srgbClr>
          </a:solidFill>
        </p:spPr>
        <p:txBody>
          <a:bodyPr lIns="566928" tIns="822960" rIns="182880" bIns="182880"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F62E717-3D00-4196-812F-72CF9487567D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665976" y="2103120"/>
            <a:ext cx="4114800" cy="3154680"/>
          </a:xfrm>
        </p:spPr>
        <p:txBody>
          <a:bodyPr/>
          <a:lstStyle>
            <a:lvl1pPr>
              <a:defRPr sz="1500" cap="none" baseline="0">
                <a:solidFill>
                  <a:schemeClr val="bg1"/>
                </a:solidFill>
              </a:defRPr>
            </a:lvl1pPr>
            <a:lvl2pPr marL="171450" indent="-171450">
              <a:defRPr sz="1500">
                <a:solidFill>
                  <a:schemeClr val="bg1"/>
                </a:solidFill>
              </a:defRPr>
            </a:lvl2pPr>
            <a:lvl3pPr marL="347663" indent="-176213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bg1"/>
                </a:solidFill>
              </a:defRPr>
            </a:lvl3pPr>
            <a:lvl4pPr marL="509588" indent="-161925">
              <a:spcBef>
                <a:spcPts val="600"/>
              </a:spcBef>
              <a:defRPr sz="1500">
                <a:solidFill>
                  <a:schemeClr val="bg1"/>
                </a:solidFill>
              </a:defRPr>
            </a:lvl4pPr>
            <a:lvl5pPr marL="682625" indent="-173038">
              <a:spcBef>
                <a:spcPts val="600"/>
              </a:spcBef>
              <a:defRPr sz="1500">
                <a:solidFill>
                  <a:schemeClr val="bg1"/>
                </a:solidFill>
              </a:defRPr>
            </a:lvl5pPr>
            <a:lvl6pPr marL="857250" indent="-174625">
              <a:defRPr sz="1500">
                <a:solidFill>
                  <a:schemeClr val="bg1"/>
                </a:solidFill>
              </a:defRPr>
            </a:lvl6pPr>
            <a:lvl7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bg1"/>
                </a:solidFill>
              </a:defRPr>
            </a:lvl7pPr>
            <a:lvl8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8pPr>
            <a:lvl9pPr marL="1377950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5350846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with white box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18986E69-701C-42B3-B14B-5B9A1444F1A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0901" y="384048"/>
            <a:ext cx="11427023" cy="572414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8BE8D4-0273-4958-B950-4410BF4CC9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112" y="3081528"/>
            <a:ext cx="4773168" cy="2551176"/>
          </a:xfrm>
          <a:solidFill>
            <a:srgbClr val="FFFFFF"/>
          </a:solidFill>
        </p:spPr>
        <p:txBody>
          <a:bodyPr lIns="182880" tIns="457200" rIns="182880" anchor="t">
            <a:noAutofit/>
          </a:bodyPr>
          <a:lstStyle>
            <a:lvl1pPr algn="ctr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Main key point here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B6FFC798-0A25-41EF-9946-E74888704E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81986" y="4332243"/>
            <a:ext cx="4199714" cy="663575"/>
          </a:xfrm>
        </p:spPr>
        <p:txBody>
          <a:bodyPr>
            <a:noAutofit/>
          </a:bodyPr>
          <a:lstStyle>
            <a:lvl1pPr algn="ctr"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Descriptor text</a:t>
            </a:r>
          </a:p>
        </p:txBody>
      </p:sp>
    </p:spTree>
    <p:extLst>
      <p:ext uri="{BB962C8B-B14F-4D97-AF65-F5344CB8AC3E}">
        <p14:creationId xmlns:p14="http://schemas.microsoft.com/office/powerpoint/2010/main" val="19497753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1A63108-01D5-41AB-9EF7-B337048006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8601" y="2500844"/>
            <a:ext cx="4186046" cy="1208557"/>
          </a:xfrm>
        </p:spPr>
        <p:txBody>
          <a:bodyPr anchor="ctr">
            <a:noAutofit/>
          </a:bodyPr>
          <a:lstStyle>
            <a:lvl1pPr algn="r">
              <a:defRPr sz="32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Data slide title</a:t>
            </a:r>
          </a:p>
        </p:txBody>
      </p:sp>
    </p:spTree>
    <p:extLst>
      <p:ext uri="{BB962C8B-B14F-4D97-AF65-F5344CB8AC3E}">
        <p14:creationId xmlns:p14="http://schemas.microsoft.com/office/powerpoint/2010/main" val="15401060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99ADB1-05D5-4EAD-9BF8-BCE2304A7465}"/>
              </a:ext>
            </a:extLst>
          </p:cNvPr>
          <p:cNvSpPr/>
          <p:nvPr userDrawn="1"/>
        </p:nvSpPr>
        <p:spPr>
          <a:xfrm>
            <a:off x="393192" y="384048"/>
            <a:ext cx="3638364" cy="5724144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VS Health Sans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E8922E-C133-4E9D-8AE5-B9A88B509E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1025" y="3611880"/>
            <a:ext cx="2734147" cy="606582"/>
          </a:xfrm>
        </p:spPr>
        <p:txBody>
          <a:bodyPr anchor="t"/>
          <a:lstStyle>
            <a:lvl1pPr marL="117475" indent="-117475">
              <a:spcBef>
                <a:spcPts val="1200"/>
              </a:spcBef>
              <a:tabLst>
                <a:tab pos="117475" algn="l"/>
              </a:tabLst>
              <a:defRPr sz="2000"/>
            </a:lvl1pPr>
            <a:lvl2pPr marL="117475" indent="0">
              <a:buFontTx/>
              <a:buNone/>
              <a:defRPr/>
            </a:lvl2pPr>
            <a:lvl3pPr marL="117475" indent="0">
              <a:defRPr/>
            </a:lvl3pPr>
          </a:lstStyle>
          <a:p>
            <a:pPr lvl="1"/>
            <a:r>
              <a:rPr lang="en-US"/>
              <a:t>Author here</a:t>
            </a:r>
          </a:p>
        </p:txBody>
      </p: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F3114042-1628-4900-8364-5F3F4EA6D3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64182" y="384048"/>
            <a:ext cx="7543800" cy="572414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F72BF-6CEF-4ADA-93C8-6FB4194A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1024" y="841248"/>
            <a:ext cx="2734147" cy="2651760"/>
          </a:xfrm>
        </p:spPr>
        <p:txBody>
          <a:bodyPr anchor="b"/>
          <a:lstStyle>
            <a:lvl1pPr marL="117475" indent="-117475">
              <a:lnSpc>
                <a:spcPct val="100000"/>
              </a:lnSpc>
              <a:tabLst>
                <a:tab pos="117475" algn="l"/>
              </a:tabLst>
              <a:defRPr sz="2000" b="0"/>
            </a:lvl1pPr>
          </a:lstStyle>
          <a:p>
            <a:r>
              <a:rPr lang="en-US"/>
              <a:t>“	Add a quote here. Make sure to include closing quote mark.”</a:t>
            </a:r>
          </a:p>
        </p:txBody>
      </p:sp>
    </p:spTree>
    <p:extLst>
      <p:ext uri="{BB962C8B-B14F-4D97-AF65-F5344CB8AC3E}">
        <p14:creationId xmlns:p14="http://schemas.microsoft.com/office/powerpoint/2010/main" val="3365424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lef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E96B7D-96F7-4EF1-83A2-1101BEEF3887}"/>
              </a:ext>
            </a:extLst>
          </p:cNvPr>
          <p:cNvSpPr/>
          <p:nvPr userDrawn="1"/>
        </p:nvSpPr>
        <p:spPr>
          <a:xfrm>
            <a:off x="393192" y="384048"/>
            <a:ext cx="3638364" cy="57241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VS Health Sans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13D1E-7E64-42B7-8EA6-D800640A3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855" y="2353322"/>
            <a:ext cx="2863748" cy="1690242"/>
          </a:xfrm>
        </p:spPr>
        <p:txBody>
          <a:bodyPr anchor="ctr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Main key point here</a:t>
            </a:r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E1E31FCE-7759-4235-8803-6826C9DCEC7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64182" y="384048"/>
            <a:ext cx="7543800" cy="572414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576841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ey point lef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BB5963-55DB-4F7D-AC94-9569A8AAF26A}"/>
              </a:ext>
            </a:extLst>
          </p:cNvPr>
          <p:cNvSpPr/>
          <p:nvPr userDrawn="1"/>
        </p:nvSpPr>
        <p:spPr>
          <a:xfrm>
            <a:off x="393192" y="384048"/>
            <a:ext cx="3638364" cy="5724144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VS Health Sans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2D6BED-75CE-416C-9863-E3D67A09C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855" y="2353322"/>
            <a:ext cx="2863748" cy="1690242"/>
          </a:xfrm>
        </p:spPr>
        <p:txBody>
          <a:bodyPr anchor="ctr"/>
          <a:lstStyle>
            <a:lvl1pPr algn="ctr"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US"/>
              <a:t>Main key point here</a:t>
            </a:r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DCEB4E74-81FD-401B-B813-23E912D1777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64182" y="384048"/>
            <a:ext cx="7543800" cy="572414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422403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75D67C-2BF7-49B0-848A-B3B00A9D33BF}"/>
              </a:ext>
            </a:extLst>
          </p:cNvPr>
          <p:cNvSpPr/>
          <p:nvPr userDrawn="1"/>
        </p:nvSpPr>
        <p:spPr>
          <a:xfrm>
            <a:off x="393192" y="384048"/>
            <a:ext cx="3638364" cy="57241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VS Health Sans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FA46B7-5841-498B-82BA-189426FD5A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855" y="2353322"/>
            <a:ext cx="2863748" cy="1690242"/>
          </a:xfrm>
        </p:spPr>
        <p:txBody>
          <a:bodyPr anchor="ctr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Main key point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6F1E52-8E2E-4152-9F15-10C9CCB20146}"/>
              </a:ext>
            </a:extLst>
          </p:cNvPr>
          <p:cNvSpPr/>
          <p:nvPr userDrawn="1"/>
        </p:nvSpPr>
        <p:spPr>
          <a:xfrm>
            <a:off x="4264182" y="384048"/>
            <a:ext cx="7543742" cy="5724144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6090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5CA1F-4240-4602-9BCE-C5A4DD7D03C9}"/>
              </a:ext>
            </a:extLst>
          </p:cNvPr>
          <p:cNvSpPr/>
          <p:nvPr userDrawn="1"/>
        </p:nvSpPr>
        <p:spPr>
          <a:xfrm>
            <a:off x="393192" y="384048"/>
            <a:ext cx="3638364" cy="5724144"/>
          </a:xfrm>
          <a:prstGeom prst="rect">
            <a:avLst/>
          </a:prstGeom>
          <a:solidFill>
            <a:srgbClr val="0B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VS Health Sans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2B703BF-57D7-44B0-A2A6-42286624F9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855" y="2353322"/>
            <a:ext cx="2863748" cy="1690242"/>
          </a:xfrm>
        </p:spPr>
        <p:txBody>
          <a:bodyPr anchor="ctr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Main key point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B03DA0-A7BD-4BF3-A74D-74FF41083AA4}"/>
              </a:ext>
            </a:extLst>
          </p:cNvPr>
          <p:cNvSpPr/>
          <p:nvPr userDrawn="1"/>
        </p:nvSpPr>
        <p:spPr>
          <a:xfrm>
            <a:off x="4264182" y="384048"/>
            <a:ext cx="7543742" cy="5724144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0647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righ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5"/>
          <p:cNvSpPr>
            <a:spLocks noGrp="1"/>
          </p:cNvSpPr>
          <p:nvPr>
            <p:ph type="pic" sz="quarter" idx="18"/>
          </p:nvPr>
        </p:nvSpPr>
        <p:spPr>
          <a:xfrm>
            <a:off x="393192" y="384048"/>
            <a:ext cx="7543800" cy="572414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8165592" y="384048"/>
            <a:ext cx="3638364" cy="57241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VS Health Sans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1FF0497-F9C8-4016-899B-3B35773D1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6755" y="2353322"/>
            <a:ext cx="2863748" cy="1690242"/>
          </a:xfrm>
        </p:spPr>
        <p:txBody>
          <a:bodyPr anchor="ctr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Main key point here</a:t>
            </a:r>
          </a:p>
        </p:txBody>
      </p:sp>
    </p:spTree>
    <p:extLst>
      <p:ext uri="{BB962C8B-B14F-4D97-AF65-F5344CB8AC3E}">
        <p14:creationId xmlns:p14="http://schemas.microsoft.com/office/powerpoint/2010/main" val="10206694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righ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FCC6671F-C7F4-4670-B18C-6C0DEC86BD8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3192" y="384048"/>
            <a:ext cx="7543800" cy="572414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9F17DB-23BC-4547-8F26-EF60DE5F906A}"/>
              </a:ext>
            </a:extLst>
          </p:cNvPr>
          <p:cNvSpPr/>
          <p:nvPr userDrawn="1"/>
        </p:nvSpPr>
        <p:spPr>
          <a:xfrm>
            <a:off x="8165592" y="384048"/>
            <a:ext cx="3638364" cy="5724144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VS Health Sans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398F8E1-81C5-43DF-9E44-7560787FBD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6755" y="2353322"/>
            <a:ext cx="2863748" cy="1690242"/>
          </a:xfrm>
        </p:spPr>
        <p:txBody>
          <a:bodyPr anchor="ctr"/>
          <a:lstStyle>
            <a:lvl1pPr algn="ctr"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US"/>
              <a:t>Main key point here</a:t>
            </a:r>
          </a:p>
        </p:txBody>
      </p:sp>
    </p:spTree>
    <p:extLst>
      <p:ext uri="{BB962C8B-B14F-4D97-AF65-F5344CB8AC3E}">
        <p14:creationId xmlns:p14="http://schemas.microsoft.com/office/powerpoint/2010/main" val="24313534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AA90D6A-6A50-4593-8B6E-4ED03D36A1ED}"/>
              </a:ext>
            </a:extLst>
          </p:cNvPr>
          <p:cNvSpPr/>
          <p:nvPr userDrawn="1"/>
        </p:nvSpPr>
        <p:spPr>
          <a:xfrm>
            <a:off x="395623" y="384048"/>
            <a:ext cx="7543742" cy="5724144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AA8204-C754-4229-95F2-FEC283A55893}"/>
              </a:ext>
            </a:extLst>
          </p:cNvPr>
          <p:cNvSpPr/>
          <p:nvPr userDrawn="1"/>
        </p:nvSpPr>
        <p:spPr>
          <a:xfrm>
            <a:off x="8165592" y="384048"/>
            <a:ext cx="3638364" cy="57241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VS Health Sans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26EF1E-6A37-420A-83BE-9C74A6B91F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6755" y="2353322"/>
            <a:ext cx="2863748" cy="1690242"/>
          </a:xfrm>
        </p:spPr>
        <p:txBody>
          <a:bodyPr anchor="ctr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Main key point here</a:t>
            </a:r>
          </a:p>
        </p:txBody>
      </p:sp>
    </p:spTree>
    <p:extLst>
      <p:ext uri="{BB962C8B-B14F-4D97-AF65-F5344CB8AC3E}">
        <p14:creationId xmlns:p14="http://schemas.microsoft.com/office/powerpoint/2010/main" val="22744304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784" y="649224"/>
            <a:ext cx="966520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one-column layout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784" y="1774879"/>
            <a:ext cx="8586216" cy="3987745"/>
          </a:xfrm>
        </p:spPr>
        <p:txBody>
          <a:bodyPr/>
          <a:lstStyle>
            <a:lvl1pPr>
              <a:defRPr sz="2000" b="1" cap="none" baseline="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 baseline="0"/>
            </a:lvl6pPr>
            <a:lvl7pPr marL="857250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 baseline="0">
                <a:solidFill>
                  <a:schemeClr val="tx2"/>
                </a:solidFill>
              </a:defRPr>
            </a:lvl7pPr>
            <a:lvl8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8pPr>
            <a:lvl9pPr marL="1203325" indent="-173038">
              <a:spcBef>
                <a:spcPts val="600"/>
              </a:spcBef>
              <a:buFont typeface="Arial" panose="020B0604020202020204" pitchFamily="34" charset="0"/>
              <a:buChar char="•"/>
              <a:defRPr sz="15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42469984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out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784" y="649224"/>
            <a:ext cx="966520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one-column layout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784" y="1776585"/>
            <a:ext cx="8586216" cy="3977640"/>
          </a:xfrm>
        </p:spPr>
        <p:txBody>
          <a:bodyPr/>
          <a:lstStyle>
            <a:lvl1pPr>
              <a:defRPr sz="1500" cap="none" baseline="0">
                <a:solidFill>
                  <a:schemeClr val="tx2"/>
                </a:solidFill>
              </a:defRPr>
            </a:lvl1pPr>
            <a:lvl2pPr marL="171450" indent="-171450">
              <a:defRPr sz="1500">
                <a:solidFill>
                  <a:schemeClr val="tx2"/>
                </a:solidFill>
              </a:defRPr>
            </a:lvl2pPr>
            <a:lvl3pPr marL="347663" indent="-176213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3pPr>
            <a:lvl4pPr marL="509588" indent="-161925">
              <a:spcBef>
                <a:spcPts val="600"/>
              </a:spcBef>
              <a:defRPr sz="1500">
                <a:solidFill>
                  <a:schemeClr val="tx2"/>
                </a:solidFill>
              </a:defRPr>
            </a:lvl4pPr>
            <a:lvl5pPr marL="682625" indent="-173038">
              <a:spcBef>
                <a:spcPts val="600"/>
              </a:spcBef>
              <a:defRPr sz="1500">
                <a:solidFill>
                  <a:schemeClr val="tx2"/>
                </a:solidFill>
              </a:defRPr>
            </a:lvl5pPr>
            <a:lvl6pPr marL="857250" indent="-174625">
              <a:defRPr sz="1500"/>
            </a:lvl6pPr>
            <a:lvl7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7pPr>
            <a:lvl8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8pPr>
            <a:lvl9pPr marL="1377950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40992978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784" y="649224"/>
            <a:ext cx="9665208" cy="71323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for two-column layout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5" hasCustomPrompt="1"/>
          </p:nvPr>
        </p:nvSpPr>
        <p:spPr bwMode="gray">
          <a:xfrm>
            <a:off x="557784" y="1773936"/>
            <a:ext cx="5029200" cy="3984133"/>
          </a:xfrm>
        </p:spPr>
        <p:txBody>
          <a:bodyPr/>
          <a:lstStyle>
            <a:lvl1pPr>
              <a:defRPr sz="2000" b="1" cap="none" baseline="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 baseline="0"/>
            </a:lvl6pPr>
            <a:lvl7pPr marL="857250" indent="-174625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7pPr>
            <a:lvl8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</a:defRPr>
            </a:lvl8pPr>
            <a:lvl9pPr marL="1203325" indent="-173038">
              <a:spcBef>
                <a:spcPts val="600"/>
              </a:spcBef>
              <a:buFont typeface="Arial" panose="020B0604020202020204" pitchFamily="34" charset="0"/>
              <a:buChar char="•"/>
              <a:defRPr sz="16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6" hasCustomPrompt="1"/>
          </p:nvPr>
        </p:nvSpPr>
        <p:spPr bwMode="gray">
          <a:xfrm>
            <a:off x="6391656" y="1773936"/>
            <a:ext cx="5029200" cy="3984133"/>
          </a:xfrm>
        </p:spPr>
        <p:txBody>
          <a:bodyPr/>
          <a:lstStyle>
            <a:lvl1pPr>
              <a:defRPr sz="2000" b="1" cap="none" baseline="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 baseline="0"/>
            </a:lvl6pPr>
            <a:lvl7pPr marL="857250" indent="-174625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7pPr>
            <a:lvl8pPr marL="857250" indent="0">
              <a:spcBef>
                <a:spcPts val="600"/>
              </a:spcBef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8pPr>
            <a:lvl9pPr marL="1203325" indent="-173038">
              <a:spcBef>
                <a:spcPts val="600"/>
              </a:spcBef>
              <a:buFont typeface="Arial" panose="020B0604020202020204" pitchFamily="34" charset="0"/>
              <a:buChar char="•"/>
              <a:defRPr sz="16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978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784" y="649224"/>
            <a:ext cx="966520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three-column layout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5" hasCustomPrompt="1"/>
          </p:nvPr>
        </p:nvSpPr>
        <p:spPr bwMode="gray">
          <a:xfrm>
            <a:off x="569913" y="1773936"/>
            <a:ext cx="3460179" cy="3975080"/>
          </a:xfrm>
        </p:spPr>
        <p:txBody>
          <a:bodyPr/>
          <a:lstStyle>
            <a:lvl1pPr>
              <a:defRPr sz="2000" b="1" cap="none" baseline="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/>
            </a:lvl6pPr>
            <a:lvl7pPr marL="857250" indent="-174625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7pPr>
            <a:lvl8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</a:defRPr>
            </a:lvl8pPr>
            <a:lvl9pPr marL="1203325" indent="-173038">
              <a:spcBef>
                <a:spcPts val="600"/>
              </a:spcBef>
              <a:buFont typeface="Arial" panose="020B0604020202020204" pitchFamily="34" charset="0"/>
              <a:buChar char="•"/>
              <a:defRPr sz="16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6" hasCustomPrompt="1"/>
          </p:nvPr>
        </p:nvSpPr>
        <p:spPr bwMode="gray">
          <a:xfrm>
            <a:off x="4361140" y="1773936"/>
            <a:ext cx="3460179" cy="3975080"/>
          </a:xfrm>
        </p:spPr>
        <p:txBody>
          <a:bodyPr/>
          <a:lstStyle>
            <a:lvl1pPr>
              <a:defRPr sz="2000" b="1" cap="none" baseline="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 baseline="0"/>
            </a:lvl6pPr>
            <a:lvl7pPr marL="857250" indent="-174625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7pPr>
            <a:lvl8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</a:defRPr>
            </a:lvl8pPr>
            <a:lvl9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6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7" hasCustomPrompt="1"/>
          </p:nvPr>
        </p:nvSpPr>
        <p:spPr bwMode="gray">
          <a:xfrm>
            <a:off x="8152367" y="1773936"/>
            <a:ext cx="3460179" cy="3975080"/>
          </a:xfrm>
        </p:spPr>
        <p:txBody>
          <a:bodyPr/>
          <a:lstStyle>
            <a:lvl1pPr>
              <a:defRPr sz="2000" b="1" cap="none" baseline="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/>
            </a:lvl6pPr>
            <a:lvl7pPr marL="682625" indent="0">
              <a:spcBef>
                <a:spcPts val="600"/>
              </a:spcBef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7pPr>
            <a:lvl8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</a:defRPr>
            </a:lvl8pPr>
            <a:lvl9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6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9203096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784" y="649224"/>
            <a:ext cx="966520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four-column layout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784" y="1773844"/>
            <a:ext cx="2505456" cy="3988781"/>
          </a:xfrm>
        </p:spPr>
        <p:txBody>
          <a:bodyPr vert="horz" lIns="0" tIns="0" rIns="0" bIns="0" rtlCol="0">
            <a:noAutofit/>
          </a:bodyPr>
          <a:lstStyle>
            <a:lvl1pPr>
              <a:buClr>
                <a:schemeClr val="tx1"/>
              </a:buClr>
              <a:defRPr lang="en-US" sz="2000" b="1" cap="none" baseline="0" dirty="0" smtClean="0">
                <a:solidFill>
                  <a:schemeClr val="tx2"/>
                </a:solidFill>
              </a:defRPr>
            </a:lvl1pPr>
            <a:lvl2pPr marL="0" indent="0">
              <a:buClr>
                <a:schemeClr val="tx1"/>
              </a:buClr>
              <a:buNone/>
              <a:defRPr lang="en-US" sz="15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5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5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5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3405856" y="1773844"/>
            <a:ext cx="2505456" cy="3988781"/>
          </a:xfrm>
        </p:spPr>
        <p:txBody>
          <a:bodyPr vert="horz" lIns="0" tIns="0" rIns="0" bIns="0" rtlCol="0">
            <a:noAutofit/>
          </a:bodyPr>
          <a:lstStyle>
            <a:lvl1pPr>
              <a:buClr>
                <a:schemeClr val="tx1"/>
              </a:buClr>
              <a:defRPr lang="en-US" sz="2000" b="1" cap="none" baseline="0" dirty="0" smtClean="0">
                <a:solidFill>
                  <a:schemeClr val="tx2"/>
                </a:solidFill>
              </a:defRPr>
            </a:lvl1pPr>
            <a:lvl2pPr marL="0" indent="0">
              <a:buClr>
                <a:schemeClr val="tx1"/>
              </a:buClr>
              <a:buNone/>
              <a:defRPr lang="en-US" sz="15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5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5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500" baseline="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8" hasCustomPrompt="1"/>
          </p:nvPr>
        </p:nvSpPr>
        <p:spPr bwMode="gray">
          <a:xfrm>
            <a:off x="6253928" y="1773844"/>
            <a:ext cx="2505456" cy="3988781"/>
          </a:xfrm>
        </p:spPr>
        <p:txBody>
          <a:bodyPr vert="horz" lIns="0" tIns="0" rIns="0" bIns="0" rtlCol="0">
            <a:noAutofit/>
          </a:bodyPr>
          <a:lstStyle>
            <a:lvl1pPr>
              <a:buClr>
                <a:schemeClr val="tx1"/>
              </a:buClr>
              <a:defRPr lang="en-US" sz="2000" b="1" cap="none" baseline="0" dirty="0" smtClean="0">
                <a:solidFill>
                  <a:schemeClr val="tx2"/>
                </a:solidFill>
              </a:defRPr>
            </a:lvl1pPr>
            <a:lvl2pPr marL="0" indent="0" algn="l">
              <a:buClr>
                <a:schemeClr val="tx1"/>
              </a:buClr>
              <a:buNone/>
              <a:defRPr lang="en-US" sz="15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5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500" dirty="0" smtClean="0">
                <a:solidFill>
                  <a:schemeClr val="tx2"/>
                </a:solidFill>
              </a:defRPr>
            </a:lvl4pPr>
            <a:lvl5pPr marL="511175" indent="-165100">
              <a:buClr>
                <a:schemeClr val="tx1"/>
              </a:buClr>
              <a:buFont typeface="Arial" panose="020B0604020202020204" pitchFamily="34" charset="0"/>
              <a:buChar char="•"/>
              <a:defRPr lang="en-US" sz="15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3" hasCustomPrompt="1"/>
          </p:nvPr>
        </p:nvSpPr>
        <p:spPr bwMode="gray">
          <a:xfrm>
            <a:off x="9102000" y="1773844"/>
            <a:ext cx="2505456" cy="3988781"/>
          </a:xfrm>
        </p:spPr>
        <p:txBody>
          <a:bodyPr vert="horz" lIns="0" tIns="0" rIns="0" bIns="0" rtlCol="0">
            <a:noAutofit/>
          </a:bodyPr>
          <a:lstStyle>
            <a:lvl1pPr>
              <a:buClr>
                <a:schemeClr val="tx1"/>
              </a:buClr>
              <a:defRPr lang="en-US" sz="2000" b="1" cap="none" baseline="0" dirty="0" smtClean="0">
                <a:solidFill>
                  <a:schemeClr val="tx2"/>
                </a:solidFill>
              </a:defRPr>
            </a:lvl1pPr>
            <a:lvl2pPr marL="0" indent="0" algn="l">
              <a:buClr>
                <a:schemeClr val="tx1"/>
              </a:buClr>
              <a:buNone/>
              <a:defRPr lang="en-US" sz="15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5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500" dirty="0" smtClean="0">
                <a:solidFill>
                  <a:schemeClr val="tx2"/>
                </a:solidFill>
              </a:defRPr>
            </a:lvl4pPr>
            <a:lvl5pPr marL="511175" indent="-165100">
              <a:buClr>
                <a:schemeClr val="tx1"/>
              </a:buClr>
              <a:buFont typeface="Arial" panose="020B0604020202020204" pitchFamily="34" charset="0"/>
              <a:buChar char="•"/>
              <a:defRPr lang="en-US" sz="15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9658264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784" y="649224"/>
            <a:ext cx="9665208" cy="71323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339160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80901" y="384048"/>
            <a:ext cx="11427023" cy="5724144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3232" y="649224"/>
            <a:ext cx="9665208" cy="71323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588001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0631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ssi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0C78D-4F6B-45F8-AB04-A56A0B1F3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-347472"/>
            <a:ext cx="9665208" cy="262719"/>
          </a:xfrm>
        </p:spPr>
        <p:txBody>
          <a:bodyPr anchor="b"/>
          <a:lstStyle>
            <a:lvl1pPr>
              <a:defRPr sz="1400"/>
            </a:lvl1pPr>
          </a:lstStyle>
          <a:p>
            <a:r>
              <a:rPr lang="en-US"/>
              <a:t>Title for slide built on the blank accessibility master</a:t>
            </a:r>
          </a:p>
        </p:txBody>
      </p:sp>
    </p:spTree>
    <p:extLst>
      <p:ext uri="{BB962C8B-B14F-4D97-AF65-F5344CB8AC3E}">
        <p14:creationId xmlns:p14="http://schemas.microsoft.com/office/powerpoint/2010/main" val="35263261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E165B92E-6E75-4AE3-9A66-2BE7D7974F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0"/>
            <a:ext cx="12188824" cy="68580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83F15B-6875-4795-A8F5-FC92953B66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9056" y="1207605"/>
            <a:ext cx="3395103" cy="3538233"/>
          </a:xfrm>
        </p:spPr>
        <p:txBody>
          <a:bodyPr anchor="ctr">
            <a:noAutofit/>
          </a:bodyPr>
          <a:lstStyle>
            <a:lvl1pPr algn="l">
              <a:lnSpc>
                <a:spcPct val="90000"/>
              </a:lnSpc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Closing text</a:t>
            </a:r>
          </a:p>
        </p:txBody>
      </p:sp>
      <p:pic>
        <p:nvPicPr>
          <p:cNvPr id="12" name="Graphic 11" descr="CVS Health logo">
            <a:extLst>
              <a:ext uri="{FF2B5EF4-FFF2-40B4-BE49-F238E27FC236}">
                <a16:creationId xmlns:a16="http://schemas.microsoft.com/office/drawing/2014/main" id="{74D3A37F-E0DA-446E-B173-2DDBFF734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1008" y="6373368"/>
            <a:ext cx="1273813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334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VS logo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253777D-5108-48F4-BAF8-16EF5CA96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-347472"/>
            <a:ext cx="9665208" cy="262719"/>
          </a:xfrm>
        </p:spPr>
        <p:txBody>
          <a:bodyPr anchor="b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CVS Health logo on white background</a:t>
            </a:r>
          </a:p>
        </p:txBody>
      </p:sp>
      <p:pic>
        <p:nvPicPr>
          <p:cNvPr id="11" name="Graphic 10" descr="CVS Health logo">
            <a:extLst>
              <a:ext uri="{FF2B5EF4-FFF2-40B4-BE49-F238E27FC236}">
                <a16:creationId xmlns:a16="http://schemas.microsoft.com/office/drawing/2014/main" id="{46110AA6-C52C-424B-900D-B5FA490F0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5496" y="3026664"/>
            <a:ext cx="6537960" cy="79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1350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VS logo o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268719-E45D-4DB9-A5CE-3920E9240B44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C1C0A90-CD75-4DD6-80F4-EDD3FD0CF4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-347472"/>
            <a:ext cx="9665208" cy="262719"/>
          </a:xfrm>
        </p:spPr>
        <p:txBody>
          <a:bodyPr anchor="b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CVS Health logo on red background</a:t>
            </a:r>
          </a:p>
        </p:txBody>
      </p:sp>
      <p:pic>
        <p:nvPicPr>
          <p:cNvPr id="12" name="Graphic 11" descr="CVS Health logo">
            <a:extLst>
              <a:ext uri="{FF2B5EF4-FFF2-40B4-BE49-F238E27FC236}">
                <a16:creationId xmlns:a16="http://schemas.microsoft.com/office/drawing/2014/main" id="{B68A7D5F-95B8-5A4D-95DF-7F1C0D295E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5496" y="3026664"/>
            <a:ext cx="6537960" cy="79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6195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veryda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786" y="2130386"/>
            <a:ext cx="468172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57784" y="4379002"/>
            <a:ext cx="3582017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2" name="Graphic 11" descr="CVS Health logo.">
            <a:extLst>
              <a:ext uri="{FF2B5EF4-FFF2-40B4-BE49-F238E27FC236}">
                <a16:creationId xmlns:a16="http://schemas.microsoft.com/office/drawing/2014/main" id="{EB139D66-8476-4A6C-8269-A32651B9DC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784" y="430701"/>
            <a:ext cx="2871788" cy="350455"/>
          </a:xfrm>
          <a:prstGeom prst="rect">
            <a:avLst/>
          </a:prstGeom>
        </p:spPr>
      </p:pic>
      <p:pic>
        <p:nvPicPr>
          <p:cNvPr id="21" name="Picture 20" descr="Red outline heart.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561" y="1016178"/>
            <a:ext cx="5221110" cy="434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5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7784" y="649224"/>
            <a:ext cx="9665208" cy="7132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57784" y="1773936"/>
            <a:ext cx="11045952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20" name="Content Placeholder 8"/>
          <p:cNvSpPr txBox="1">
            <a:spLocks/>
          </p:cNvSpPr>
          <p:nvPr userDrawn="1"/>
        </p:nvSpPr>
        <p:spPr>
          <a:xfrm>
            <a:off x="557784" y="6367487"/>
            <a:ext cx="352367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B9F1AC-7982-48A5-A9F4-F49F09D2E693}"/>
              </a:ext>
            </a:extLst>
          </p:cNvPr>
          <p:cNvSpPr txBox="1"/>
          <p:nvPr userDrawn="1"/>
        </p:nvSpPr>
        <p:spPr>
          <a:xfrm>
            <a:off x="859534" y="6425581"/>
            <a:ext cx="804672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 b="0">
                <a:solidFill>
                  <a:schemeClr val="tx2"/>
                </a:solidFill>
              </a:rPr>
              <a:t>©2025 CVS </a:t>
            </a:r>
            <a:r>
              <a:rPr lang="en-US" sz="800" b="0">
                <a:solidFill>
                  <a:schemeClr val="tx2"/>
                </a:solidFill>
                <a:latin typeface="+mn-lt"/>
              </a:rPr>
              <a:t>Health</a:t>
            </a:r>
            <a:r>
              <a:rPr lang="en-US" sz="800" b="0">
                <a:solidFill>
                  <a:schemeClr val="tx2"/>
                </a:solidFill>
              </a:rPr>
              <a:t> and/or one of its affiliates. Confidential and proprietary.</a:t>
            </a:r>
          </a:p>
        </p:txBody>
      </p:sp>
      <p:pic>
        <p:nvPicPr>
          <p:cNvPr id="14" name="Graphic 13" descr="CVS Health logo">
            <a:extLst>
              <a:ext uri="{FF2B5EF4-FFF2-40B4-BE49-F238E27FC236}">
                <a16:creationId xmlns:a16="http://schemas.microsoft.com/office/drawing/2014/main" id="{227358BE-2134-5C4A-824D-B02F786DC512}"/>
              </a:ext>
            </a:extLst>
          </p:cNvPr>
          <p:cNvPicPr>
            <a:picLocks noChangeAspect="1"/>
          </p:cNvPicPr>
          <p:nvPr userDrawn="1"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0351008" y="6373368"/>
            <a:ext cx="1273813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7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82" r:id="rId2"/>
    <p:sldLayoutId id="2147483973" r:id="rId3"/>
    <p:sldLayoutId id="2147483870" r:id="rId4"/>
    <p:sldLayoutId id="2147483889" r:id="rId5"/>
    <p:sldLayoutId id="2147483955" r:id="rId6"/>
    <p:sldLayoutId id="2147483956" r:id="rId7"/>
    <p:sldLayoutId id="2147483980" r:id="rId8"/>
    <p:sldLayoutId id="2147483978" r:id="rId9"/>
    <p:sldLayoutId id="2147483979" r:id="rId10"/>
    <p:sldLayoutId id="2147483957" r:id="rId11"/>
    <p:sldLayoutId id="2147483958" r:id="rId12"/>
    <p:sldLayoutId id="2147483959" r:id="rId13"/>
    <p:sldLayoutId id="2147483960" r:id="rId14"/>
    <p:sldLayoutId id="2147483961" r:id="rId15"/>
    <p:sldLayoutId id="2147483962" r:id="rId16"/>
    <p:sldLayoutId id="2147483953" r:id="rId17"/>
    <p:sldLayoutId id="2147483954" r:id="rId18"/>
    <p:sldLayoutId id="2147483963" r:id="rId19"/>
    <p:sldLayoutId id="2147483964" r:id="rId20"/>
    <p:sldLayoutId id="2147483981" r:id="rId21"/>
    <p:sldLayoutId id="2147483965" r:id="rId22"/>
    <p:sldLayoutId id="2147483974" r:id="rId23"/>
    <p:sldLayoutId id="2147483966" r:id="rId24"/>
    <p:sldLayoutId id="2147483976" r:id="rId25"/>
    <p:sldLayoutId id="2147483950" r:id="rId26"/>
    <p:sldLayoutId id="2147483977" r:id="rId27"/>
    <p:sldLayoutId id="2147483967" r:id="rId28"/>
    <p:sldLayoutId id="2147483893" r:id="rId29"/>
    <p:sldLayoutId id="2147483871" r:id="rId30"/>
    <p:sldLayoutId id="2147483894" r:id="rId31"/>
    <p:sldLayoutId id="2147483896" r:id="rId32"/>
    <p:sldLayoutId id="2147483952" r:id="rId33"/>
    <p:sldLayoutId id="2147483878" r:id="rId34"/>
    <p:sldLayoutId id="2147483939" r:id="rId35"/>
    <p:sldLayoutId id="2147483879" r:id="rId36"/>
    <p:sldLayoutId id="2147483972" r:id="rId37"/>
    <p:sldLayoutId id="2147483968" r:id="rId38"/>
    <p:sldLayoutId id="2147483914" r:id="rId39"/>
    <p:sldLayoutId id="2147483915" r:id="rId40"/>
    <p:sldLayoutId id="2147483982" r:id="rId41"/>
  </p:sldLayoutIdLst>
  <p:hf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00000"/>
        </a:lnSpc>
        <a:spcBef>
          <a:spcPts val="1800"/>
        </a:spcBef>
        <a:buClrTx/>
        <a:buFont typeface="Arial"/>
        <a:buNone/>
        <a:defRPr sz="15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171450" indent="-171450" algn="l" defTabSz="457200" rtl="0" eaLnBrk="1" latinLnBrk="0" hangingPunct="1">
        <a:lnSpc>
          <a:spcPct val="100000"/>
        </a:lnSpc>
        <a:spcBef>
          <a:spcPts val="1200"/>
        </a:spcBef>
        <a:buClrTx/>
        <a:buFont typeface="Arial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2pPr>
      <a:lvl3pPr marL="171450" marR="0" indent="0" algn="l" defTabSz="4572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CVS Health Sans"/>
        <a:buNone/>
        <a:tabLst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514350" indent="-171450" algn="l" defTabSz="457200" rtl="0" eaLnBrk="1" latinLnBrk="0" hangingPunct="1">
        <a:lnSpc>
          <a:spcPct val="100000"/>
        </a:lnSpc>
        <a:spcBef>
          <a:spcPts val="600"/>
        </a:spcBef>
        <a:buClrTx/>
        <a:buFont typeface="Arial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4pPr>
      <a:lvl5pPr marL="682625" indent="-168275" algn="l" defTabSz="4572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500" kern="1200">
          <a:solidFill>
            <a:schemeClr val="tx2"/>
          </a:solidFill>
          <a:latin typeface="+mn-lt"/>
          <a:ea typeface="+mn-ea"/>
          <a:cs typeface="+mn-cs"/>
        </a:defRPr>
      </a:lvl5pPr>
      <a:lvl6pPr marL="857250" indent="-174625" algn="l" defTabSz="4572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1030288" indent="-173038" algn="l" defTabSz="4572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1203325" indent="-173038" algn="l" defTabSz="457200" rtl="0" eaLnBrk="1" latinLnBrk="0" hangingPunct="1">
        <a:lnSpc>
          <a:spcPct val="100000"/>
        </a:lnSpc>
        <a:spcBef>
          <a:spcPts val="600"/>
        </a:spcBef>
        <a:buFont typeface="Arial"/>
        <a:buChar char="•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1377950" indent="-174625" algn="l" defTabSz="4572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1pPr>
      <a:lvl2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2pPr>
      <a:lvl3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3pPr>
      <a:lvl4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4pPr>
      <a:lvl5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5pPr>
      <a:lvl6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6pPr>
      <a:lvl7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7pPr>
      <a:lvl8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8pPr>
      <a:lvl9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59" userDrawn="1">
          <p15:clr>
            <a:srgbClr val="F26B43"/>
          </p15:clr>
        </p15:guide>
        <p15:guide id="2" pos="7319" userDrawn="1">
          <p15:clr>
            <a:srgbClr val="F26B43"/>
          </p15:clr>
        </p15:guide>
        <p15:guide id="3" orient="horz" pos="432" userDrawn="1">
          <p15:clr>
            <a:srgbClr val="F26B43"/>
          </p15:clr>
        </p15:guide>
        <p15:guide id="4" orient="horz" pos="4112" userDrawn="1">
          <p15:clr>
            <a:srgbClr val="F26B43"/>
          </p15:clr>
        </p15:guide>
        <p15:guide id="5" orient="horz" pos="1116" userDrawn="1">
          <p15:clr>
            <a:srgbClr val="F26B43"/>
          </p15:clr>
        </p15:guide>
        <p15:guide id="6" orient="horz" pos="362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557786" y="2130386"/>
            <a:ext cx="5769442" cy="2011680"/>
          </a:xfrm>
        </p:spPr>
        <p:txBody>
          <a:bodyPr/>
          <a:lstStyle/>
          <a:p>
            <a:r>
              <a:rPr lang="en-US" sz="3200" dirty="0"/>
              <a:t>ISTS</a:t>
            </a:r>
            <a:br>
              <a:rPr lang="en-US" sz="3200" dirty="0"/>
            </a:br>
            <a:r>
              <a:rPr lang="en-US" sz="3200" dirty="0"/>
              <a:t>External Connection Management &amp; Governance</a:t>
            </a:r>
          </a:p>
        </p:txBody>
      </p:sp>
      <p:sp>
        <p:nvSpPr>
          <p:cNvPr id="2" name="Presenter name"/>
          <p:cNvSpPr>
            <a:spLocks noGrp="1"/>
          </p:cNvSpPr>
          <p:nvPr>
            <p:ph type="body" sz="quarter" idx="16"/>
          </p:nvPr>
        </p:nvSpPr>
        <p:spPr>
          <a:xfrm>
            <a:off x="557785" y="4379001"/>
            <a:ext cx="2798157" cy="1421723"/>
          </a:xfrm>
        </p:spPr>
        <p:txBody>
          <a:bodyPr/>
          <a:lstStyle/>
          <a:p>
            <a:pPr lvl="1"/>
            <a:r>
              <a:rPr lang="en-US" sz="1400" dirty="0"/>
              <a:t>April 23, 2025</a:t>
            </a:r>
          </a:p>
          <a:p>
            <a:pPr lvl="1"/>
            <a:r>
              <a:rPr lang="en-US" sz="1400" dirty="0"/>
              <a:t>Mani Ponniah</a:t>
            </a:r>
            <a:br>
              <a:rPr lang="en-US" sz="1400" dirty="0"/>
            </a:br>
            <a:r>
              <a:rPr lang="en-US" sz="1400" dirty="0"/>
              <a:t>Dino Kotenoglou</a:t>
            </a:r>
            <a:br>
              <a:rPr lang="en-US" sz="1400" dirty="0"/>
            </a:br>
            <a:r>
              <a:rPr lang="en-US" sz="1400" dirty="0"/>
              <a:t>Vincent Scales</a:t>
            </a:r>
          </a:p>
          <a:p>
            <a:pPr lvl="1"/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43581-5C86-44B6-9123-CC4CEEF57296}"/>
              </a:ext>
            </a:extLst>
          </p:cNvPr>
          <p:cNvSpPr txBox="1"/>
          <p:nvPr/>
        </p:nvSpPr>
        <p:spPr>
          <a:xfrm>
            <a:off x="557784" y="6428232"/>
            <a:ext cx="804672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©2025 CVS Health and/or one of its affiliates.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3833287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B6E6E-6F49-5258-9602-6572E24B6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8" descr="Example of a table.">
            <a:extLst>
              <a:ext uri="{FF2B5EF4-FFF2-40B4-BE49-F238E27FC236}">
                <a16:creationId xmlns:a16="http://schemas.microsoft.com/office/drawing/2014/main" id="{B4EBD114-5E26-8261-3156-C7A2690CF4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561074"/>
              </p:ext>
            </p:extLst>
          </p:nvPr>
        </p:nvGraphicFramePr>
        <p:xfrm>
          <a:off x="121227" y="1290543"/>
          <a:ext cx="11842123" cy="461468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238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4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0695">
                  <a:extLst>
                    <a:ext uri="{9D8B030D-6E8A-4147-A177-3AD203B41FA5}">
                      <a16:colId xmlns:a16="http://schemas.microsoft.com/office/drawing/2014/main" val="1456742241"/>
                    </a:ext>
                  </a:extLst>
                </a:gridCol>
                <a:gridCol w="2118335">
                  <a:extLst>
                    <a:ext uri="{9D8B030D-6E8A-4147-A177-3AD203B41FA5}">
                      <a16:colId xmlns:a16="http://schemas.microsoft.com/office/drawing/2014/main" val="650992431"/>
                    </a:ext>
                  </a:extLst>
                </a:gridCol>
                <a:gridCol w="2447599">
                  <a:extLst>
                    <a:ext uri="{9D8B030D-6E8A-4147-A177-3AD203B41FA5}">
                      <a16:colId xmlns:a16="http://schemas.microsoft.com/office/drawing/2014/main" val="164485931"/>
                    </a:ext>
                  </a:extLst>
                </a:gridCol>
              </a:tblGrid>
              <a:tr h="481601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Connection Type</a:t>
                      </a:r>
                    </a:p>
                  </a:txBody>
                  <a:tcPr marR="45281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Estimated Population</a:t>
                      </a:r>
                    </a:p>
                  </a:txBody>
                  <a:tcPr marL="45281" marR="452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Current Status</a:t>
                      </a:r>
                    </a:p>
                  </a:txBody>
                  <a:tcPr marL="45281" marR="452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Teams Engaged</a:t>
                      </a:r>
                    </a:p>
                  </a:txBody>
                  <a:tcPr marL="45281" marR="45281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Current Data Health</a:t>
                      </a:r>
                    </a:p>
                  </a:txBody>
                  <a:tcPr marL="45281" marR="452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Next Steps</a:t>
                      </a:r>
                    </a:p>
                  </a:txBody>
                  <a:tcPr marL="45281" marR="4528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61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F3F3F"/>
                          </a:solidFill>
                        </a:rPr>
                        <a:t>SFTP</a:t>
                      </a:r>
                    </a:p>
                  </a:txBody>
                  <a:tcPr marR="452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rgbClr val="3F3F3F"/>
                          </a:solidFill>
                        </a:rPr>
                        <a:t>3,336 </a:t>
                      </a:r>
                    </a:p>
                  </a:txBody>
                  <a:tcPr marL="90563" marR="90563" marT="109728" marB="109728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</a:rPr>
                        <a:t>Firewall team provided all rules related to Port 22 &amp; 2222. Vendor and Connection Owner not present. </a:t>
                      </a:r>
                      <a:endParaRPr lang="en-US" dirty="0">
                        <a:solidFill>
                          <a:srgbClr val="3F3F3F"/>
                        </a:solidFill>
                      </a:endParaRP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endParaRPr lang="en-US" sz="1200" dirty="0">
                        <a:solidFill>
                          <a:srgbClr val="3F3F3F"/>
                        </a:solidFill>
                      </a:endParaRP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</a:rPr>
                        <a:t>ECMG team in process of gathering additional insight. </a:t>
                      </a:r>
                      <a:endParaRPr lang="en-US" dirty="0">
                        <a:solidFill>
                          <a:srgbClr val="3F3F3F"/>
                        </a:solidFill>
                      </a:endParaRPr>
                    </a:p>
                  </a:txBody>
                  <a:tcPr marL="90563" marR="90563" marT="109728" marB="109728"/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3F3F3F"/>
                          </a:solidFill>
                        </a:rPr>
                        <a:t>Firewall Ops </a:t>
                      </a: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3F3F3F"/>
                          </a:solidFill>
                        </a:rPr>
                        <a:t>InfoSec Data Science 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3F3F3F"/>
                          </a:solidFill>
                        </a:rPr>
                        <a:t>CVS &amp; Aetna SFTP </a:t>
                      </a:r>
                      <a:endParaRPr lang="en-US">
                        <a:solidFill>
                          <a:srgbClr val="3F3F3F"/>
                        </a:solidFill>
                      </a:endParaRP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3F3F3F"/>
                          </a:solidFill>
                        </a:rPr>
                        <a:t>SFTP Engineering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3F3F3F"/>
                          </a:solidFill>
                        </a:rPr>
                        <a:t>Sterling File Gateway</a:t>
                      </a:r>
                      <a:endParaRPr lang="en-US">
                        <a:solidFill>
                          <a:srgbClr val="3F3F3F"/>
                        </a:solidFill>
                      </a:endParaRPr>
                    </a:p>
                  </a:txBody>
                  <a:tcPr marL="90563" marR="90563" marT="109728" marB="109728"/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</a:rPr>
                        <a:t>NEEDS IMPROVEMENT</a:t>
                      </a:r>
                      <a:br>
                        <a:rPr lang="en-US" sz="1200" b="1" dirty="0">
                          <a:solidFill>
                            <a:srgbClr val="FFC000"/>
                          </a:solidFill>
                        </a:rPr>
                      </a:br>
                      <a:r>
                        <a:rPr lang="en-US" sz="1200" dirty="0">
                          <a:solidFill>
                            <a:srgbClr val="3F3F3F"/>
                          </a:solidFill>
                        </a:rPr>
                        <a:t>Vendor and Connection Owner information is missing. ECMG has engaged InfoSec Data Science &amp; Firewall Ops for further data insight.</a:t>
                      </a:r>
                    </a:p>
                  </a:txBody>
                  <a:tcPr marL="90563" marR="90563" marT="109728" marB="109728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3F3F3F"/>
                          </a:solidFill>
                        </a:rPr>
                        <a:t>Follow up meeting with InfoSec Data Science on 4/24 (Total Inventory Head Count). </a:t>
                      </a:r>
                      <a:br>
                        <a:rPr lang="en-US" sz="1200">
                          <a:solidFill>
                            <a:srgbClr val="3F3F3F"/>
                          </a:solidFill>
                        </a:rPr>
                      </a:br>
                      <a:endParaRPr lang="en-US" sz="1200">
                        <a:solidFill>
                          <a:srgbClr val="3F3F3F"/>
                        </a:solidFill>
                      </a:endParaRP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3F3F3F"/>
                          </a:solidFill>
                        </a:rPr>
                        <a:t>Firewall Ops team working to provide change management and Firemon request details.</a:t>
                      </a:r>
                    </a:p>
                  </a:txBody>
                  <a:tcPr marL="90563" marR="90563" marT="109728" marB="109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612">
                <a:tc>
                  <a:txBody>
                    <a:bodyPr/>
                    <a:lstStyle/>
                    <a:p>
                      <a:pPr marL="0" algn="ctr" rtl="0" eaLnBrk="1" fontAlgn="ctr" latinLnBrk="0" hangingPunct="1"/>
                      <a:r>
                        <a:rPr lang="en-US" sz="1400" b="1" kern="1500">
                          <a:solidFill>
                            <a:srgbClr val="3F3F3F"/>
                          </a:solidFill>
                          <a:latin typeface="+mn-lt"/>
                          <a:ea typeface="+mn-ea"/>
                          <a:cs typeface="+mn-cs"/>
                        </a:rPr>
                        <a:t>External SharePoint &amp; </a:t>
                      </a:r>
                      <a:r>
                        <a:rPr lang="en-US" sz="1400" b="1" kern="1500" err="1">
                          <a:solidFill>
                            <a:srgbClr val="3F3F3F"/>
                          </a:solidFill>
                          <a:latin typeface="+mn-lt"/>
                          <a:ea typeface="+mn-ea"/>
                          <a:cs typeface="+mn-cs"/>
                        </a:rPr>
                        <a:t>eShare</a:t>
                      </a:r>
                      <a:endParaRPr lang="en-US" sz="1800" b="1" kern="1500" err="1">
                        <a:solidFill>
                          <a:srgbClr val="3F3F3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45281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800" b="0" kern="1500" dirty="0">
                          <a:solidFill>
                            <a:srgbClr val="3F3F3F"/>
                          </a:solidFill>
                          <a:latin typeface="+mn-lt"/>
                          <a:ea typeface="+mn-ea"/>
                          <a:cs typeface="+mn-cs"/>
                        </a:rPr>
                        <a:t>6,437</a:t>
                      </a:r>
                    </a:p>
                  </a:txBody>
                  <a:tcPr marL="90563" marR="90563" marT="109728" marB="109728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solidFill>
                            <a:schemeClr val="tx2"/>
                          </a:solidFill>
                          <a:latin typeface="CVS Health Sans"/>
                        </a:rPr>
                        <a:t>External SharePoint and eShare Teams provided inventory reports.</a:t>
                      </a:r>
                      <a:br>
                        <a:rPr lang="en-US" sz="1200" b="0" i="0" u="none" strike="noStrike" noProof="0">
                          <a:solidFill>
                            <a:srgbClr val="3F3F3F"/>
                          </a:solidFill>
                          <a:latin typeface="CVS Health Sans"/>
                        </a:rPr>
                      </a:br>
                      <a:endParaRPr lang="en-US" sz="1200" b="0" i="0" u="none" strike="noStrike" noProof="0">
                        <a:solidFill>
                          <a:srgbClr val="3F3F3F"/>
                        </a:solidFill>
                        <a:latin typeface="CVS Health Sans"/>
                      </a:endParaRP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solidFill>
                            <a:schemeClr val="tx2"/>
                          </a:solidFill>
                          <a:latin typeface="CVS Health Sans"/>
                        </a:rPr>
                        <a:t>Added Slack to connection types.</a:t>
                      </a:r>
                      <a:endParaRPr lang="en-US" sz="1200">
                        <a:solidFill>
                          <a:srgbClr val="3F3F3F"/>
                        </a:solidFill>
                      </a:endParaRPr>
                    </a:p>
                  </a:txBody>
                  <a:tcPr marL="90563" marR="90563" marT="109728" marB="109728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US" sz="1200" err="1">
                          <a:solidFill>
                            <a:srgbClr val="3F3F3F"/>
                          </a:solidFill>
                        </a:rPr>
                        <a:t>eShare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err="1">
                          <a:solidFill>
                            <a:srgbClr val="3F3F3F"/>
                          </a:solidFill>
                        </a:rPr>
                        <a:t>Sharepoint</a:t>
                      </a:r>
                      <a:endParaRPr lang="en-US" sz="1200">
                        <a:solidFill>
                          <a:srgbClr val="3F3F3F"/>
                        </a:solidFill>
                      </a:endParaRP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3F3F3F"/>
                          </a:solidFill>
                        </a:rPr>
                        <a:t>Collaboration/O365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endParaRPr lang="en-US" sz="1200">
                        <a:solidFill>
                          <a:srgbClr val="3F3F3F"/>
                        </a:solidFill>
                      </a:endParaRP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endParaRPr lang="en-US" sz="1200">
                        <a:solidFill>
                          <a:srgbClr val="3F3F3F"/>
                        </a:solidFill>
                      </a:endParaRP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endParaRPr lang="en-US" sz="1200">
                        <a:solidFill>
                          <a:srgbClr val="3F3F3F"/>
                        </a:solidFill>
                      </a:endParaRPr>
                    </a:p>
                  </a:txBody>
                  <a:tcPr marL="90563" marR="90563" marT="109728" marB="109728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READY FOR  INTAKE</a:t>
                      </a:r>
                      <a:br>
                        <a:rPr lang="en-US" sz="1200" b="1" dirty="0">
                          <a:solidFill>
                            <a:srgbClr val="00B050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Vendor and Connection Owner information present.</a:t>
                      </a:r>
                    </a:p>
                  </a:txBody>
                  <a:tcPr marL="90563" marR="90563" marT="109728" marB="109728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rgbClr val="3F3F3F"/>
                          </a:solidFill>
                          <a:latin typeface="CVS Health Sans"/>
                        </a:rPr>
                        <a:t>Prepare data for ingestion into ECMG repository.</a:t>
                      </a:r>
                      <a:endParaRPr lang="en-US" sz="1200" dirty="0">
                        <a:solidFill>
                          <a:srgbClr val="3F3F3F"/>
                        </a:solidFill>
                      </a:endParaRPr>
                    </a:p>
                  </a:txBody>
                  <a:tcPr marL="90563" marR="90563" marT="109728" marB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612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3F3F3F"/>
                          </a:solidFill>
                        </a:rPr>
                        <a:t>External</a:t>
                      </a:r>
                      <a:br>
                        <a:rPr lang="en-US" sz="1400" b="1">
                          <a:solidFill>
                            <a:srgbClr val="3F3F3F"/>
                          </a:solidFill>
                        </a:rPr>
                      </a:br>
                      <a:r>
                        <a:rPr lang="en-US" sz="1400" b="1">
                          <a:solidFill>
                            <a:srgbClr val="3F3F3F"/>
                          </a:solidFill>
                        </a:rPr>
                        <a:t>API</a:t>
                      </a:r>
                    </a:p>
                  </a:txBody>
                  <a:tcPr marR="452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F3F3F"/>
                          </a:solidFill>
                        </a:rPr>
                        <a:t>6,000</a:t>
                      </a:r>
                      <a:br>
                        <a:rPr lang="en-US" sz="1600" dirty="0">
                          <a:solidFill>
                            <a:srgbClr val="3F3F3F"/>
                          </a:solidFill>
                        </a:rPr>
                      </a:br>
                      <a:r>
                        <a:rPr lang="en-US" sz="1100" dirty="0">
                          <a:solidFill>
                            <a:srgbClr val="3F3F3F"/>
                          </a:solidFill>
                        </a:rPr>
                        <a:t>(per Cloud Infrastructure Services)</a:t>
                      </a:r>
                    </a:p>
                  </a:txBody>
                  <a:tcPr marL="90563" marR="90563" marT="109728" marB="109728"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b="0" i="0" u="none" strike="noStrike" noProof="0">
                          <a:solidFill>
                            <a:schemeClr val="tx2"/>
                          </a:solidFill>
                          <a:latin typeface="CVS Health Sans"/>
                        </a:rPr>
                        <a:t>Inventory report and total count to be provided by Cloud Infrastructure, ETA 4/22, still outstanding.</a:t>
                      </a:r>
                    </a:p>
                  </a:txBody>
                  <a:tcPr marL="90563" marR="90563" marT="109728" marB="109728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3F3F3F"/>
                          </a:solidFill>
                        </a:rPr>
                        <a:t>Cloud Infrastructure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3F3F3F"/>
                          </a:solidFill>
                        </a:rPr>
                        <a:t>API App. Security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endParaRPr lang="en-US" sz="1200">
                        <a:solidFill>
                          <a:srgbClr val="3F3F3F"/>
                        </a:solidFill>
                      </a:endParaRPr>
                    </a:p>
                  </a:txBody>
                  <a:tcPr marL="90563" marR="90563" marT="109728" marB="109728"/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b="1" i="0" u="none" strike="noStrike" noProof="0" dirty="0">
                          <a:solidFill>
                            <a:srgbClr val="C00000"/>
                          </a:solidFill>
                          <a:latin typeface="CVS Health Sans"/>
                        </a:rPr>
                        <a:t>AT RISK</a:t>
                      </a:r>
                      <a:br>
                        <a:rPr lang="en-US" sz="1200" b="1" i="0" u="none" strike="noStrike" noProof="0" dirty="0">
                          <a:solidFill>
                            <a:srgbClr val="00B050"/>
                          </a:solidFill>
                          <a:latin typeface="CVS Health Sans"/>
                        </a:rPr>
                      </a:br>
                      <a:r>
                        <a:rPr lang="en-US" sz="1200" b="0" i="0" u="none" strike="noStrike" noProof="0" dirty="0">
                          <a:solidFill>
                            <a:schemeClr val="tx1"/>
                          </a:solidFill>
                          <a:latin typeface="CVS Health Sans"/>
                        </a:rPr>
                        <a:t>ECMG team encountering difficulty obtaining External API inventory.</a:t>
                      </a:r>
                    </a:p>
                  </a:txBody>
                  <a:tcPr marL="90563" marR="90563" marT="109728" marB="109728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</a:rPr>
                        <a:t>Escalate receipt of External API inventory, validate completeness of data.</a:t>
                      </a:r>
                      <a:br>
                        <a:rPr lang="en-US" dirty="0"/>
                      </a:br>
                      <a:endParaRPr lang="en-US" sz="1200" dirty="0">
                        <a:solidFill>
                          <a:srgbClr val="3F3F3F"/>
                        </a:solidFill>
                      </a:endParaRP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</a:rPr>
                        <a:t>Prepare data for ingestion into ECMG repository. </a:t>
                      </a:r>
                    </a:p>
                  </a:txBody>
                  <a:tcPr marL="90563" marR="90563" marT="109728" marB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2520FDE-B0CE-515E-EB5E-9A20FE5B9BC4}"/>
              </a:ext>
            </a:extLst>
          </p:cNvPr>
          <p:cNvSpPr txBox="1">
            <a:spLocks/>
          </p:cNvSpPr>
          <p:nvPr/>
        </p:nvSpPr>
        <p:spPr>
          <a:xfrm>
            <a:off x="121227" y="102063"/>
            <a:ext cx="10810293" cy="7132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FontTx/>
            </a:pPr>
            <a:endParaRPr lang="en-US" sz="1200" dirty="0">
              <a:solidFill>
                <a:schemeClr val="accent1"/>
              </a:solidFill>
            </a:endParaRPr>
          </a:p>
          <a:p>
            <a:pPr>
              <a:buFontTx/>
            </a:pPr>
            <a:r>
              <a:rPr lang="en-US" dirty="0"/>
              <a:t>External Connection Management &amp; Governance</a:t>
            </a:r>
            <a:br>
              <a:rPr lang="en-US" dirty="0"/>
            </a:br>
            <a:r>
              <a:rPr lang="en-US" sz="2400" b="0" i="1" dirty="0"/>
              <a:t>Progress and Next Steps</a:t>
            </a:r>
            <a:endParaRPr lang="en-US" b="0" i="1" dirty="0"/>
          </a:p>
        </p:txBody>
      </p:sp>
    </p:spTree>
    <p:extLst>
      <p:ext uri="{BB962C8B-B14F-4D97-AF65-F5344CB8AC3E}">
        <p14:creationId xmlns:p14="http://schemas.microsoft.com/office/powerpoint/2010/main" val="1351291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05198-103B-5B97-3B84-986CF3863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8" descr="Example of a table.">
            <a:extLst>
              <a:ext uri="{FF2B5EF4-FFF2-40B4-BE49-F238E27FC236}">
                <a16:creationId xmlns:a16="http://schemas.microsoft.com/office/drawing/2014/main" id="{8733E337-D188-4CC2-5EEA-9FDEB9DA93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9189166"/>
              </p:ext>
            </p:extLst>
          </p:nvPr>
        </p:nvGraphicFramePr>
        <p:xfrm>
          <a:off x="121227" y="1829063"/>
          <a:ext cx="11842123" cy="366371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238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4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0695">
                  <a:extLst>
                    <a:ext uri="{9D8B030D-6E8A-4147-A177-3AD203B41FA5}">
                      <a16:colId xmlns:a16="http://schemas.microsoft.com/office/drawing/2014/main" val="1456742241"/>
                    </a:ext>
                  </a:extLst>
                </a:gridCol>
                <a:gridCol w="2118335">
                  <a:extLst>
                    <a:ext uri="{9D8B030D-6E8A-4147-A177-3AD203B41FA5}">
                      <a16:colId xmlns:a16="http://schemas.microsoft.com/office/drawing/2014/main" val="650992431"/>
                    </a:ext>
                  </a:extLst>
                </a:gridCol>
                <a:gridCol w="2447599">
                  <a:extLst>
                    <a:ext uri="{9D8B030D-6E8A-4147-A177-3AD203B41FA5}">
                      <a16:colId xmlns:a16="http://schemas.microsoft.com/office/drawing/2014/main" val="164485931"/>
                    </a:ext>
                  </a:extLst>
                </a:gridCol>
              </a:tblGrid>
              <a:tr h="481601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Connection Type</a:t>
                      </a:r>
                    </a:p>
                  </a:txBody>
                  <a:tcPr marR="45281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Estimated Population</a:t>
                      </a:r>
                    </a:p>
                  </a:txBody>
                  <a:tcPr marL="45281" marR="452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Current Status</a:t>
                      </a:r>
                    </a:p>
                  </a:txBody>
                  <a:tcPr marL="45281" marR="452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Teams Engaged</a:t>
                      </a:r>
                    </a:p>
                  </a:txBody>
                  <a:tcPr marL="45281" marR="45281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Current Data Health</a:t>
                      </a:r>
                    </a:p>
                  </a:txBody>
                  <a:tcPr marL="45281" marR="452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Next Steps</a:t>
                      </a:r>
                    </a:p>
                  </a:txBody>
                  <a:tcPr marL="45281" marR="4528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61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+mn-lt"/>
                        </a:rPr>
                        <a:t>Citrix VDI</a:t>
                      </a:r>
                    </a:p>
                  </a:txBody>
                  <a:tcPr marR="452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2"/>
                          </a:solidFill>
                          <a:latin typeface="+mn-lt"/>
                        </a:rPr>
                        <a:t>Unknown*</a:t>
                      </a:r>
                    </a:p>
                  </a:txBody>
                  <a:tcPr marL="90563" marR="90563" marT="109728" marB="109728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+mn-lt"/>
                        </a:rPr>
                        <a:t>ECMG team met with Virtual Operations, VDI process owner for overview on available Citrix reporting.</a:t>
                      </a:r>
                    </a:p>
                  </a:txBody>
                  <a:tcPr marL="90563" marR="90563" marT="109728" marB="109728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+mn-lt"/>
                        </a:rPr>
                        <a:t>Virtual Operations</a:t>
                      </a:r>
                    </a:p>
                  </a:txBody>
                  <a:tcPr marL="90563" marR="90563" marT="109728" marB="109728"/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</a:rPr>
                        <a:t>NEEDS IMPROVEMENT</a:t>
                      </a:r>
                      <a:br>
                        <a:rPr lang="en-US" sz="1200" b="1" i="0" u="none" strike="noStrike" noProof="0" dirty="0">
                          <a:solidFill>
                            <a:srgbClr val="C00000"/>
                          </a:solidFill>
                          <a:latin typeface="+mn-lt"/>
                        </a:rPr>
                      </a:br>
                      <a:r>
                        <a:rPr lang="en-US" sz="1200" dirty="0">
                          <a:solidFill>
                            <a:schemeClr val="tx2"/>
                          </a:solidFill>
                          <a:latin typeface="+mn-lt"/>
                        </a:rPr>
                        <a:t>Virtual Ops can report on VDI users, but cannot differentiate between FTE, Contingent and vendors, making ECMG scoping difficult.</a:t>
                      </a:r>
                    </a:p>
                  </a:txBody>
                  <a:tcPr marL="90563" marR="90563" marT="109728" marB="109728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+mn-lt"/>
                        </a:rPr>
                        <a:t>Submit request to Virtual Ops for inventory details.</a:t>
                      </a:r>
                      <a:br>
                        <a:rPr lang="en-US" sz="1200" dirty="0">
                          <a:solidFill>
                            <a:schemeClr val="tx2"/>
                          </a:solidFill>
                          <a:latin typeface="+mn-lt"/>
                        </a:rPr>
                      </a:br>
                      <a:endParaRPr lang="en-US" sz="1200" dirty="0">
                        <a:solidFill>
                          <a:schemeClr val="tx2"/>
                        </a:solidFill>
                        <a:latin typeface="+mn-lt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+mn-lt"/>
                        </a:rPr>
                        <a:t>Engage IAM for assistance in separating in-scope vendor VDIs from dataset.</a:t>
                      </a:r>
                      <a:br>
                        <a:rPr lang="en-US" sz="1200" dirty="0">
                          <a:solidFill>
                            <a:schemeClr val="tx2"/>
                          </a:solidFill>
                          <a:latin typeface="+mn-lt"/>
                        </a:rPr>
                      </a:br>
                      <a:endParaRPr lang="en-US" sz="1200" dirty="0">
                        <a:solidFill>
                          <a:schemeClr val="tx2"/>
                        </a:solidFill>
                        <a:latin typeface="+mn-lt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+mn-lt"/>
                        </a:rPr>
                        <a:t>Partner with HRIS to identify FTE &amp; Contingent workers, back into third party users.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marL="90563" marR="90563" marT="109728" marB="109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61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+mn-lt"/>
                        </a:rPr>
                        <a:t>Firewall</a:t>
                      </a:r>
                    </a:p>
                    <a:p>
                      <a:pPr algn="ctr"/>
                      <a:r>
                        <a:rPr lang="en-US" sz="1200" b="0" i="1" dirty="0">
                          <a:solidFill>
                            <a:schemeClr val="tx2"/>
                          </a:solidFill>
                          <a:latin typeface="+mn-lt"/>
                        </a:rPr>
                        <a:t>SSL, B2B, VPN</a:t>
                      </a:r>
                    </a:p>
                  </a:txBody>
                  <a:tcPr marR="452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2"/>
                          </a:solidFill>
                          <a:latin typeface="+mn-lt"/>
                        </a:rPr>
                        <a:t>573</a:t>
                      </a:r>
                    </a:p>
                  </a:txBody>
                  <a:tcPr marL="90563" marR="90563" marT="109728" marB="109728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+mn-lt"/>
                        </a:rPr>
                        <a:t>Firewall Operations team provided dataset comprising third party SSL, B2B and VPN connections.</a:t>
                      </a:r>
                    </a:p>
                  </a:txBody>
                  <a:tcPr marL="90563" marR="90563" marT="109728" marB="109728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+mn-lt"/>
                        </a:rPr>
                        <a:t>Firewall Ops. Team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+mn-lt"/>
                        </a:rPr>
                        <a:t>Firewall Eng. Team</a:t>
                      </a:r>
                    </a:p>
                  </a:txBody>
                  <a:tcPr marL="90563" marR="90563" marT="109728" marB="109728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READY FOR  INTAKE</a:t>
                      </a:r>
                      <a:br>
                        <a:rPr lang="en-US" sz="1200" b="1" dirty="0">
                          <a:solidFill>
                            <a:srgbClr val="00B050"/>
                          </a:solidFill>
                        </a:rPr>
                      </a:b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Vendor and Connection Owner information present.</a:t>
                      </a:r>
                    </a:p>
                  </a:txBody>
                  <a:tcPr marL="90563" marR="90563" marT="109728" marB="109728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/>
                        <a:buChar char="•"/>
                      </a:pPr>
                      <a:r>
                        <a:rPr lang="en-US" sz="1200" b="0" i="0" u="none" strike="noStrike" noProof="0" dirty="0">
                          <a:solidFill>
                            <a:srgbClr val="3F3F3F"/>
                          </a:solidFill>
                          <a:latin typeface="+mn-lt"/>
                        </a:rPr>
                        <a:t>Prepare data for ingestion into ECMG repository.</a:t>
                      </a:r>
                      <a:endParaRPr lang="en-US" sz="1200" dirty="0">
                        <a:solidFill>
                          <a:srgbClr val="3F3F3F"/>
                        </a:solidFill>
                      </a:endParaRPr>
                    </a:p>
                  </a:txBody>
                  <a:tcPr marL="90563" marR="90563" marT="109728" marB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itle 2">
            <a:extLst>
              <a:ext uri="{FF2B5EF4-FFF2-40B4-BE49-F238E27FC236}">
                <a16:creationId xmlns:a16="http://schemas.microsoft.com/office/drawing/2014/main" id="{ABF68125-D8D7-4885-F6F5-23EC6DFA7B1F}"/>
              </a:ext>
            </a:extLst>
          </p:cNvPr>
          <p:cNvSpPr txBox="1">
            <a:spLocks/>
          </p:cNvSpPr>
          <p:nvPr/>
        </p:nvSpPr>
        <p:spPr>
          <a:xfrm>
            <a:off x="121227" y="102063"/>
            <a:ext cx="10810293" cy="7132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FontTx/>
            </a:pPr>
            <a:endParaRPr lang="en-US" sz="1200" dirty="0">
              <a:solidFill>
                <a:schemeClr val="accent1"/>
              </a:solidFill>
            </a:endParaRPr>
          </a:p>
          <a:p>
            <a:pPr>
              <a:buFontTx/>
            </a:pPr>
            <a:r>
              <a:rPr lang="en-US" dirty="0"/>
              <a:t>External Connection Management &amp; Governance</a:t>
            </a:r>
            <a:br>
              <a:rPr lang="en-US" dirty="0"/>
            </a:br>
            <a:r>
              <a:rPr lang="en-US" sz="2400" b="0" i="1" dirty="0"/>
              <a:t>Progress and Next Steps</a:t>
            </a:r>
            <a:endParaRPr lang="en-US" b="0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00D90-8562-D7CA-F9F0-504A766D5869}"/>
              </a:ext>
            </a:extLst>
          </p:cNvPr>
          <p:cNvSpPr txBox="1"/>
          <p:nvPr/>
        </p:nvSpPr>
        <p:spPr>
          <a:xfrm>
            <a:off x="68676" y="5517934"/>
            <a:ext cx="11314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* Dataset received is structured such that third party VDI users are unable to be identified, ECMG team working to address.</a:t>
            </a:r>
          </a:p>
        </p:txBody>
      </p:sp>
    </p:spTree>
    <p:extLst>
      <p:ext uri="{BB962C8B-B14F-4D97-AF65-F5344CB8AC3E}">
        <p14:creationId xmlns:p14="http://schemas.microsoft.com/office/powerpoint/2010/main" val="910513012"/>
      </p:ext>
    </p:extLst>
  </p:cSld>
  <p:clrMapOvr>
    <a:masterClrMapping/>
  </p:clrMapOvr>
</p:sld>
</file>

<file path=ppt/theme/theme1.xml><?xml version="1.0" encoding="utf-8"?>
<a:theme xmlns:a="http://schemas.openxmlformats.org/drawingml/2006/main" name="CVS_Health_PPT_Executive_Template">
  <a:themeElements>
    <a:clrScheme name="CVS Health">
      <a:dk1>
        <a:srgbClr val="000000"/>
      </a:dk1>
      <a:lt1>
        <a:srgbClr val="FFFFFF"/>
      </a:lt1>
      <a:dk2>
        <a:srgbClr val="3F3F3F"/>
      </a:dk2>
      <a:lt2>
        <a:srgbClr val="C0C0C0"/>
      </a:lt2>
      <a:accent1>
        <a:srgbClr val="9E0000"/>
      </a:accent1>
      <a:accent2>
        <a:srgbClr val="CC0000"/>
      </a:accent2>
      <a:accent3>
        <a:srgbClr val="E94D4D"/>
      </a:accent3>
      <a:accent4>
        <a:srgbClr val="F7978D"/>
      </a:accent4>
      <a:accent5>
        <a:srgbClr val="646464"/>
      </a:accent5>
      <a:accent6>
        <a:srgbClr val="868686"/>
      </a:accent6>
      <a:hlink>
        <a:srgbClr val="3F3F3F"/>
      </a:hlink>
      <a:folHlink>
        <a:srgbClr val="A5A5A5"/>
      </a:folHlink>
    </a:clrScheme>
    <a:fontScheme name="CVS Fonts">
      <a:majorFont>
        <a:latin typeface="CVS Health Sans"/>
        <a:ea typeface=""/>
        <a:cs typeface=""/>
      </a:majorFont>
      <a:minorFont>
        <a:latin typeface="CVS Health Sans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5"/>
        </a:solidFill>
        <a:ln>
          <a:noFill/>
          <a:miter lim="800000"/>
        </a:ln>
        <a:effectLst/>
      </a:spPr>
      <a:bodyPr rtlCol="0" anchor="ctr"/>
      <a:lstStyle>
        <a:defPPr algn="ctr">
          <a:defRPr sz="1500" b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CVS Health Red">
      <a:srgbClr val="CC0000"/>
    </a:custClr>
    <a:custClr name="PPT Red Dark">
      <a:srgbClr val="9E0000"/>
    </a:custClr>
    <a:custClr name="Gray Extralight">
      <a:srgbClr val="E9E9E9"/>
    </a:custClr>
    <a:custClr name="PPT Gray Light">
      <a:srgbClr val="C0C0C0"/>
    </a:custClr>
    <a:custClr name="PPT Gray Medium">
      <a:srgbClr val="868686"/>
    </a:custClr>
    <a:custClr name="PPT Gray Dark">
      <a:srgbClr val="646464"/>
    </a:custClr>
    <a:custClr name="Aetna Violet">
      <a:srgbClr val="7D3F98"/>
    </a:custClr>
    <a:custClr name="PPT Violet Dark">
      <a:srgbClr val="563D82"/>
    </a:custClr>
    <a:custClr name="Navy Light">
      <a:srgbClr val="0A4B8C"/>
    </a:custClr>
    <a:custClr name="Navy">
      <a:srgbClr val="0B315E"/>
    </a:custClr>
    <a:custClr name="Navy Light">
      <a:srgbClr val="0A4B8C"/>
    </a:custClr>
    <a:custClr name="PPT Blue Dark">
      <a:srgbClr val="267AC0"/>
    </a:custClr>
    <a:custClr name="PPT Teal Extradark">
      <a:srgbClr val="00787E"/>
    </a:custClr>
    <a:custClr name="Teal Dark">
      <a:srgbClr val="00A78E"/>
    </a:custClr>
    <a:custClr name="PPT Gray Dark">
      <a:srgbClr val="646464"/>
    </a:custClr>
    <a:custClr name="PPT Gray Medium">
      <a:srgbClr val="868686"/>
    </a:custClr>
    <a:custClr name="PPT Green Extradark">
      <a:srgbClr val="487A10"/>
    </a:custClr>
    <a:custClr name="Green Dark">
      <a:srgbClr val="61A515"/>
    </a:custClr>
    <a:custClr name="PPT Orange Extradark">
      <a:srgbClr val="CE430C"/>
    </a:custClr>
    <a:custClr name="Orange Dark">
      <a:srgbClr val="F4642A"/>
    </a:custClr>
  </a:custClrLst>
  <a:extLst>
    <a:ext uri="{05A4C25C-085E-4340-85A3-A5531E510DB2}">
      <thm15:themeFamily xmlns:thm15="http://schemas.microsoft.com/office/thememl/2012/main" name="CVS_Health_Executive_Widescreen_Template_01_2025.pptx" id="{0CFAC41B-D437-4648-BFE8-CAE5DD42459E}" vid="{670D7D19-FB7C-4763-8D71-B2E6621812A8}"/>
    </a:ext>
  </a:extLst>
</a:theme>
</file>

<file path=ppt/theme/theme2.xml><?xml version="1.0" encoding="utf-8"?>
<a:theme xmlns:a="http://schemas.openxmlformats.org/drawingml/2006/main" name="Office Theme">
  <a:themeElements>
    <a:clrScheme name="CVS Colors">
      <a:dk1>
        <a:srgbClr val="000000"/>
      </a:dk1>
      <a:lt1>
        <a:sysClr val="window" lastClr="FFFFFF"/>
      </a:lt1>
      <a:dk2>
        <a:srgbClr val="3F3F3F"/>
      </a:dk2>
      <a:lt2>
        <a:srgbClr val="C0C0C0"/>
      </a:lt2>
      <a:accent1>
        <a:srgbClr val="9E0000"/>
      </a:accent1>
      <a:accent2>
        <a:srgbClr val="CC0000"/>
      </a:accent2>
      <a:accent3>
        <a:srgbClr val="E94D4D"/>
      </a:accent3>
      <a:accent4>
        <a:srgbClr val="F7978D"/>
      </a:accent4>
      <a:accent5>
        <a:srgbClr val="646464"/>
      </a:accent5>
      <a:accent6>
        <a:srgbClr val="868686"/>
      </a:accent6>
      <a:hlink>
        <a:srgbClr val="267AC0"/>
      </a:hlink>
      <a:folHlink>
        <a:srgbClr val="A5A5A5"/>
      </a:folHlink>
    </a:clrScheme>
    <a:fontScheme name="Custom 10">
      <a:majorFont>
        <a:latin typeface="CVS Health Sans"/>
        <a:ea typeface=""/>
        <a:cs typeface=""/>
      </a:majorFont>
      <a:minorFont>
        <a:latin typeface="CVS Health Sans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tlCol="0" anchor="ctr"/>
      <a:lstStyle>
        <a:defPPr algn="ctr">
          <a:defRPr b="1"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CVS Health Red">
      <a:srgbClr val="CC0000"/>
    </a:custClr>
    <a:custClr name="PPT Red Dark">
      <a:srgbClr val="9E0000"/>
    </a:custClr>
    <a:custClr name="Gray Extralight">
      <a:srgbClr val="E9E9E9"/>
    </a:custClr>
    <a:custClr name="PPT Gray Light">
      <a:srgbClr val="C0C0C0"/>
    </a:custClr>
    <a:custClr name="PPT Gray Medium">
      <a:srgbClr val="868686"/>
    </a:custClr>
    <a:custClr name="PPT Gray Dark">
      <a:srgbClr val="646464"/>
    </a:custClr>
    <a:custClr name="Aetna Violet">
      <a:srgbClr val="7D3F98"/>
    </a:custClr>
    <a:custClr name="PPT Violet Dark">
      <a:srgbClr val="563D82"/>
    </a:custClr>
    <a:custClr name="Navy Light">
      <a:srgbClr val="0A4B8C"/>
    </a:custClr>
    <a:custClr name="Navy">
      <a:srgbClr val="0B315E"/>
    </a:custClr>
    <a:custClr name="Navy Light">
      <a:srgbClr val="0A4B8C"/>
    </a:custClr>
    <a:custClr name="PPT Blue Dark">
      <a:srgbClr val="267AC0"/>
    </a:custClr>
    <a:custClr name="Navy">
      <a:srgbClr val="0B315E"/>
    </a:custClr>
    <a:custClr name="PPT Teal Extradark">
      <a:srgbClr val="00787E"/>
    </a:custClr>
    <a:custClr name="Teal Dark">
      <a:srgbClr val="00A78E"/>
    </a:custClr>
    <a:custClr name="PPT Teal Ultradark">
      <a:srgbClr val="00585E"/>
    </a:custClr>
    <a:custClr name="PPT Gray Dark">
      <a:srgbClr val="646464"/>
    </a:custClr>
    <a:custClr name="PPT Gray Medium">
      <a:srgbClr val="868686"/>
    </a:custClr>
    <a:custClr name="Text Gray">
      <a:srgbClr val="3F3F3F"/>
    </a:custClr>
    <a:custClr name="PPT Green Extradark">
      <a:srgbClr val="487A10"/>
    </a:custClr>
  </a:custClrLst>
</a:theme>
</file>

<file path=ppt/theme/theme3.xml><?xml version="1.0" encoding="utf-8"?>
<a:theme xmlns:a="http://schemas.openxmlformats.org/drawingml/2006/main" name="Office Theme">
  <a:themeElements>
    <a:clrScheme name="CVS Colors">
      <a:dk1>
        <a:srgbClr val="000000"/>
      </a:dk1>
      <a:lt1>
        <a:sysClr val="window" lastClr="FFFFFF"/>
      </a:lt1>
      <a:dk2>
        <a:srgbClr val="3F3F3F"/>
      </a:dk2>
      <a:lt2>
        <a:srgbClr val="C0C0C0"/>
      </a:lt2>
      <a:accent1>
        <a:srgbClr val="9E0000"/>
      </a:accent1>
      <a:accent2>
        <a:srgbClr val="CC0000"/>
      </a:accent2>
      <a:accent3>
        <a:srgbClr val="E94D4D"/>
      </a:accent3>
      <a:accent4>
        <a:srgbClr val="F7978D"/>
      </a:accent4>
      <a:accent5>
        <a:srgbClr val="646464"/>
      </a:accent5>
      <a:accent6>
        <a:srgbClr val="868686"/>
      </a:accent6>
      <a:hlink>
        <a:srgbClr val="267AC0"/>
      </a:hlink>
      <a:folHlink>
        <a:srgbClr val="A5A5A5"/>
      </a:folHlink>
    </a:clrScheme>
    <a:fontScheme name="CVS Fonts">
      <a:majorFont>
        <a:latin typeface="CVS Health Sans"/>
        <a:ea typeface=""/>
        <a:cs typeface=""/>
      </a:majorFont>
      <a:minorFont>
        <a:latin typeface="CVS Health Sans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tlCol="0" anchor="ctr"/>
      <a:lstStyle>
        <a:defPPr algn="ctr">
          <a:defRPr b="1"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CVS Health Red">
      <a:srgbClr val="CC0000"/>
    </a:custClr>
    <a:custClr name="PPT Red Dark">
      <a:srgbClr val="9E0000"/>
    </a:custClr>
    <a:custClr name="Gray Extralight">
      <a:srgbClr val="E9E9E9"/>
    </a:custClr>
    <a:custClr name="PPT Gray Light">
      <a:srgbClr val="C0C0C0"/>
    </a:custClr>
    <a:custClr name="PPT Gray Medium">
      <a:srgbClr val="868686"/>
    </a:custClr>
    <a:custClr name="PPT Gray Dark">
      <a:srgbClr val="646464"/>
    </a:custClr>
    <a:custClr name="Aetna Violet">
      <a:srgbClr val="7D3F98"/>
    </a:custClr>
    <a:custClr name="PPT Violet Dark">
      <a:srgbClr val="563D82"/>
    </a:custClr>
    <a:custClr name="Navy Light">
      <a:srgbClr val="0A4B8C"/>
    </a:custClr>
    <a:custClr name="Navy">
      <a:srgbClr val="0B315E"/>
    </a:custClr>
    <a:custClr name="Navy Light">
      <a:srgbClr val="0A4B8C"/>
    </a:custClr>
    <a:custClr name="PPT Blue Dark">
      <a:srgbClr val="267AC0"/>
    </a:custClr>
    <a:custClr name="Navy">
      <a:srgbClr val="0B315E"/>
    </a:custClr>
    <a:custClr name="PPT Teal Extradark">
      <a:srgbClr val="00787E"/>
    </a:custClr>
    <a:custClr name="Teal Dark">
      <a:srgbClr val="00A78E"/>
    </a:custClr>
    <a:custClr name="PPT Teal Ultradark">
      <a:srgbClr val="00585E"/>
    </a:custClr>
    <a:custClr name="PPT Gray Dark">
      <a:srgbClr val="646464"/>
    </a:custClr>
    <a:custClr name="PPT Gray Medium">
      <a:srgbClr val="868686"/>
    </a:custClr>
    <a:custClr name="Text Gray">
      <a:srgbClr val="3F3F3F"/>
    </a:custClr>
    <a:custClr name="PPT Green Extradark">
      <a:srgbClr val="487A10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255028AE6B354E8B0890FBE46AFCCA" ma:contentTypeVersion="11" ma:contentTypeDescription="Create a new document." ma:contentTypeScope="" ma:versionID="85db4c105f793cc54a4ff3c899a3ec46">
  <xsd:schema xmlns:xsd="http://www.w3.org/2001/XMLSchema" xmlns:xs="http://www.w3.org/2001/XMLSchema" xmlns:p="http://schemas.microsoft.com/office/2006/metadata/properties" xmlns:ns2="29cccc3a-2b3c-4cc9-a89b-283c63f843e2" xmlns:ns3="57a64bc2-3367-42dd-92d5-71df1876fcfe" targetNamespace="http://schemas.microsoft.com/office/2006/metadata/properties" ma:root="true" ma:fieldsID="b5fae8386a79a180a88f8fe2391c0b82" ns2:_="" ns3:_="">
    <xsd:import namespace="29cccc3a-2b3c-4cc9-a89b-283c63f843e2"/>
    <xsd:import namespace="57a64bc2-3367-42dd-92d5-71df1876fc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ccc3a-2b3c-4cc9-a89b-283c63f843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773e5d3-86f4-436a-b35a-a9b626cf631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a64bc2-3367-42dd-92d5-71df1876fcf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2592025-caea-45e0-afae-10c3ad05ea42}" ma:internalName="TaxCatchAll" ma:showField="CatchAllData" ma:web="57a64bc2-3367-42dd-92d5-71df1876fc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7a64bc2-3367-42dd-92d5-71df1876fcfe" xsi:nil="true"/>
    <lcf76f155ced4ddcb4097134ff3c332f xmlns="29cccc3a-2b3c-4cc9-a89b-283c63f843e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A4C5460-6341-4A06-8926-FDDA58E916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CC0AC9-8586-4775-814E-CA142D6E5B47}">
  <ds:schemaRefs>
    <ds:schemaRef ds:uri="29cccc3a-2b3c-4cc9-a89b-283c63f843e2"/>
    <ds:schemaRef ds:uri="57a64bc2-3367-42dd-92d5-71df1876fcf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24F0FD7-590D-477C-84D8-04F64A55F94D}">
  <ds:schemaRefs>
    <ds:schemaRef ds:uri="http://schemas.openxmlformats.org/package/2006/metadata/core-properties"/>
    <ds:schemaRef ds:uri="http://schemas.microsoft.com/office/2006/documentManagement/types"/>
    <ds:schemaRef ds:uri="29cccc3a-2b3c-4cc9-a89b-283c63f843e2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57a64bc2-3367-42dd-92d5-71df1876fcfe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6ff60d36-925f-4785-a854-510f909ee561}" enabled="0" method="" siteId="{6ff60d36-925f-4785-a854-510f909ee5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CVS_Health_Executive_Widescreen_Template_01_2025</Template>
  <TotalTime>29</TotalTime>
  <Words>591</Words>
  <Application>Microsoft Macintosh PowerPoint</Application>
  <PresentationFormat>Custom</PresentationFormat>
  <Paragraphs>85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CVS Health Sans</vt:lpstr>
      <vt:lpstr>CVS Health Sans Medium</vt:lpstr>
      <vt:lpstr>CVS_Health_PPT_Executive_Template</vt:lpstr>
      <vt:lpstr>ISTS External Connection Management &amp; Governance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Executive template</dc:title>
  <dc:creator>Kotenoglou, Dino</dc:creator>
  <cp:lastModifiedBy>Martin, Michael Colossus Technologies Group</cp:lastModifiedBy>
  <cp:revision>3</cp:revision>
  <cp:lastPrinted>2017-04-13T12:11:49Z</cp:lastPrinted>
  <dcterms:created xsi:type="dcterms:W3CDTF">2025-02-11T17:53:03Z</dcterms:created>
  <dcterms:modified xsi:type="dcterms:W3CDTF">2025-07-25T13:12:44Z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837230a-460a-4aec-98a3-ac101fb30b10_Enabled">
    <vt:lpwstr>true</vt:lpwstr>
  </property>
  <property fmtid="{D5CDD505-2E9C-101B-9397-08002B2CF9AE}" pid="3" name="MSIP_Label_7837230a-460a-4aec-98a3-ac101fb30b10_SetDate">
    <vt:lpwstr>2021-07-09T14:38:28Z</vt:lpwstr>
  </property>
  <property fmtid="{D5CDD505-2E9C-101B-9397-08002B2CF9AE}" pid="4" name="MSIP_Label_7837230a-460a-4aec-98a3-ac101fb30b10_Method">
    <vt:lpwstr>Privileged</vt:lpwstr>
  </property>
  <property fmtid="{D5CDD505-2E9C-101B-9397-08002B2CF9AE}" pid="5" name="MSIP_Label_7837230a-460a-4aec-98a3-ac101fb30b10_Name">
    <vt:lpwstr>7837230a-460a-4aec-98a3-ac101fb30b10</vt:lpwstr>
  </property>
  <property fmtid="{D5CDD505-2E9C-101B-9397-08002B2CF9AE}" pid="6" name="MSIP_Label_7837230a-460a-4aec-98a3-ac101fb30b10_SiteId">
    <vt:lpwstr>fabb61b8-3afe-4e75-b934-a47f782b8cd7</vt:lpwstr>
  </property>
  <property fmtid="{D5CDD505-2E9C-101B-9397-08002B2CF9AE}" pid="7" name="MSIP_Label_7837230a-460a-4aec-98a3-ac101fb30b10_ActionId">
    <vt:lpwstr/>
  </property>
  <property fmtid="{D5CDD505-2E9C-101B-9397-08002B2CF9AE}" pid="8" name="MSIP_Label_7837230a-460a-4aec-98a3-ac101fb30b10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0x0101004B255028AE6B354E8B0890FBE46AFCCA</vt:lpwstr>
  </property>
</Properties>
</file>