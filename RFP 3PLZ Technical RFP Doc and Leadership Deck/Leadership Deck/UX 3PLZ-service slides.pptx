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60" r:id="rId2"/>
    <p:sldId id="261" r:id="rId3"/>
    <p:sldId id="262" r:id="rId4"/>
    <p:sldId id="264" r:id="rId5"/>
    <p:sldId id="263" r:id="rId6"/>
    <p:sldId id="265"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F70FBB-9E71-C949-9A11-E96E3393E809}" type="datetimeFigureOut">
              <a:rPr lang="en-US" smtClean="0"/>
              <a:t>11/12/25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6D5556-79AC-544D-A471-21AD906D13BA}" type="slidenum">
              <a:rPr lang="en-US" smtClean="0"/>
              <a:t>‹#›</a:t>
            </a:fld>
            <a:endParaRPr lang="en-US"/>
          </a:p>
        </p:txBody>
      </p:sp>
    </p:spTree>
    <p:extLst>
      <p:ext uri="{BB962C8B-B14F-4D97-AF65-F5344CB8AC3E}">
        <p14:creationId xmlns:p14="http://schemas.microsoft.com/office/powerpoint/2010/main" val="40079852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walks through a concrete example of the portal experience for a Secure File Transfer pattern.</a:t>
            </a:r>
          </a:p>
          <a:p>
            <a:endParaRPr/>
          </a:p>
          <a:p>
            <a:r>
              <a:t>The form collects business context, third-party details, network endpoints, service specifics, and data sensitivity information.</a:t>
            </a:r>
          </a:p>
          <a:p>
            <a:endParaRPr/>
          </a:p>
          <a:p>
            <a:r>
              <a:t>The platform validates that required fields are present, ports and protocols are within policy, and cipher requirements are met.</a:t>
            </a:r>
          </a:p>
          <a:p>
            <a:endParaRPr/>
          </a:p>
          <a:p>
            <a:r>
              <a:t>It then maps the request to the standard SFTP pattern, associates it with a specific VLZ tenant, and routes it through the appropriate approval workflow for security and compliance review.</a:t>
            </a:r>
          </a:p>
          <a:p>
            <a:endParaRPr/>
          </a:p>
          <a:p>
            <a:r>
              <a:t>The vendor solution should show how such a form is implemented, including validation and workflow, and how it drives automation in the backend.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presents a portal form example for a Web API pattern.</a:t>
            </a:r>
          </a:p>
          <a:p>
            <a:endParaRPr/>
          </a:p>
          <a:p>
            <a:r>
              <a:t>The form captures business context and detailed API metadata, including the internal FQDN and base path, allowed methods, and third-party attributes such as regions and support windows.</a:t>
            </a:r>
          </a:p>
          <a:p>
            <a:endParaRPr/>
          </a:p>
          <a:p>
            <a:r>
              <a:t>It also collects authentication and identity requirements—such as mTLS, OAuth2/JWT with specific scopes, or API keys—together with data classification information.</a:t>
            </a:r>
          </a:p>
          <a:p>
            <a:endParaRPr/>
          </a:p>
          <a:p>
            <a:r>
              <a:t>The platform validates fields, ensures that HTTP methods, ports, and crypto settings comply with policy, and uses classification to trigger stronger controls where necessary.</a:t>
            </a:r>
          </a:p>
          <a:p>
            <a:endParaRPr/>
          </a:p>
          <a:p>
            <a:r>
              <a:t>Once validated, the request is mapped to the standard Web API pattern and associated with the correct VLZ tenant, providing a consistent context for subsequent automation.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explains how the platform should behave for Web APIs once a Service Profile is defined.</a:t>
            </a:r>
          </a:p>
          <a:p>
            <a:endParaRPr/>
          </a:p>
          <a:p>
            <a:r>
              <a:t>For each tenant, the platform exposes a tenant-specific API endpoint and forwards calls to the internal API using mTLS where possible.</a:t>
            </a:r>
          </a:p>
          <a:p>
            <a:endParaRPr/>
          </a:p>
          <a:p>
            <a:r>
              <a:t>The proxy normalizes paths and headers according to the Service Profile and enforces policy at the HTTP layer: allowed methods, paths, rate limits, and optional IP restrictions.</a:t>
            </a:r>
          </a:p>
          <a:p>
            <a:endParaRPr/>
          </a:p>
          <a:p>
            <a:r>
              <a:t>It supports multiple authentication schemes, including mTLS, JWT/OAuth2 tokens, and API keys, verifying them according to the profile definitions.</a:t>
            </a:r>
          </a:p>
          <a:p>
            <a:endParaRPr/>
          </a:p>
          <a:p>
            <a:r>
              <a:t>On the observability side, the platform must provide per-tenant logging and metrics with correlation IDs, status codes, and latency, and integrate that data into the enterprise observability stack.</a:t>
            </a:r>
          </a:p>
          <a:p>
            <a:endParaRPr/>
          </a:p>
          <a:p>
            <a:r>
              <a:t>All telemetry should be tagged with tenant, vendor, application, and data classification for strong governance and reporting.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VLZ and tenant model are central to how we isolate third parties.</a:t>
            </a:r>
          </a:p>
          <a:p>
            <a:endParaRPr/>
          </a:p>
          <a:p>
            <a:r>
              <a:t>Each third-party connection lives in its own VLZ tenant that cannot directly route to internal networks.</a:t>
            </a:r>
          </a:p>
          <a:p>
            <a:endParaRPr/>
          </a:p>
          <a:p>
            <a:r>
              <a:t>Within that tenant, we define address blocks, tunnel interfaces, optional BGP sessions, DNS views, service proxies, and logging.</a:t>
            </a:r>
          </a:p>
          <a:p>
            <a:endParaRPr/>
          </a:p>
          <a:p>
            <a:r>
              <a:t>Tenant identity ties together the owner, vendor, application, and other attributes that drive policy, access control, and logging.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Once a request is approved, the platform should automatically generate a complete IPsec configuration bundle for the third party.</a:t>
            </a:r>
          </a:p>
          <a:p>
            <a:endParaRPr/>
          </a:p>
          <a:p>
            <a:r>
              <a:t>That bundle includes IKEv2 parameters, cryptographic proposals, tunnel interface details, and BGP information where used.</a:t>
            </a:r>
          </a:p>
          <a:p>
            <a:endParaRPr/>
          </a:p>
          <a:p>
            <a:r>
              <a:t>We expect vendors to support templates for major firewall and router platforms so remote configuration is straightforward.</a:t>
            </a:r>
          </a:p>
          <a:p>
            <a:endParaRPr/>
          </a:p>
          <a:p>
            <a:r>
              <a:t>On our side, tunnels should terminate on location-agnostic anchors, such as loopback or Anycast addresses, to support high availability and flexible routing.</a:t>
            </a:r>
          </a:p>
          <a:p>
            <a:endParaRPr/>
          </a:p>
          <a:p>
            <a:r>
              <a:t>The key point: the IPsec configuration is generated from templates and portal data, not hand-crafted by engineers for each vendor.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Service proxies and service profiles are the application-level control plane.</a:t>
            </a:r>
          </a:p>
          <a:p>
            <a:endParaRPr/>
          </a:p>
          <a:p>
            <a:r>
              <a:t>For each tenant, the platform exposes proxies for SFTP, VDI, web apps, web APIs, and SaaS.</a:t>
            </a:r>
          </a:p>
          <a:p>
            <a:endParaRPr/>
          </a:p>
          <a:p>
            <a:r>
              <a:t>Application owners use the portal to define Service Profiles by choosing a service type, providing FQDNs and ports, and selecting additional controls such as IP restrictions or authentication requirements.</a:t>
            </a:r>
          </a:p>
          <a:p>
            <a:endParaRPr/>
          </a:p>
          <a:p>
            <a:r>
              <a:t>The solution must take these profiles and automatically generate the proxy configuration, security groups or ACLs, and DNS rules that govern how traffic flows from the VLZ to the target services.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6E39D-9BA3-C39A-08EE-C51D27E974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61F1917-BDDD-296F-968F-BA5853EC1A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70FCA2-BF30-0250-08E8-7B81CE1355DB}"/>
              </a:ext>
            </a:extLst>
          </p:cNvPr>
          <p:cNvSpPr>
            <a:spLocks noGrp="1"/>
          </p:cNvSpPr>
          <p:nvPr>
            <p:ph type="dt" sz="half" idx="10"/>
          </p:nvPr>
        </p:nvSpPr>
        <p:spPr/>
        <p:txBody>
          <a:bodyPr/>
          <a:lstStyle/>
          <a:p>
            <a:fld id="{F88193D1-F092-8345-9C6B-279AE33D6F76}" type="datetimeFigureOut">
              <a:rPr lang="en-US" smtClean="0"/>
              <a:t>11/12/25</a:t>
            </a:fld>
            <a:endParaRPr lang="en-US"/>
          </a:p>
        </p:txBody>
      </p:sp>
      <p:sp>
        <p:nvSpPr>
          <p:cNvPr id="5" name="Footer Placeholder 4">
            <a:extLst>
              <a:ext uri="{FF2B5EF4-FFF2-40B4-BE49-F238E27FC236}">
                <a16:creationId xmlns:a16="http://schemas.microsoft.com/office/drawing/2014/main" id="{18381664-9D5A-4424-6FF7-A8B4428B4C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497510-132A-0717-2EC2-DEE4071657E5}"/>
              </a:ext>
            </a:extLst>
          </p:cNvPr>
          <p:cNvSpPr>
            <a:spLocks noGrp="1"/>
          </p:cNvSpPr>
          <p:nvPr>
            <p:ph type="sldNum" sz="quarter" idx="12"/>
          </p:nvPr>
        </p:nvSpPr>
        <p:spPr/>
        <p:txBody>
          <a:bodyPr/>
          <a:lstStyle/>
          <a:p>
            <a:fld id="{11701D59-EA2C-D948-983A-1F06BCF18F2E}" type="slidenum">
              <a:rPr lang="en-US" smtClean="0"/>
              <a:t>‹#›</a:t>
            </a:fld>
            <a:endParaRPr lang="en-US"/>
          </a:p>
        </p:txBody>
      </p:sp>
    </p:spTree>
    <p:extLst>
      <p:ext uri="{BB962C8B-B14F-4D97-AF65-F5344CB8AC3E}">
        <p14:creationId xmlns:p14="http://schemas.microsoft.com/office/powerpoint/2010/main" val="3180762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A83DC-181B-A729-1E5B-C48A1CEF6B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2CB4CF-8888-99C1-97DD-AF96728DBB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E557FE-E995-F12C-83C1-9B4AFC052912}"/>
              </a:ext>
            </a:extLst>
          </p:cNvPr>
          <p:cNvSpPr>
            <a:spLocks noGrp="1"/>
          </p:cNvSpPr>
          <p:nvPr>
            <p:ph type="dt" sz="half" idx="10"/>
          </p:nvPr>
        </p:nvSpPr>
        <p:spPr/>
        <p:txBody>
          <a:bodyPr/>
          <a:lstStyle/>
          <a:p>
            <a:fld id="{F88193D1-F092-8345-9C6B-279AE33D6F76}" type="datetimeFigureOut">
              <a:rPr lang="en-US" smtClean="0"/>
              <a:t>11/12/25</a:t>
            </a:fld>
            <a:endParaRPr lang="en-US"/>
          </a:p>
        </p:txBody>
      </p:sp>
      <p:sp>
        <p:nvSpPr>
          <p:cNvPr id="5" name="Footer Placeholder 4">
            <a:extLst>
              <a:ext uri="{FF2B5EF4-FFF2-40B4-BE49-F238E27FC236}">
                <a16:creationId xmlns:a16="http://schemas.microsoft.com/office/drawing/2014/main" id="{1AE955E5-791B-0A30-A8F7-2311B39401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553EBD-21D6-9441-AFD5-0C57F0FDA616}"/>
              </a:ext>
            </a:extLst>
          </p:cNvPr>
          <p:cNvSpPr>
            <a:spLocks noGrp="1"/>
          </p:cNvSpPr>
          <p:nvPr>
            <p:ph type="sldNum" sz="quarter" idx="12"/>
          </p:nvPr>
        </p:nvSpPr>
        <p:spPr/>
        <p:txBody>
          <a:bodyPr/>
          <a:lstStyle/>
          <a:p>
            <a:fld id="{11701D59-EA2C-D948-983A-1F06BCF18F2E}" type="slidenum">
              <a:rPr lang="en-US" smtClean="0"/>
              <a:t>‹#›</a:t>
            </a:fld>
            <a:endParaRPr lang="en-US"/>
          </a:p>
        </p:txBody>
      </p:sp>
    </p:spTree>
    <p:extLst>
      <p:ext uri="{BB962C8B-B14F-4D97-AF65-F5344CB8AC3E}">
        <p14:creationId xmlns:p14="http://schemas.microsoft.com/office/powerpoint/2010/main" val="3630969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0E266-2261-C549-0B6B-3A7FF4AAD7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3718090-5D95-B2D2-9B3B-AFF4AE78C7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BAD407-8756-E8B0-C387-419A82CC923D}"/>
              </a:ext>
            </a:extLst>
          </p:cNvPr>
          <p:cNvSpPr>
            <a:spLocks noGrp="1"/>
          </p:cNvSpPr>
          <p:nvPr>
            <p:ph type="dt" sz="half" idx="10"/>
          </p:nvPr>
        </p:nvSpPr>
        <p:spPr/>
        <p:txBody>
          <a:bodyPr/>
          <a:lstStyle/>
          <a:p>
            <a:fld id="{F88193D1-F092-8345-9C6B-279AE33D6F76}" type="datetimeFigureOut">
              <a:rPr lang="en-US" smtClean="0"/>
              <a:t>11/12/25</a:t>
            </a:fld>
            <a:endParaRPr lang="en-US"/>
          </a:p>
        </p:txBody>
      </p:sp>
      <p:sp>
        <p:nvSpPr>
          <p:cNvPr id="5" name="Footer Placeholder 4">
            <a:extLst>
              <a:ext uri="{FF2B5EF4-FFF2-40B4-BE49-F238E27FC236}">
                <a16:creationId xmlns:a16="http://schemas.microsoft.com/office/drawing/2014/main" id="{5338F2D5-182B-AB96-0D6E-557CE694BA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FF037D-FCC0-6321-A1A6-F556FA496577}"/>
              </a:ext>
            </a:extLst>
          </p:cNvPr>
          <p:cNvSpPr>
            <a:spLocks noGrp="1"/>
          </p:cNvSpPr>
          <p:nvPr>
            <p:ph type="sldNum" sz="quarter" idx="12"/>
          </p:nvPr>
        </p:nvSpPr>
        <p:spPr/>
        <p:txBody>
          <a:bodyPr/>
          <a:lstStyle/>
          <a:p>
            <a:fld id="{11701D59-EA2C-D948-983A-1F06BCF18F2E}" type="slidenum">
              <a:rPr lang="en-US" smtClean="0"/>
              <a:t>‹#›</a:t>
            </a:fld>
            <a:endParaRPr lang="en-US"/>
          </a:p>
        </p:txBody>
      </p:sp>
    </p:spTree>
    <p:extLst>
      <p:ext uri="{BB962C8B-B14F-4D97-AF65-F5344CB8AC3E}">
        <p14:creationId xmlns:p14="http://schemas.microsoft.com/office/powerpoint/2010/main" val="2478012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9D7B8-91CD-AD97-25E0-B5006116AB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2233D8-1A14-E006-518D-5538BB3B0D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1C16EA-1183-60BC-D376-8570DFE0917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BBE30BE-62B7-C61E-0E7B-6930DA39AB46}"/>
              </a:ext>
            </a:extLst>
          </p:cNvPr>
          <p:cNvSpPr>
            <a:spLocks noGrp="1"/>
          </p:cNvSpPr>
          <p:nvPr>
            <p:ph type="dt" sz="half" idx="10"/>
          </p:nvPr>
        </p:nvSpPr>
        <p:spPr/>
        <p:txBody>
          <a:bodyPr/>
          <a:lstStyle/>
          <a:p>
            <a:fld id="{F88193D1-F092-8345-9C6B-279AE33D6F76}" type="datetimeFigureOut">
              <a:rPr lang="en-US" smtClean="0"/>
              <a:t>11/12/25</a:t>
            </a:fld>
            <a:endParaRPr lang="en-US"/>
          </a:p>
        </p:txBody>
      </p:sp>
      <p:sp>
        <p:nvSpPr>
          <p:cNvPr id="6" name="Footer Placeholder 5">
            <a:extLst>
              <a:ext uri="{FF2B5EF4-FFF2-40B4-BE49-F238E27FC236}">
                <a16:creationId xmlns:a16="http://schemas.microsoft.com/office/drawing/2014/main" id="{144079F5-BBFE-80F2-60D7-610205C8C0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0D3021-FF2C-36C9-831A-41B1C66CA5B3}"/>
              </a:ext>
            </a:extLst>
          </p:cNvPr>
          <p:cNvSpPr>
            <a:spLocks noGrp="1"/>
          </p:cNvSpPr>
          <p:nvPr>
            <p:ph type="sldNum" sz="quarter" idx="12"/>
          </p:nvPr>
        </p:nvSpPr>
        <p:spPr/>
        <p:txBody>
          <a:bodyPr/>
          <a:lstStyle/>
          <a:p>
            <a:fld id="{11701D59-EA2C-D948-983A-1F06BCF18F2E}" type="slidenum">
              <a:rPr lang="en-US" smtClean="0"/>
              <a:t>‹#›</a:t>
            </a:fld>
            <a:endParaRPr lang="en-US"/>
          </a:p>
        </p:txBody>
      </p:sp>
    </p:spTree>
    <p:extLst>
      <p:ext uri="{BB962C8B-B14F-4D97-AF65-F5344CB8AC3E}">
        <p14:creationId xmlns:p14="http://schemas.microsoft.com/office/powerpoint/2010/main" val="4062321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230EA-739C-73DC-875C-3D42F148BD0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12B9445-54C0-3E79-E276-6B91601BCD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D5DC8B-C7C1-7FBC-B936-4CA5C9A89B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33EF67E-DD8B-4FB3-136C-9A9A54F908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88DD172-B95B-D1FF-F477-0EC6CEB6E1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D4CBBC-865F-CA68-EE48-CA95EF612345}"/>
              </a:ext>
            </a:extLst>
          </p:cNvPr>
          <p:cNvSpPr>
            <a:spLocks noGrp="1"/>
          </p:cNvSpPr>
          <p:nvPr>
            <p:ph type="dt" sz="half" idx="10"/>
          </p:nvPr>
        </p:nvSpPr>
        <p:spPr/>
        <p:txBody>
          <a:bodyPr/>
          <a:lstStyle/>
          <a:p>
            <a:fld id="{F88193D1-F092-8345-9C6B-279AE33D6F76}" type="datetimeFigureOut">
              <a:rPr lang="en-US" smtClean="0"/>
              <a:t>11/12/25</a:t>
            </a:fld>
            <a:endParaRPr lang="en-US"/>
          </a:p>
        </p:txBody>
      </p:sp>
      <p:sp>
        <p:nvSpPr>
          <p:cNvPr id="8" name="Footer Placeholder 7">
            <a:extLst>
              <a:ext uri="{FF2B5EF4-FFF2-40B4-BE49-F238E27FC236}">
                <a16:creationId xmlns:a16="http://schemas.microsoft.com/office/drawing/2014/main" id="{0D01B048-BC57-364D-6729-DEC0EBEA86E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41C80BA-21AC-8BCE-B313-8DCB1D64B6D2}"/>
              </a:ext>
            </a:extLst>
          </p:cNvPr>
          <p:cNvSpPr>
            <a:spLocks noGrp="1"/>
          </p:cNvSpPr>
          <p:nvPr>
            <p:ph type="sldNum" sz="quarter" idx="12"/>
          </p:nvPr>
        </p:nvSpPr>
        <p:spPr/>
        <p:txBody>
          <a:bodyPr/>
          <a:lstStyle/>
          <a:p>
            <a:fld id="{11701D59-EA2C-D948-983A-1F06BCF18F2E}" type="slidenum">
              <a:rPr lang="en-US" smtClean="0"/>
              <a:t>‹#›</a:t>
            </a:fld>
            <a:endParaRPr lang="en-US"/>
          </a:p>
        </p:txBody>
      </p:sp>
    </p:spTree>
    <p:extLst>
      <p:ext uri="{BB962C8B-B14F-4D97-AF65-F5344CB8AC3E}">
        <p14:creationId xmlns:p14="http://schemas.microsoft.com/office/powerpoint/2010/main" val="8369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CD609-2EFF-1583-B4FD-DD46768A86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28CA52C-3D5E-709D-C124-0A766B85989B}"/>
              </a:ext>
            </a:extLst>
          </p:cNvPr>
          <p:cNvSpPr>
            <a:spLocks noGrp="1"/>
          </p:cNvSpPr>
          <p:nvPr>
            <p:ph type="dt" sz="half" idx="10"/>
          </p:nvPr>
        </p:nvSpPr>
        <p:spPr/>
        <p:txBody>
          <a:bodyPr/>
          <a:lstStyle/>
          <a:p>
            <a:fld id="{F88193D1-F092-8345-9C6B-279AE33D6F76}" type="datetimeFigureOut">
              <a:rPr lang="en-US" smtClean="0"/>
              <a:t>11/12/25</a:t>
            </a:fld>
            <a:endParaRPr lang="en-US"/>
          </a:p>
        </p:txBody>
      </p:sp>
      <p:sp>
        <p:nvSpPr>
          <p:cNvPr id="4" name="Footer Placeholder 3">
            <a:extLst>
              <a:ext uri="{FF2B5EF4-FFF2-40B4-BE49-F238E27FC236}">
                <a16:creationId xmlns:a16="http://schemas.microsoft.com/office/drawing/2014/main" id="{8DDA5EFC-C29A-F58A-B5E6-D2FC1844FF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DFE7E64-448D-41AF-635E-E6C0870E242F}"/>
              </a:ext>
            </a:extLst>
          </p:cNvPr>
          <p:cNvSpPr>
            <a:spLocks noGrp="1"/>
          </p:cNvSpPr>
          <p:nvPr>
            <p:ph type="sldNum" sz="quarter" idx="12"/>
          </p:nvPr>
        </p:nvSpPr>
        <p:spPr/>
        <p:txBody>
          <a:bodyPr/>
          <a:lstStyle/>
          <a:p>
            <a:fld id="{11701D59-EA2C-D948-983A-1F06BCF18F2E}" type="slidenum">
              <a:rPr lang="en-US" smtClean="0"/>
              <a:t>‹#›</a:t>
            </a:fld>
            <a:endParaRPr lang="en-US"/>
          </a:p>
        </p:txBody>
      </p:sp>
    </p:spTree>
    <p:extLst>
      <p:ext uri="{BB962C8B-B14F-4D97-AF65-F5344CB8AC3E}">
        <p14:creationId xmlns:p14="http://schemas.microsoft.com/office/powerpoint/2010/main" val="3956467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BC0F24-40EA-59EE-16B0-7A48413F0749}"/>
              </a:ext>
            </a:extLst>
          </p:cNvPr>
          <p:cNvSpPr>
            <a:spLocks noGrp="1"/>
          </p:cNvSpPr>
          <p:nvPr>
            <p:ph type="dt" sz="half" idx="10"/>
          </p:nvPr>
        </p:nvSpPr>
        <p:spPr/>
        <p:txBody>
          <a:bodyPr/>
          <a:lstStyle/>
          <a:p>
            <a:fld id="{F88193D1-F092-8345-9C6B-279AE33D6F76}" type="datetimeFigureOut">
              <a:rPr lang="en-US" smtClean="0"/>
              <a:t>11/12/25</a:t>
            </a:fld>
            <a:endParaRPr lang="en-US"/>
          </a:p>
        </p:txBody>
      </p:sp>
      <p:sp>
        <p:nvSpPr>
          <p:cNvPr id="3" name="Footer Placeholder 2">
            <a:extLst>
              <a:ext uri="{FF2B5EF4-FFF2-40B4-BE49-F238E27FC236}">
                <a16:creationId xmlns:a16="http://schemas.microsoft.com/office/drawing/2014/main" id="{928471D9-C1DF-FFDC-CC81-12D77DAA36B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C5CCDE8-BC13-4D93-1026-C9D7921454A2}"/>
              </a:ext>
            </a:extLst>
          </p:cNvPr>
          <p:cNvSpPr>
            <a:spLocks noGrp="1"/>
          </p:cNvSpPr>
          <p:nvPr>
            <p:ph type="sldNum" sz="quarter" idx="12"/>
          </p:nvPr>
        </p:nvSpPr>
        <p:spPr/>
        <p:txBody>
          <a:bodyPr/>
          <a:lstStyle/>
          <a:p>
            <a:fld id="{11701D59-EA2C-D948-983A-1F06BCF18F2E}" type="slidenum">
              <a:rPr lang="en-US" smtClean="0"/>
              <a:t>‹#›</a:t>
            </a:fld>
            <a:endParaRPr lang="en-US"/>
          </a:p>
        </p:txBody>
      </p:sp>
    </p:spTree>
    <p:extLst>
      <p:ext uri="{BB962C8B-B14F-4D97-AF65-F5344CB8AC3E}">
        <p14:creationId xmlns:p14="http://schemas.microsoft.com/office/powerpoint/2010/main" val="1576092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5B862-6898-3F4A-1DF1-52C6840566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5851FA-A1F3-F43E-5315-2E7B2B7197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567155E-2588-78E1-6A37-0FBC2A0E96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F6EDF9-ECFD-A1F8-F8F6-2DAF46871B69}"/>
              </a:ext>
            </a:extLst>
          </p:cNvPr>
          <p:cNvSpPr>
            <a:spLocks noGrp="1"/>
          </p:cNvSpPr>
          <p:nvPr>
            <p:ph type="dt" sz="half" idx="10"/>
          </p:nvPr>
        </p:nvSpPr>
        <p:spPr/>
        <p:txBody>
          <a:bodyPr/>
          <a:lstStyle/>
          <a:p>
            <a:fld id="{F88193D1-F092-8345-9C6B-279AE33D6F76}" type="datetimeFigureOut">
              <a:rPr lang="en-US" smtClean="0"/>
              <a:t>11/12/25</a:t>
            </a:fld>
            <a:endParaRPr lang="en-US"/>
          </a:p>
        </p:txBody>
      </p:sp>
      <p:sp>
        <p:nvSpPr>
          <p:cNvPr id="6" name="Footer Placeholder 5">
            <a:extLst>
              <a:ext uri="{FF2B5EF4-FFF2-40B4-BE49-F238E27FC236}">
                <a16:creationId xmlns:a16="http://schemas.microsoft.com/office/drawing/2014/main" id="{B6DC497B-59C8-FF8C-6544-7E9D11E9C9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546967-3EA4-96AB-FA02-3A475FF97FF8}"/>
              </a:ext>
            </a:extLst>
          </p:cNvPr>
          <p:cNvSpPr>
            <a:spLocks noGrp="1"/>
          </p:cNvSpPr>
          <p:nvPr>
            <p:ph type="sldNum" sz="quarter" idx="12"/>
          </p:nvPr>
        </p:nvSpPr>
        <p:spPr/>
        <p:txBody>
          <a:bodyPr/>
          <a:lstStyle/>
          <a:p>
            <a:fld id="{11701D59-EA2C-D948-983A-1F06BCF18F2E}" type="slidenum">
              <a:rPr lang="en-US" smtClean="0"/>
              <a:t>‹#›</a:t>
            </a:fld>
            <a:endParaRPr lang="en-US"/>
          </a:p>
        </p:txBody>
      </p:sp>
    </p:spTree>
    <p:extLst>
      <p:ext uri="{BB962C8B-B14F-4D97-AF65-F5344CB8AC3E}">
        <p14:creationId xmlns:p14="http://schemas.microsoft.com/office/powerpoint/2010/main" val="3895681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6158D-BD7F-7362-D8A0-9F866BE8B3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1C34871-CE6C-C4EA-7986-96104185C0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DDF88D-73A5-54F9-E66A-E639FDC6CE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127281-C037-D307-D26B-2A1C18B07BB3}"/>
              </a:ext>
            </a:extLst>
          </p:cNvPr>
          <p:cNvSpPr>
            <a:spLocks noGrp="1"/>
          </p:cNvSpPr>
          <p:nvPr>
            <p:ph type="dt" sz="half" idx="10"/>
          </p:nvPr>
        </p:nvSpPr>
        <p:spPr/>
        <p:txBody>
          <a:bodyPr/>
          <a:lstStyle/>
          <a:p>
            <a:fld id="{F88193D1-F092-8345-9C6B-279AE33D6F76}" type="datetimeFigureOut">
              <a:rPr lang="en-US" smtClean="0"/>
              <a:t>11/12/25</a:t>
            </a:fld>
            <a:endParaRPr lang="en-US"/>
          </a:p>
        </p:txBody>
      </p:sp>
      <p:sp>
        <p:nvSpPr>
          <p:cNvPr id="6" name="Footer Placeholder 5">
            <a:extLst>
              <a:ext uri="{FF2B5EF4-FFF2-40B4-BE49-F238E27FC236}">
                <a16:creationId xmlns:a16="http://schemas.microsoft.com/office/drawing/2014/main" id="{45D57075-52BA-B536-9B87-8DF53F3890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91689F-9ADE-7CD5-70B2-842A454C6791}"/>
              </a:ext>
            </a:extLst>
          </p:cNvPr>
          <p:cNvSpPr>
            <a:spLocks noGrp="1"/>
          </p:cNvSpPr>
          <p:nvPr>
            <p:ph type="sldNum" sz="quarter" idx="12"/>
          </p:nvPr>
        </p:nvSpPr>
        <p:spPr/>
        <p:txBody>
          <a:bodyPr/>
          <a:lstStyle/>
          <a:p>
            <a:fld id="{11701D59-EA2C-D948-983A-1F06BCF18F2E}" type="slidenum">
              <a:rPr lang="en-US" smtClean="0"/>
              <a:t>‹#›</a:t>
            </a:fld>
            <a:endParaRPr lang="en-US"/>
          </a:p>
        </p:txBody>
      </p:sp>
    </p:spTree>
    <p:extLst>
      <p:ext uri="{BB962C8B-B14F-4D97-AF65-F5344CB8AC3E}">
        <p14:creationId xmlns:p14="http://schemas.microsoft.com/office/powerpoint/2010/main" val="1755542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4DD73-61C9-63AF-4362-C644CEDB98D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A7EF5EF-AABA-ACA5-E9F1-972C8D08FD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7F8DE3-BF27-0C89-D619-D44D7A0071B0}"/>
              </a:ext>
            </a:extLst>
          </p:cNvPr>
          <p:cNvSpPr>
            <a:spLocks noGrp="1"/>
          </p:cNvSpPr>
          <p:nvPr>
            <p:ph type="dt" sz="half" idx="10"/>
          </p:nvPr>
        </p:nvSpPr>
        <p:spPr/>
        <p:txBody>
          <a:bodyPr/>
          <a:lstStyle/>
          <a:p>
            <a:fld id="{F88193D1-F092-8345-9C6B-279AE33D6F76}" type="datetimeFigureOut">
              <a:rPr lang="en-US" smtClean="0"/>
              <a:t>11/12/25</a:t>
            </a:fld>
            <a:endParaRPr lang="en-US"/>
          </a:p>
        </p:txBody>
      </p:sp>
      <p:sp>
        <p:nvSpPr>
          <p:cNvPr id="5" name="Footer Placeholder 4">
            <a:extLst>
              <a:ext uri="{FF2B5EF4-FFF2-40B4-BE49-F238E27FC236}">
                <a16:creationId xmlns:a16="http://schemas.microsoft.com/office/drawing/2014/main" id="{6BBC2492-6757-E6F2-7A56-29D43A74ED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3BB7E5-9857-6516-54B9-DB3281654910}"/>
              </a:ext>
            </a:extLst>
          </p:cNvPr>
          <p:cNvSpPr>
            <a:spLocks noGrp="1"/>
          </p:cNvSpPr>
          <p:nvPr>
            <p:ph type="sldNum" sz="quarter" idx="12"/>
          </p:nvPr>
        </p:nvSpPr>
        <p:spPr/>
        <p:txBody>
          <a:bodyPr/>
          <a:lstStyle/>
          <a:p>
            <a:fld id="{11701D59-EA2C-D948-983A-1F06BCF18F2E}" type="slidenum">
              <a:rPr lang="en-US" smtClean="0"/>
              <a:t>‹#›</a:t>
            </a:fld>
            <a:endParaRPr lang="en-US"/>
          </a:p>
        </p:txBody>
      </p:sp>
    </p:spTree>
    <p:extLst>
      <p:ext uri="{BB962C8B-B14F-4D97-AF65-F5344CB8AC3E}">
        <p14:creationId xmlns:p14="http://schemas.microsoft.com/office/powerpoint/2010/main" val="27470288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11EAE8-3476-86DA-ED6F-3A23EF70B0F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A34B13-A54A-2227-84C3-E4E824889F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4F3C35-01ED-73E3-523A-ADEFDAA2091F}"/>
              </a:ext>
            </a:extLst>
          </p:cNvPr>
          <p:cNvSpPr>
            <a:spLocks noGrp="1"/>
          </p:cNvSpPr>
          <p:nvPr>
            <p:ph type="dt" sz="half" idx="10"/>
          </p:nvPr>
        </p:nvSpPr>
        <p:spPr/>
        <p:txBody>
          <a:bodyPr/>
          <a:lstStyle/>
          <a:p>
            <a:fld id="{F88193D1-F092-8345-9C6B-279AE33D6F76}" type="datetimeFigureOut">
              <a:rPr lang="en-US" smtClean="0"/>
              <a:t>11/12/25</a:t>
            </a:fld>
            <a:endParaRPr lang="en-US"/>
          </a:p>
        </p:txBody>
      </p:sp>
      <p:sp>
        <p:nvSpPr>
          <p:cNvPr id="5" name="Footer Placeholder 4">
            <a:extLst>
              <a:ext uri="{FF2B5EF4-FFF2-40B4-BE49-F238E27FC236}">
                <a16:creationId xmlns:a16="http://schemas.microsoft.com/office/drawing/2014/main" id="{C4D86DAE-A603-EBFD-9117-B36F747A79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0A269E-2E8A-0303-EE59-5E9CF9BAADDB}"/>
              </a:ext>
            </a:extLst>
          </p:cNvPr>
          <p:cNvSpPr>
            <a:spLocks noGrp="1"/>
          </p:cNvSpPr>
          <p:nvPr>
            <p:ph type="sldNum" sz="quarter" idx="12"/>
          </p:nvPr>
        </p:nvSpPr>
        <p:spPr/>
        <p:txBody>
          <a:bodyPr/>
          <a:lstStyle/>
          <a:p>
            <a:fld id="{11701D59-EA2C-D948-983A-1F06BCF18F2E}" type="slidenum">
              <a:rPr lang="en-US" smtClean="0"/>
              <a:t>‹#›</a:t>
            </a:fld>
            <a:endParaRPr lang="en-US"/>
          </a:p>
        </p:txBody>
      </p:sp>
    </p:spTree>
    <p:extLst>
      <p:ext uri="{BB962C8B-B14F-4D97-AF65-F5344CB8AC3E}">
        <p14:creationId xmlns:p14="http://schemas.microsoft.com/office/powerpoint/2010/main" val="454356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BDD50D-DE5D-87C0-1DEE-3FAEA9FC50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3E2A7B-AE6C-7E3C-3AEA-792A1BBA2D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4D1899-ACD0-931D-9F1A-7CBC9C7978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88193D1-F092-8345-9C6B-279AE33D6F76}" type="datetimeFigureOut">
              <a:rPr lang="en-US" smtClean="0"/>
              <a:t>11/12/25</a:t>
            </a:fld>
            <a:endParaRPr lang="en-US"/>
          </a:p>
        </p:txBody>
      </p:sp>
      <p:sp>
        <p:nvSpPr>
          <p:cNvPr id="5" name="Footer Placeholder 4">
            <a:extLst>
              <a:ext uri="{FF2B5EF4-FFF2-40B4-BE49-F238E27FC236}">
                <a16:creationId xmlns:a16="http://schemas.microsoft.com/office/drawing/2014/main" id="{F86CD089-7C33-E219-40F6-CE41366484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A59CB16-24F6-9AE4-3CE2-A052876892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701D59-EA2C-D948-983A-1F06BCF18F2E}" type="slidenum">
              <a:rPr lang="en-US" smtClean="0"/>
              <a:t>‹#›</a:t>
            </a:fld>
            <a:endParaRPr lang="en-US"/>
          </a:p>
        </p:txBody>
      </p:sp>
    </p:spTree>
    <p:extLst>
      <p:ext uri="{BB962C8B-B14F-4D97-AF65-F5344CB8AC3E}">
        <p14:creationId xmlns:p14="http://schemas.microsoft.com/office/powerpoint/2010/main" val="41802811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Sample Portal Form – Secure File Transfer (SFTP via VLZ Proxy)</a:t>
            </a:r>
          </a:p>
        </p:txBody>
      </p:sp>
      <p:sp>
        <p:nvSpPr>
          <p:cNvPr id="3" name="Content Placeholder 2"/>
          <p:cNvSpPr>
            <a:spLocks noGrp="1"/>
          </p:cNvSpPr>
          <p:nvPr>
            <p:ph idx="1"/>
          </p:nvPr>
        </p:nvSpPr>
        <p:spPr/>
        <p:txBody>
          <a:bodyPr>
            <a:normAutofit fontScale="92500"/>
          </a:bodyPr>
          <a:lstStyle/>
          <a:p>
            <a:r>
              <a:t>Example fields collected in the portal:</a:t>
            </a:r>
          </a:p>
          <a:p>
            <a:pPr lvl="1"/>
            <a:r>
              <a:t>Business context: application name, owner, environment (dev/test/prod)</a:t>
            </a:r>
          </a:p>
          <a:p>
            <a:pPr lvl="1"/>
            <a:r>
              <a:t>Third-party details: organization name, contact info, support hours</a:t>
            </a:r>
          </a:p>
          <a:p>
            <a:pPr lvl="1"/>
            <a:r>
              <a:t>Network endpoints: remote public IP/FQDN, device type/platform</a:t>
            </a:r>
          </a:p>
          <a:p>
            <a:pPr lvl="1"/>
            <a:r>
              <a:t>Service specifics: SFTP hostnames, ports, internal target FQDNs</a:t>
            </a:r>
          </a:p>
          <a:p>
            <a:pPr lvl="1"/>
            <a:r>
              <a:t>Data sensitivity &amp; compliance tags (PHI/PII, region, retention)</a:t>
            </a:r>
          </a:p>
          <a:p>
            <a:pPr lvl="1"/>
            <a:r>
              <a:t>Operational parameters: expected volume, schedules/maintenance windows</a:t>
            </a:r>
          </a:p>
          <a:p>
            <a:r>
              <a:t>Validations &amp; policy checks:</a:t>
            </a:r>
          </a:p>
          <a:p>
            <a:pPr lvl="1"/>
            <a:r>
              <a:t>Required fields, allowed port ranges, approved cipher suites</a:t>
            </a:r>
          </a:p>
          <a:p>
            <a:pPr lvl="1"/>
            <a:r>
              <a:t>Automatic mapping to a standard SFTP pattern and VLZ tenant</a:t>
            </a:r>
          </a:p>
          <a:p>
            <a:pPr lvl="1"/>
            <a:r>
              <a:t>Routing to appropriate approvers and risk/compliance reviewers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Sample Portal Form – Web API (Enterprise API via VLZ Proxy)</a:t>
            </a:r>
          </a:p>
        </p:txBody>
      </p:sp>
      <p:sp>
        <p:nvSpPr>
          <p:cNvPr id="3" name="Content Placeholder 2"/>
          <p:cNvSpPr>
            <a:spLocks noGrp="1"/>
          </p:cNvSpPr>
          <p:nvPr>
            <p:ph idx="1"/>
          </p:nvPr>
        </p:nvSpPr>
        <p:spPr/>
        <p:txBody>
          <a:bodyPr>
            <a:normAutofit fontScale="92500" lnSpcReduction="10000"/>
          </a:bodyPr>
          <a:lstStyle/>
          <a:p>
            <a:r>
              <a:t>Example fields collected in the portal:</a:t>
            </a:r>
          </a:p>
          <a:p>
            <a:pPr lvl="1"/>
            <a:r>
              <a:t>Business context: application name, owner, environment (dev/test/uat/prod)</a:t>
            </a:r>
          </a:p>
          <a:p>
            <a:pPr lvl="1"/>
            <a:r>
              <a:t>API details: API name, internal FQDN, base path (e.g., /v1/payments)</a:t>
            </a:r>
          </a:p>
          <a:p>
            <a:pPr lvl="1"/>
            <a:r>
              <a:t>Third-party details: organization, contact, support window, region(s)</a:t>
            </a:r>
          </a:p>
          <a:p>
            <a:pPr lvl="1"/>
            <a:r>
              <a:t>Network endpoints: remote public IP(s)/FQDN(s), expected source CIDRs</a:t>
            </a:r>
          </a:p>
          <a:p>
            <a:pPr lvl="1"/>
            <a:r>
              <a:t>Auth &amp; identity: auth type (mTLS, OAuth2/JWT, API key), required claims/scopes</a:t>
            </a:r>
          </a:p>
          <a:p>
            <a:pPr lvl="1"/>
            <a:r>
              <a:t>Data classification: sensitivity (PHI/PII), residency, retention, logging level</a:t>
            </a:r>
          </a:p>
          <a:p>
            <a:pPr lvl="1"/>
            <a:r>
              <a:t>Traffic profile: expected QPS, burst limits, concurrency, allowed methods</a:t>
            </a:r>
          </a:p>
          <a:p>
            <a:r>
              <a:t>Validations &amp; policy checks:</a:t>
            </a:r>
          </a:p>
          <a:p>
            <a:pPr lvl="1"/>
            <a:r>
              <a:t>Required fields, allowed methods and ports, approved cipher suites</a:t>
            </a:r>
          </a:p>
          <a:p>
            <a:pPr lvl="1"/>
            <a:r>
              <a:t>API classification drives mandatory controls (e.g., mTLS for high sensitivity)</a:t>
            </a:r>
          </a:p>
          <a:p>
            <a:pPr lvl="1"/>
            <a:r>
              <a:t>Automatic mapping to a standard Web API pattern and VLZ tenant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Web API Service Behavior &amp; Controls</a:t>
            </a:r>
          </a:p>
        </p:txBody>
      </p:sp>
      <p:sp>
        <p:nvSpPr>
          <p:cNvPr id="3" name="Content Placeholder 2"/>
          <p:cNvSpPr>
            <a:spLocks noGrp="1"/>
          </p:cNvSpPr>
          <p:nvPr>
            <p:ph idx="1"/>
          </p:nvPr>
        </p:nvSpPr>
        <p:spPr/>
        <p:txBody>
          <a:bodyPr>
            <a:normAutofit fontScale="85000" lnSpcReduction="10000"/>
          </a:bodyPr>
          <a:lstStyle/>
          <a:p>
            <a:r>
              <a:t>Service proxy behavior:</a:t>
            </a:r>
          </a:p>
          <a:p>
            <a:pPr lvl="1"/>
            <a:r>
              <a:t>Exposes a tenant-specific API endpoint (e.g., https://&lt;tenant-id&gt;.api.3plz.example.com)</a:t>
            </a:r>
          </a:p>
          <a:p>
            <a:pPr lvl="1"/>
            <a:r>
              <a:t>Forwards to internal API FQDN/base path using mTLS where supported</a:t>
            </a:r>
          </a:p>
          <a:p>
            <a:pPr lvl="1"/>
            <a:r>
              <a:t>Normalizes paths, headers, and TLS parameters based on the Service Profile</a:t>
            </a:r>
          </a:p>
          <a:p>
            <a:r>
              <a:t>Security controls:</a:t>
            </a:r>
          </a:p>
          <a:p>
            <a:pPr lvl="1"/>
            <a:r>
              <a:t>Enforces allowed HTTP methods, paths, and rate limits per profile</a:t>
            </a:r>
          </a:p>
          <a:p>
            <a:pPr lvl="1"/>
            <a:r>
              <a:t>Supports mTLS, JWT/OAuth2 validation, or API key verification</a:t>
            </a:r>
          </a:p>
          <a:p>
            <a:pPr lvl="1"/>
            <a:r>
              <a:t>Optional IP/CIDR restrictions per third party / tenant</a:t>
            </a:r>
          </a:p>
          <a:p>
            <a:pPr lvl="1"/>
            <a:r>
              <a:t>Request/response size limits and protocol sanity checks</a:t>
            </a:r>
          </a:p>
          <a:p>
            <a:r>
              <a:t>Observability &amp; governance:</a:t>
            </a:r>
          </a:p>
          <a:p>
            <a:pPr lvl="1"/>
            <a:r>
              <a:t>Per-tenant logs with correlation IDs, status codes, latency, and auth outcome</a:t>
            </a:r>
          </a:p>
          <a:p>
            <a:pPr lvl="1"/>
            <a:r>
              <a:t>Metrics export (QPS, error rates, throttling events) to observability stack</a:t>
            </a:r>
          </a:p>
          <a:p>
            <a:pPr lvl="1"/>
            <a:r>
              <a:t>Logs tagged with tenant, vendor, application ID, and data classification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Virtual Landing Zone (VLZ) &amp; Tenant Model</a:t>
            </a:r>
          </a:p>
        </p:txBody>
      </p:sp>
      <p:sp>
        <p:nvSpPr>
          <p:cNvPr id="3" name="Content Placeholder 2"/>
          <p:cNvSpPr>
            <a:spLocks noGrp="1"/>
          </p:cNvSpPr>
          <p:nvPr>
            <p:ph idx="1"/>
          </p:nvPr>
        </p:nvSpPr>
        <p:spPr/>
        <p:txBody>
          <a:bodyPr>
            <a:normAutofit/>
          </a:bodyPr>
          <a:lstStyle/>
          <a:p>
            <a:r>
              <a:t>Each third-party connection is a dedicated tenant (VLZ)</a:t>
            </a:r>
          </a:p>
          <a:p>
            <a:r>
              <a:t>VLZ is a no-access zone: no direct routing to internal networks</a:t>
            </a:r>
          </a:p>
          <a:p>
            <a:r>
              <a:t>Tenant-scoped resources:</a:t>
            </a:r>
          </a:p>
          <a:p>
            <a:pPr lvl="1"/>
            <a:r>
              <a:t>Address blocks, tunnel interfaces, BGP sessions</a:t>
            </a:r>
          </a:p>
          <a:p>
            <a:pPr lvl="1"/>
            <a:r>
              <a:t>DNS view / resolvers, service proxies, logging context</a:t>
            </a:r>
          </a:p>
          <a:p>
            <a:r>
              <a:t>Tenant identity includes owner, vendor, and application IDs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From Form → IPsec Configuration &amp; B2B Transport</a:t>
            </a:r>
          </a:p>
        </p:txBody>
      </p:sp>
      <p:sp>
        <p:nvSpPr>
          <p:cNvPr id="3" name="Content Placeholder 2"/>
          <p:cNvSpPr>
            <a:spLocks noGrp="1"/>
          </p:cNvSpPr>
          <p:nvPr>
            <p:ph idx="1"/>
          </p:nvPr>
        </p:nvSpPr>
        <p:spPr/>
        <p:txBody>
          <a:bodyPr>
            <a:normAutofit/>
          </a:bodyPr>
          <a:lstStyle/>
          <a:p>
            <a:r>
              <a:t>Each approved request generates a remote IPsec configuration bundle</a:t>
            </a:r>
          </a:p>
          <a:p>
            <a:pPr lvl="1"/>
            <a:r>
              <a:t>IKEv2 parameters, proposals, and crypto settings</a:t>
            </a:r>
          </a:p>
          <a:p>
            <a:pPr lvl="1"/>
            <a:r>
              <a:t>Tunnel interface addresses and BGP configuration (if applicable)</a:t>
            </a:r>
          </a:p>
          <a:p>
            <a:r>
              <a:t>Config bundles must support major firewall/router platforms</a:t>
            </a:r>
          </a:p>
          <a:p>
            <a:r>
              <a:t>Local side terminates on location-agnostic tunnel anchors</a:t>
            </a:r>
          </a:p>
          <a:p>
            <a:r>
              <a:t>All tunnel creation driven by templates and portal data, not manual builds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Service Proxies &amp; Service Profiles</a:t>
            </a:r>
          </a:p>
        </p:txBody>
      </p:sp>
      <p:sp>
        <p:nvSpPr>
          <p:cNvPr id="3" name="Content Placeholder 2"/>
          <p:cNvSpPr>
            <a:spLocks noGrp="1"/>
          </p:cNvSpPr>
          <p:nvPr>
            <p:ph idx="1"/>
          </p:nvPr>
        </p:nvSpPr>
        <p:spPr/>
        <p:txBody>
          <a:bodyPr>
            <a:normAutofit/>
          </a:bodyPr>
          <a:lstStyle/>
          <a:p>
            <a:r>
              <a:t>Platform provides per-tenant proxies for each service pattern</a:t>
            </a:r>
          </a:p>
          <a:p>
            <a:pPr lvl="1"/>
            <a:r>
              <a:t>SFTP/SSH proxy, VDI proxy, Web App proxy, Web API proxy, SaaS proxy</a:t>
            </a:r>
          </a:p>
          <a:p>
            <a:r>
              <a:t>Application owners define Service Profiles via the portal:</a:t>
            </a:r>
          </a:p>
          <a:p>
            <a:pPr lvl="1"/>
            <a:r>
              <a:t>Choose service type (e.g., Enterprise Web App, Internet SaaS)</a:t>
            </a:r>
          </a:p>
          <a:p>
            <a:pPr lvl="1"/>
            <a:r>
              <a:t>Provide FQDNs, ports, and header/path requirements</a:t>
            </a:r>
          </a:p>
          <a:p>
            <a:pPr lvl="1"/>
            <a:r>
              <a:t>Select controls (IP restrictions, auth requirements, rate limiting)</a:t>
            </a:r>
          </a:p>
          <a:p>
            <a:r>
              <a:t>Platform translates profiles into proxy configs, ACLs, and DNS rules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TotalTime>
  <Words>1360</Words>
  <Application>Microsoft Macintosh PowerPoint</Application>
  <PresentationFormat>Widescreen</PresentationFormat>
  <Paragraphs>113</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Sample Portal Form – Secure File Transfer (SFTP via VLZ Proxy)</vt:lpstr>
      <vt:lpstr>Sample Portal Form – Web API (Enterprise API via VLZ Proxy)</vt:lpstr>
      <vt:lpstr>Web API Service Behavior &amp; Controls</vt:lpstr>
      <vt:lpstr>Virtual Landing Zone (VLZ) &amp; Tenant Model</vt:lpstr>
      <vt:lpstr>From Form → IPsec Configuration &amp; B2B Transport</vt:lpstr>
      <vt:lpstr>Service Proxies &amp; Service Profiles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Martin, Michael J</dc:creator>
  <cp:lastModifiedBy>Martin, Michael J</cp:lastModifiedBy>
  <cp:revision>1</cp:revision>
  <dcterms:created xsi:type="dcterms:W3CDTF">2025-11-11T00:01:04Z</dcterms:created>
  <dcterms:modified xsi:type="dcterms:W3CDTF">2025-11-12T21:04:20Z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ecdf243-b9b0-4f63-8694-76742e4201b7_Enabled">
    <vt:lpwstr>true</vt:lpwstr>
  </property>
  <property fmtid="{D5CDD505-2E9C-101B-9397-08002B2CF9AE}" pid="3" name="MSIP_Label_1ecdf243-b9b0-4f63-8694-76742e4201b7_SetDate">
    <vt:lpwstr>2025-11-11T00:02:32Z</vt:lpwstr>
  </property>
  <property fmtid="{D5CDD505-2E9C-101B-9397-08002B2CF9AE}" pid="4" name="MSIP_Label_1ecdf243-b9b0-4f63-8694-76742e4201b7_Method">
    <vt:lpwstr>Standard</vt:lpwstr>
  </property>
  <property fmtid="{D5CDD505-2E9C-101B-9397-08002B2CF9AE}" pid="5" name="MSIP_Label_1ecdf243-b9b0-4f63-8694-76742e4201b7_Name">
    <vt:lpwstr>Proprietary general</vt:lpwstr>
  </property>
  <property fmtid="{D5CDD505-2E9C-101B-9397-08002B2CF9AE}" pid="6" name="MSIP_Label_1ecdf243-b9b0-4f63-8694-76742e4201b7_SiteId">
    <vt:lpwstr>fabb61b8-3afe-4e75-b934-a47f782b8cd7</vt:lpwstr>
  </property>
  <property fmtid="{D5CDD505-2E9C-101B-9397-08002B2CF9AE}" pid="7" name="MSIP_Label_1ecdf243-b9b0-4f63-8694-76742e4201b7_ActionId">
    <vt:lpwstr>81177137-4a1b-492f-8ec2-cab39cfdd604</vt:lpwstr>
  </property>
  <property fmtid="{D5CDD505-2E9C-101B-9397-08002B2CF9AE}" pid="8" name="MSIP_Label_1ecdf243-b9b0-4f63-8694-76742e4201b7_ContentBits">
    <vt:lpwstr>0</vt:lpwstr>
  </property>
  <property fmtid="{D5CDD505-2E9C-101B-9397-08002B2CF9AE}" pid="9" name="MSIP_Label_1ecdf243-b9b0-4f63-8694-76742e4201b7_Tag">
    <vt:lpwstr>50, 3, 0, 1</vt:lpwstr>
  </property>
</Properties>
</file>