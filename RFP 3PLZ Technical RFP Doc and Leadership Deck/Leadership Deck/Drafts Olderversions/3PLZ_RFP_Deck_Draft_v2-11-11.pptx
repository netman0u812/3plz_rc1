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63" r:id="rId3"/>
    <p:sldId id="2565" r:id="rId4"/>
    <p:sldId id="2566" r:id="rId5"/>
    <p:sldId id="2573" r:id="rId6"/>
    <p:sldId id="258" r:id="rId7"/>
    <p:sldId id="2570" r:id="rId8"/>
    <p:sldId id="259" r:id="rId9"/>
    <p:sldId id="264" r:id="rId10"/>
    <p:sldId id="2574" r:id="rId11"/>
    <p:sldId id="261" r:id="rId12"/>
    <p:sldId id="262" r:id="rId13"/>
    <p:sldId id="263" r:id="rId14"/>
    <p:sldId id="2571" r:id="rId15"/>
    <p:sldId id="265" r:id="rId16"/>
    <p:sldId id="266" r:id="rId17"/>
    <p:sldId id="267" r:id="rId18"/>
    <p:sldId id="2572"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5"/>
    <p:restoredTop sz="94538"/>
  </p:normalViewPr>
  <p:slideViewPr>
    <p:cSldViewPr snapToGrid="0" snapToObjects="1">
      <p:cViewPr varScale="1">
        <p:scale>
          <a:sx n="210" d="100"/>
          <a:sy n="210" d="100"/>
        </p:scale>
        <p:origin x="568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223ADE-FD6F-4109-B955-6EC0A069FCDC}"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F2BFFA0-DA76-49CE-925F-4B2EF802F41D}">
      <dgm:prSet/>
      <dgm:spPr/>
      <dgm:t>
        <a:bodyPr/>
        <a:lstStyle/>
        <a:p>
          <a:r>
            <a:rPr lang="en-US"/>
            <a:t>Secure File Transfer – SFTP / SSH / MFT (e.g., IBM Sterling)</a:t>
          </a:r>
        </a:p>
      </dgm:t>
    </dgm:pt>
    <dgm:pt modelId="{5A3FBD22-1F0F-4E40-8072-2B64DB55A5B5}" type="parTrans" cxnId="{78B9E547-4D92-4778-A913-919E3087D899}">
      <dgm:prSet/>
      <dgm:spPr/>
      <dgm:t>
        <a:bodyPr/>
        <a:lstStyle/>
        <a:p>
          <a:endParaRPr lang="en-US"/>
        </a:p>
      </dgm:t>
    </dgm:pt>
    <dgm:pt modelId="{8F82A460-1432-48BF-8A64-A67256AD2EA7}" type="sibTrans" cxnId="{78B9E547-4D92-4778-A913-919E3087D899}">
      <dgm:prSet/>
      <dgm:spPr/>
      <dgm:t>
        <a:bodyPr/>
        <a:lstStyle/>
        <a:p>
          <a:endParaRPr lang="en-US"/>
        </a:p>
      </dgm:t>
    </dgm:pt>
    <dgm:pt modelId="{23F9357D-6C28-420C-8856-8CC05B20FD0D}">
      <dgm:prSet/>
      <dgm:spPr/>
      <dgm:t>
        <a:bodyPr/>
        <a:lstStyle/>
        <a:p>
          <a:r>
            <a:rPr lang="en-US"/>
            <a:t>Collaboration Access – M365, eShare, Slack via proxied, logged access</a:t>
          </a:r>
        </a:p>
      </dgm:t>
    </dgm:pt>
    <dgm:pt modelId="{9331BC7D-AA12-4C0F-8FDF-4E7EA88EFBDE}" type="parTrans" cxnId="{12DB4DB2-B746-40DC-B3B1-06A136216653}">
      <dgm:prSet/>
      <dgm:spPr/>
      <dgm:t>
        <a:bodyPr/>
        <a:lstStyle/>
        <a:p>
          <a:endParaRPr lang="en-US"/>
        </a:p>
      </dgm:t>
    </dgm:pt>
    <dgm:pt modelId="{AADA39A3-7983-4A96-9423-D80B91ABEE80}" type="sibTrans" cxnId="{12DB4DB2-B746-40DC-B3B1-06A136216653}">
      <dgm:prSet/>
      <dgm:spPr/>
      <dgm:t>
        <a:bodyPr/>
        <a:lstStyle/>
        <a:p>
          <a:endParaRPr lang="en-US"/>
        </a:p>
      </dgm:t>
    </dgm:pt>
    <dgm:pt modelId="{DDC2321F-1D19-4F00-8F8F-46376CB45F2C}">
      <dgm:prSet/>
      <dgm:spPr/>
      <dgm:t>
        <a:bodyPr/>
        <a:lstStyle/>
        <a:p>
          <a:r>
            <a:rPr lang="en-US"/>
            <a:t>Virtual Desktop (VDI) – Citrix / Microsoft VDI via per-tenant proxies</a:t>
          </a:r>
        </a:p>
      </dgm:t>
    </dgm:pt>
    <dgm:pt modelId="{206E6B27-E223-431F-A745-66A728EA9757}" type="parTrans" cxnId="{2C5C804B-0483-4ECD-A8B8-9B87F4227C92}">
      <dgm:prSet/>
      <dgm:spPr/>
      <dgm:t>
        <a:bodyPr/>
        <a:lstStyle/>
        <a:p>
          <a:endParaRPr lang="en-US"/>
        </a:p>
      </dgm:t>
    </dgm:pt>
    <dgm:pt modelId="{6CA41E78-E17E-47FA-B661-B205FE8218C5}" type="sibTrans" cxnId="{2C5C804B-0483-4ECD-A8B8-9B87F4227C92}">
      <dgm:prSet/>
      <dgm:spPr/>
      <dgm:t>
        <a:bodyPr/>
        <a:lstStyle/>
        <a:p>
          <a:endParaRPr lang="en-US"/>
        </a:p>
      </dgm:t>
    </dgm:pt>
    <dgm:pt modelId="{8ECD362F-FE32-43AF-A753-647E4597983E}">
      <dgm:prSet/>
      <dgm:spPr/>
      <dgm:t>
        <a:bodyPr/>
        <a:lstStyle/>
        <a:p>
          <a:r>
            <a:rPr lang="en-US"/>
            <a:t>Web Applications – Internal HTTPS apps via reverse proxies with mTLS</a:t>
          </a:r>
        </a:p>
      </dgm:t>
    </dgm:pt>
    <dgm:pt modelId="{B450A7F3-48FB-4532-8586-A65F2957A963}" type="parTrans" cxnId="{377E70EE-08DA-4AD9-A5E0-918636EDD64B}">
      <dgm:prSet/>
      <dgm:spPr/>
      <dgm:t>
        <a:bodyPr/>
        <a:lstStyle/>
        <a:p>
          <a:endParaRPr lang="en-US"/>
        </a:p>
      </dgm:t>
    </dgm:pt>
    <dgm:pt modelId="{78EADE5F-6EE2-4EF5-8B69-3811D54D3F06}" type="sibTrans" cxnId="{377E70EE-08DA-4AD9-A5E0-918636EDD64B}">
      <dgm:prSet/>
      <dgm:spPr/>
      <dgm:t>
        <a:bodyPr/>
        <a:lstStyle/>
        <a:p>
          <a:endParaRPr lang="en-US"/>
        </a:p>
      </dgm:t>
    </dgm:pt>
    <dgm:pt modelId="{0A5152CE-2BDC-4E54-9D5C-507758CADBEA}">
      <dgm:prSet/>
      <dgm:spPr/>
      <dgm:t>
        <a:bodyPr/>
        <a:lstStyle/>
        <a:p>
          <a:r>
            <a:rPr lang="en-US"/>
            <a:t>Web APIs – REST/SOAP APIs with mTLS and token/claim-based controls</a:t>
          </a:r>
        </a:p>
      </dgm:t>
    </dgm:pt>
    <dgm:pt modelId="{326D8144-C482-41B3-97EF-2AEC811E34D4}" type="parTrans" cxnId="{DE7D41DE-CBF1-4E39-B044-4E6F6F421D10}">
      <dgm:prSet/>
      <dgm:spPr/>
      <dgm:t>
        <a:bodyPr/>
        <a:lstStyle/>
        <a:p>
          <a:endParaRPr lang="en-US"/>
        </a:p>
      </dgm:t>
    </dgm:pt>
    <dgm:pt modelId="{DDB0B05E-7D50-448C-BF20-1E15E91AEA6E}" type="sibTrans" cxnId="{DE7D41DE-CBF1-4E39-B044-4E6F6F421D10}">
      <dgm:prSet/>
      <dgm:spPr/>
      <dgm:t>
        <a:bodyPr/>
        <a:lstStyle/>
        <a:p>
          <a:endParaRPr lang="en-US"/>
        </a:p>
      </dgm:t>
    </dgm:pt>
    <dgm:pt modelId="{62019629-4DAA-493B-B309-AA401810181A}">
      <dgm:prSet/>
      <dgm:spPr/>
      <dgm:t>
        <a:bodyPr/>
        <a:lstStyle/>
        <a:p>
          <a:r>
            <a:rPr lang="en-US"/>
            <a:t>Each pattern must support both Enterprise and Internet/SaaS paths</a:t>
          </a:r>
        </a:p>
      </dgm:t>
    </dgm:pt>
    <dgm:pt modelId="{B16C0A8B-2C6C-44EB-A753-BBC1A8A32D45}" type="parTrans" cxnId="{E346CB1D-FCD1-427A-86F6-9EEC11A627F1}">
      <dgm:prSet/>
      <dgm:spPr/>
      <dgm:t>
        <a:bodyPr/>
        <a:lstStyle/>
        <a:p>
          <a:endParaRPr lang="en-US"/>
        </a:p>
      </dgm:t>
    </dgm:pt>
    <dgm:pt modelId="{2BBE415D-BB70-406F-8B88-FC5B95F35186}" type="sibTrans" cxnId="{E346CB1D-FCD1-427A-86F6-9EEC11A627F1}">
      <dgm:prSet/>
      <dgm:spPr/>
      <dgm:t>
        <a:bodyPr/>
        <a:lstStyle/>
        <a:p>
          <a:endParaRPr lang="en-US"/>
        </a:p>
      </dgm:t>
    </dgm:pt>
    <dgm:pt modelId="{26D41AB1-5E00-44F4-8349-03DA0E664113}" type="pres">
      <dgm:prSet presAssocID="{57223ADE-FD6F-4109-B955-6EC0A069FCDC}" presName="root" presStyleCnt="0">
        <dgm:presLayoutVars>
          <dgm:dir/>
          <dgm:resizeHandles val="exact"/>
        </dgm:presLayoutVars>
      </dgm:prSet>
      <dgm:spPr/>
    </dgm:pt>
    <dgm:pt modelId="{5D227CA8-AE96-481F-8970-116102C555E1}" type="pres">
      <dgm:prSet presAssocID="{DF2BFFA0-DA76-49CE-925F-4B2EF802F41D}" presName="compNode" presStyleCnt="0"/>
      <dgm:spPr/>
    </dgm:pt>
    <dgm:pt modelId="{EDAA8892-EEA9-43C8-A159-F708D0D595E7}" type="pres">
      <dgm:prSet presAssocID="{DF2BFFA0-DA76-49CE-925F-4B2EF802F41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10262B26-A40D-4EC2-913D-27A453FBDA36}" type="pres">
      <dgm:prSet presAssocID="{DF2BFFA0-DA76-49CE-925F-4B2EF802F41D}" presName="spaceRect" presStyleCnt="0"/>
      <dgm:spPr/>
    </dgm:pt>
    <dgm:pt modelId="{7D415EF4-8CEC-4565-962A-526B17F2D695}" type="pres">
      <dgm:prSet presAssocID="{DF2BFFA0-DA76-49CE-925F-4B2EF802F41D}" presName="textRect" presStyleLbl="revTx" presStyleIdx="0" presStyleCnt="6">
        <dgm:presLayoutVars>
          <dgm:chMax val="1"/>
          <dgm:chPref val="1"/>
        </dgm:presLayoutVars>
      </dgm:prSet>
      <dgm:spPr/>
    </dgm:pt>
    <dgm:pt modelId="{4F486BEE-6AFB-4843-8633-47BC853F48E9}" type="pres">
      <dgm:prSet presAssocID="{8F82A460-1432-48BF-8A64-A67256AD2EA7}" presName="sibTrans" presStyleCnt="0"/>
      <dgm:spPr/>
    </dgm:pt>
    <dgm:pt modelId="{DD2833B6-1F89-4655-85A3-4423767862E2}" type="pres">
      <dgm:prSet presAssocID="{23F9357D-6C28-420C-8856-8CC05B20FD0D}" presName="compNode" presStyleCnt="0"/>
      <dgm:spPr/>
    </dgm:pt>
    <dgm:pt modelId="{FA49A5D5-1D2E-4A10-BB1F-6DDD6CED267D}" type="pres">
      <dgm:prSet presAssocID="{23F9357D-6C28-420C-8856-8CC05B20FD0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Network"/>
        </a:ext>
      </dgm:extLst>
    </dgm:pt>
    <dgm:pt modelId="{5875D1C0-4AB1-4398-8425-B8E531E82304}" type="pres">
      <dgm:prSet presAssocID="{23F9357D-6C28-420C-8856-8CC05B20FD0D}" presName="spaceRect" presStyleCnt="0"/>
      <dgm:spPr/>
    </dgm:pt>
    <dgm:pt modelId="{58DAFB17-D7F5-4436-91D8-18D6B624BE99}" type="pres">
      <dgm:prSet presAssocID="{23F9357D-6C28-420C-8856-8CC05B20FD0D}" presName="textRect" presStyleLbl="revTx" presStyleIdx="1" presStyleCnt="6">
        <dgm:presLayoutVars>
          <dgm:chMax val="1"/>
          <dgm:chPref val="1"/>
        </dgm:presLayoutVars>
      </dgm:prSet>
      <dgm:spPr/>
    </dgm:pt>
    <dgm:pt modelId="{D47071E9-23A9-4BAE-9891-96B9F81D4C7C}" type="pres">
      <dgm:prSet presAssocID="{AADA39A3-7983-4A96-9423-D80B91ABEE80}" presName="sibTrans" presStyleCnt="0"/>
      <dgm:spPr/>
    </dgm:pt>
    <dgm:pt modelId="{FC6DC954-F4F5-45FF-ADC0-240BB0D40DC5}" type="pres">
      <dgm:prSet presAssocID="{DDC2321F-1D19-4F00-8F8F-46376CB45F2C}" presName="compNode" presStyleCnt="0"/>
      <dgm:spPr/>
    </dgm:pt>
    <dgm:pt modelId="{67259D13-EAE6-44DD-AD13-DF166C1CAACD}" type="pres">
      <dgm:prSet presAssocID="{DDC2321F-1D19-4F00-8F8F-46376CB45F2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6A0093A9-9A64-4543-9E18-3A805500B550}" type="pres">
      <dgm:prSet presAssocID="{DDC2321F-1D19-4F00-8F8F-46376CB45F2C}" presName="spaceRect" presStyleCnt="0"/>
      <dgm:spPr/>
    </dgm:pt>
    <dgm:pt modelId="{BFC7800F-C971-4325-8C2B-680A8A73F8CC}" type="pres">
      <dgm:prSet presAssocID="{DDC2321F-1D19-4F00-8F8F-46376CB45F2C}" presName="textRect" presStyleLbl="revTx" presStyleIdx="2" presStyleCnt="6">
        <dgm:presLayoutVars>
          <dgm:chMax val="1"/>
          <dgm:chPref val="1"/>
        </dgm:presLayoutVars>
      </dgm:prSet>
      <dgm:spPr/>
    </dgm:pt>
    <dgm:pt modelId="{148D1FF8-1C13-4993-B147-3643A9F06245}" type="pres">
      <dgm:prSet presAssocID="{6CA41E78-E17E-47FA-B661-B205FE8218C5}" presName="sibTrans" presStyleCnt="0"/>
      <dgm:spPr/>
    </dgm:pt>
    <dgm:pt modelId="{FE834BAA-1382-4D94-8118-F3CC1490D171}" type="pres">
      <dgm:prSet presAssocID="{8ECD362F-FE32-43AF-A753-647E4597983E}" presName="compNode" presStyleCnt="0"/>
      <dgm:spPr/>
    </dgm:pt>
    <dgm:pt modelId="{CE3A2273-4D38-4838-BB89-9868650651EC}" type="pres">
      <dgm:prSet presAssocID="{8ECD362F-FE32-43AF-A753-647E4597983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nlock"/>
        </a:ext>
      </dgm:extLst>
    </dgm:pt>
    <dgm:pt modelId="{080AC5E8-3034-4429-9FEE-813CC721AF7B}" type="pres">
      <dgm:prSet presAssocID="{8ECD362F-FE32-43AF-A753-647E4597983E}" presName="spaceRect" presStyleCnt="0"/>
      <dgm:spPr/>
    </dgm:pt>
    <dgm:pt modelId="{9B05FC16-7A89-4514-8147-F417C423703D}" type="pres">
      <dgm:prSet presAssocID="{8ECD362F-FE32-43AF-A753-647E4597983E}" presName="textRect" presStyleLbl="revTx" presStyleIdx="3" presStyleCnt="6">
        <dgm:presLayoutVars>
          <dgm:chMax val="1"/>
          <dgm:chPref val="1"/>
        </dgm:presLayoutVars>
      </dgm:prSet>
      <dgm:spPr/>
    </dgm:pt>
    <dgm:pt modelId="{4C4A974B-E4CC-447C-B5ED-B3B064266600}" type="pres">
      <dgm:prSet presAssocID="{78EADE5F-6EE2-4EF5-8B69-3811D54D3F06}" presName="sibTrans" presStyleCnt="0"/>
      <dgm:spPr/>
    </dgm:pt>
    <dgm:pt modelId="{4F9A97FC-805B-4474-ACF4-2AC4F8F185B3}" type="pres">
      <dgm:prSet presAssocID="{0A5152CE-2BDC-4E54-9D5C-507758CADBEA}" presName="compNode" presStyleCnt="0"/>
      <dgm:spPr/>
    </dgm:pt>
    <dgm:pt modelId="{7BEE4EB2-587F-4D37-B8F6-4BE5B681A125}" type="pres">
      <dgm:prSet presAssocID="{0A5152CE-2BDC-4E54-9D5C-507758CADBE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oap"/>
        </a:ext>
      </dgm:extLst>
    </dgm:pt>
    <dgm:pt modelId="{D517AF73-6244-4688-BBCB-BC9C78E3F38B}" type="pres">
      <dgm:prSet presAssocID="{0A5152CE-2BDC-4E54-9D5C-507758CADBEA}" presName="spaceRect" presStyleCnt="0"/>
      <dgm:spPr/>
    </dgm:pt>
    <dgm:pt modelId="{66ED4AF5-01E5-422D-89CB-C3E03B98901C}" type="pres">
      <dgm:prSet presAssocID="{0A5152CE-2BDC-4E54-9D5C-507758CADBEA}" presName="textRect" presStyleLbl="revTx" presStyleIdx="4" presStyleCnt="6">
        <dgm:presLayoutVars>
          <dgm:chMax val="1"/>
          <dgm:chPref val="1"/>
        </dgm:presLayoutVars>
      </dgm:prSet>
      <dgm:spPr/>
    </dgm:pt>
    <dgm:pt modelId="{73483DCC-BB4E-4047-BCE4-DD545362FE2D}" type="pres">
      <dgm:prSet presAssocID="{DDB0B05E-7D50-448C-BF20-1E15E91AEA6E}" presName="sibTrans" presStyleCnt="0"/>
      <dgm:spPr/>
    </dgm:pt>
    <dgm:pt modelId="{FED67555-CD93-47F3-8093-F7C30EE8CC2C}" type="pres">
      <dgm:prSet presAssocID="{62019629-4DAA-493B-B309-AA401810181A}" presName="compNode" presStyleCnt="0"/>
      <dgm:spPr/>
    </dgm:pt>
    <dgm:pt modelId="{B917C276-BBDB-43C8-A3E9-82E37B2842F7}" type="pres">
      <dgm:prSet presAssocID="{62019629-4DAA-493B-B309-AA401810181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Web Design"/>
        </a:ext>
      </dgm:extLst>
    </dgm:pt>
    <dgm:pt modelId="{40F8C7AD-5A0F-4F83-9EEB-F0F35E947191}" type="pres">
      <dgm:prSet presAssocID="{62019629-4DAA-493B-B309-AA401810181A}" presName="spaceRect" presStyleCnt="0"/>
      <dgm:spPr/>
    </dgm:pt>
    <dgm:pt modelId="{1848E993-0119-43B9-B188-04BEF2DC06A5}" type="pres">
      <dgm:prSet presAssocID="{62019629-4DAA-493B-B309-AA401810181A}" presName="textRect" presStyleLbl="revTx" presStyleIdx="5" presStyleCnt="6">
        <dgm:presLayoutVars>
          <dgm:chMax val="1"/>
          <dgm:chPref val="1"/>
        </dgm:presLayoutVars>
      </dgm:prSet>
      <dgm:spPr/>
    </dgm:pt>
  </dgm:ptLst>
  <dgm:cxnLst>
    <dgm:cxn modelId="{2A4B5F03-EBAB-4E3D-ABE2-23225B5C8595}" type="presOf" srcId="{0A5152CE-2BDC-4E54-9D5C-507758CADBEA}" destId="{66ED4AF5-01E5-422D-89CB-C3E03B98901C}" srcOrd="0" destOrd="0" presId="urn:microsoft.com/office/officeart/2018/2/layout/IconLabelList"/>
    <dgm:cxn modelId="{E346CB1D-FCD1-427A-86F6-9EEC11A627F1}" srcId="{57223ADE-FD6F-4109-B955-6EC0A069FCDC}" destId="{62019629-4DAA-493B-B309-AA401810181A}" srcOrd="5" destOrd="0" parTransId="{B16C0A8B-2C6C-44EB-A753-BBC1A8A32D45}" sibTransId="{2BBE415D-BB70-406F-8B88-FC5B95F35186}"/>
    <dgm:cxn modelId="{78B9E547-4D92-4778-A913-919E3087D899}" srcId="{57223ADE-FD6F-4109-B955-6EC0A069FCDC}" destId="{DF2BFFA0-DA76-49CE-925F-4B2EF802F41D}" srcOrd="0" destOrd="0" parTransId="{5A3FBD22-1F0F-4E40-8072-2B64DB55A5B5}" sibTransId="{8F82A460-1432-48BF-8A64-A67256AD2EA7}"/>
    <dgm:cxn modelId="{2C5C804B-0483-4ECD-A8B8-9B87F4227C92}" srcId="{57223ADE-FD6F-4109-B955-6EC0A069FCDC}" destId="{DDC2321F-1D19-4F00-8F8F-46376CB45F2C}" srcOrd="2" destOrd="0" parTransId="{206E6B27-E223-431F-A745-66A728EA9757}" sibTransId="{6CA41E78-E17E-47FA-B661-B205FE8218C5}"/>
    <dgm:cxn modelId="{9A7B5657-FD54-4B92-A6B3-B2BDAB29A83F}" type="presOf" srcId="{57223ADE-FD6F-4109-B955-6EC0A069FCDC}" destId="{26D41AB1-5E00-44F4-8349-03DA0E664113}" srcOrd="0" destOrd="0" presId="urn:microsoft.com/office/officeart/2018/2/layout/IconLabelList"/>
    <dgm:cxn modelId="{9FB0FC58-7F8A-457B-B2C5-522C952727FF}" type="presOf" srcId="{DF2BFFA0-DA76-49CE-925F-4B2EF802F41D}" destId="{7D415EF4-8CEC-4565-962A-526B17F2D695}" srcOrd="0" destOrd="0" presId="urn:microsoft.com/office/officeart/2018/2/layout/IconLabelList"/>
    <dgm:cxn modelId="{2C2CC99F-79EC-41B9-859C-5FE29ED53454}" type="presOf" srcId="{23F9357D-6C28-420C-8856-8CC05B20FD0D}" destId="{58DAFB17-D7F5-4436-91D8-18D6B624BE99}" srcOrd="0" destOrd="0" presId="urn:microsoft.com/office/officeart/2018/2/layout/IconLabelList"/>
    <dgm:cxn modelId="{21F4EBA9-3788-4AA3-986F-9BAE663FECF2}" type="presOf" srcId="{DDC2321F-1D19-4F00-8F8F-46376CB45F2C}" destId="{BFC7800F-C971-4325-8C2B-680A8A73F8CC}" srcOrd="0" destOrd="0" presId="urn:microsoft.com/office/officeart/2018/2/layout/IconLabelList"/>
    <dgm:cxn modelId="{12DB4DB2-B746-40DC-B3B1-06A136216653}" srcId="{57223ADE-FD6F-4109-B955-6EC0A069FCDC}" destId="{23F9357D-6C28-420C-8856-8CC05B20FD0D}" srcOrd="1" destOrd="0" parTransId="{9331BC7D-AA12-4C0F-8FDF-4E7EA88EFBDE}" sibTransId="{AADA39A3-7983-4A96-9423-D80B91ABEE80}"/>
    <dgm:cxn modelId="{16EF20BA-AF0E-4D0B-9F34-84208CC8FCB6}" type="presOf" srcId="{8ECD362F-FE32-43AF-A753-647E4597983E}" destId="{9B05FC16-7A89-4514-8147-F417C423703D}" srcOrd="0" destOrd="0" presId="urn:microsoft.com/office/officeart/2018/2/layout/IconLabelList"/>
    <dgm:cxn modelId="{DE7D41DE-CBF1-4E39-B044-4E6F6F421D10}" srcId="{57223ADE-FD6F-4109-B955-6EC0A069FCDC}" destId="{0A5152CE-2BDC-4E54-9D5C-507758CADBEA}" srcOrd="4" destOrd="0" parTransId="{326D8144-C482-41B3-97EF-2AEC811E34D4}" sibTransId="{DDB0B05E-7D50-448C-BF20-1E15E91AEA6E}"/>
    <dgm:cxn modelId="{B5D1D6E4-DBFB-47F2-8839-B2DE6BE60072}" type="presOf" srcId="{62019629-4DAA-493B-B309-AA401810181A}" destId="{1848E993-0119-43B9-B188-04BEF2DC06A5}" srcOrd="0" destOrd="0" presId="urn:microsoft.com/office/officeart/2018/2/layout/IconLabelList"/>
    <dgm:cxn modelId="{377E70EE-08DA-4AD9-A5E0-918636EDD64B}" srcId="{57223ADE-FD6F-4109-B955-6EC0A069FCDC}" destId="{8ECD362F-FE32-43AF-A753-647E4597983E}" srcOrd="3" destOrd="0" parTransId="{B450A7F3-48FB-4532-8586-A65F2957A963}" sibTransId="{78EADE5F-6EE2-4EF5-8B69-3811D54D3F06}"/>
    <dgm:cxn modelId="{3BFFE5B8-8E6E-494C-B4C9-B88170A6B850}" type="presParOf" srcId="{26D41AB1-5E00-44F4-8349-03DA0E664113}" destId="{5D227CA8-AE96-481F-8970-116102C555E1}" srcOrd="0" destOrd="0" presId="urn:microsoft.com/office/officeart/2018/2/layout/IconLabelList"/>
    <dgm:cxn modelId="{526E0F0B-7906-4B82-9801-F32C04C4D6D0}" type="presParOf" srcId="{5D227CA8-AE96-481F-8970-116102C555E1}" destId="{EDAA8892-EEA9-43C8-A159-F708D0D595E7}" srcOrd="0" destOrd="0" presId="urn:microsoft.com/office/officeart/2018/2/layout/IconLabelList"/>
    <dgm:cxn modelId="{1B56AA2D-44B1-401D-B3A7-BC83D2E2E572}" type="presParOf" srcId="{5D227CA8-AE96-481F-8970-116102C555E1}" destId="{10262B26-A40D-4EC2-913D-27A453FBDA36}" srcOrd="1" destOrd="0" presId="urn:microsoft.com/office/officeart/2018/2/layout/IconLabelList"/>
    <dgm:cxn modelId="{B68DF9CC-C065-4E0A-896F-4839949A3DF3}" type="presParOf" srcId="{5D227CA8-AE96-481F-8970-116102C555E1}" destId="{7D415EF4-8CEC-4565-962A-526B17F2D695}" srcOrd="2" destOrd="0" presId="urn:microsoft.com/office/officeart/2018/2/layout/IconLabelList"/>
    <dgm:cxn modelId="{5B7E42DA-138D-4E5A-BC36-42B62875AFE2}" type="presParOf" srcId="{26D41AB1-5E00-44F4-8349-03DA0E664113}" destId="{4F486BEE-6AFB-4843-8633-47BC853F48E9}" srcOrd="1" destOrd="0" presId="urn:microsoft.com/office/officeart/2018/2/layout/IconLabelList"/>
    <dgm:cxn modelId="{46350F7A-BBC7-4260-8308-F01AEC0782CB}" type="presParOf" srcId="{26D41AB1-5E00-44F4-8349-03DA0E664113}" destId="{DD2833B6-1F89-4655-85A3-4423767862E2}" srcOrd="2" destOrd="0" presId="urn:microsoft.com/office/officeart/2018/2/layout/IconLabelList"/>
    <dgm:cxn modelId="{632E822E-BC79-42CF-A751-7219E9432006}" type="presParOf" srcId="{DD2833B6-1F89-4655-85A3-4423767862E2}" destId="{FA49A5D5-1D2E-4A10-BB1F-6DDD6CED267D}" srcOrd="0" destOrd="0" presId="urn:microsoft.com/office/officeart/2018/2/layout/IconLabelList"/>
    <dgm:cxn modelId="{AC31FCB3-6107-4B06-A75D-2DD4622E767C}" type="presParOf" srcId="{DD2833B6-1F89-4655-85A3-4423767862E2}" destId="{5875D1C0-4AB1-4398-8425-B8E531E82304}" srcOrd="1" destOrd="0" presId="urn:microsoft.com/office/officeart/2018/2/layout/IconLabelList"/>
    <dgm:cxn modelId="{6E23410F-FE60-4EB8-8A78-C92657B96B92}" type="presParOf" srcId="{DD2833B6-1F89-4655-85A3-4423767862E2}" destId="{58DAFB17-D7F5-4436-91D8-18D6B624BE99}" srcOrd="2" destOrd="0" presId="urn:microsoft.com/office/officeart/2018/2/layout/IconLabelList"/>
    <dgm:cxn modelId="{CAEB3EE3-A8D6-43EC-AE5C-AA6FAA338A62}" type="presParOf" srcId="{26D41AB1-5E00-44F4-8349-03DA0E664113}" destId="{D47071E9-23A9-4BAE-9891-96B9F81D4C7C}" srcOrd="3" destOrd="0" presId="urn:microsoft.com/office/officeart/2018/2/layout/IconLabelList"/>
    <dgm:cxn modelId="{8DDAB6CA-FBEC-4EDC-ADA2-927035A93503}" type="presParOf" srcId="{26D41AB1-5E00-44F4-8349-03DA0E664113}" destId="{FC6DC954-F4F5-45FF-ADC0-240BB0D40DC5}" srcOrd="4" destOrd="0" presId="urn:microsoft.com/office/officeart/2018/2/layout/IconLabelList"/>
    <dgm:cxn modelId="{A3D3E59C-B4BD-4B8F-96EE-1173537E2EF2}" type="presParOf" srcId="{FC6DC954-F4F5-45FF-ADC0-240BB0D40DC5}" destId="{67259D13-EAE6-44DD-AD13-DF166C1CAACD}" srcOrd="0" destOrd="0" presId="urn:microsoft.com/office/officeart/2018/2/layout/IconLabelList"/>
    <dgm:cxn modelId="{83D4BB17-19F9-40B4-A839-5B29249F4D84}" type="presParOf" srcId="{FC6DC954-F4F5-45FF-ADC0-240BB0D40DC5}" destId="{6A0093A9-9A64-4543-9E18-3A805500B550}" srcOrd="1" destOrd="0" presId="urn:microsoft.com/office/officeart/2018/2/layout/IconLabelList"/>
    <dgm:cxn modelId="{211490C7-D07A-4BA8-854E-D1B7D4CA9320}" type="presParOf" srcId="{FC6DC954-F4F5-45FF-ADC0-240BB0D40DC5}" destId="{BFC7800F-C971-4325-8C2B-680A8A73F8CC}" srcOrd="2" destOrd="0" presId="urn:microsoft.com/office/officeart/2018/2/layout/IconLabelList"/>
    <dgm:cxn modelId="{DA1E0EF8-6628-4907-8053-BCFAFFAFBBE0}" type="presParOf" srcId="{26D41AB1-5E00-44F4-8349-03DA0E664113}" destId="{148D1FF8-1C13-4993-B147-3643A9F06245}" srcOrd="5" destOrd="0" presId="urn:microsoft.com/office/officeart/2018/2/layout/IconLabelList"/>
    <dgm:cxn modelId="{BA13576A-1C9F-4506-96DA-EAAEA29EFEE4}" type="presParOf" srcId="{26D41AB1-5E00-44F4-8349-03DA0E664113}" destId="{FE834BAA-1382-4D94-8118-F3CC1490D171}" srcOrd="6" destOrd="0" presId="urn:microsoft.com/office/officeart/2018/2/layout/IconLabelList"/>
    <dgm:cxn modelId="{1F4EE3E8-0918-40D7-92C7-C0438C0EBE3E}" type="presParOf" srcId="{FE834BAA-1382-4D94-8118-F3CC1490D171}" destId="{CE3A2273-4D38-4838-BB89-9868650651EC}" srcOrd="0" destOrd="0" presId="urn:microsoft.com/office/officeart/2018/2/layout/IconLabelList"/>
    <dgm:cxn modelId="{BA7BE1B0-C2FD-49C2-89B8-AEEEB08047A0}" type="presParOf" srcId="{FE834BAA-1382-4D94-8118-F3CC1490D171}" destId="{080AC5E8-3034-4429-9FEE-813CC721AF7B}" srcOrd="1" destOrd="0" presId="urn:microsoft.com/office/officeart/2018/2/layout/IconLabelList"/>
    <dgm:cxn modelId="{FAF37DCD-5D53-499E-AB1D-02D3F1DFBFCB}" type="presParOf" srcId="{FE834BAA-1382-4D94-8118-F3CC1490D171}" destId="{9B05FC16-7A89-4514-8147-F417C423703D}" srcOrd="2" destOrd="0" presId="urn:microsoft.com/office/officeart/2018/2/layout/IconLabelList"/>
    <dgm:cxn modelId="{446DB9F5-24E5-43DB-84EB-CF2892FBEBB0}" type="presParOf" srcId="{26D41AB1-5E00-44F4-8349-03DA0E664113}" destId="{4C4A974B-E4CC-447C-B5ED-B3B064266600}" srcOrd="7" destOrd="0" presId="urn:microsoft.com/office/officeart/2018/2/layout/IconLabelList"/>
    <dgm:cxn modelId="{0A35F38B-3F57-45A3-9D28-2077C2EDD8A4}" type="presParOf" srcId="{26D41AB1-5E00-44F4-8349-03DA0E664113}" destId="{4F9A97FC-805B-4474-ACF4-2AC4F8F185B3}" srcOrd="8" destOrd="0" presId="urn:microsoft.com/office/officeart/2018/2/layout/IconLabelList"/>
    <dgm:cxn modelId="{522B2E55-5AA8-4212-8797-FDCB02D38BF4}" type="presParOf" srcId="{4F9A97FC-805B-4474-ACF4-2AC4F8F185B3}" destId="{7BEE4EB2-587F-4D37-B8F6-4BE5B681A125}" srcOrd="0" destOrd="0" presId="urn:microsoft.com/office/officeart/2018/2/layout/IconLabelList"/>
    <dgm:cxn modelId="{3CC5B0C9-68C6-4C6A-88C8-F5248F7843E1}" type="presParOf" srcId="{4F9A97FC-805B-4474-ACF4-2AC4F8F185B3}" destId="{D517AF73-6244-4688-BBCB-BC9C78E3F38B}" srcOrd="1" destOrd="0" presId="urn:microsoft.com/office/officeart/2018/2/layout/IconLabelList"/>
    <dgm:cxn modelId="{A2C3CA64-C59B-4D22-8C89-E88A1403CCCD}" type="presParOf" srcId="{4F9A97FC-805B-4474-ACF4-2AC4F8F185B3}" destId="{66ED4AF5-01E5-422D-89CB-C3E03B98901C}" srcOrd="2" destOrd="0" presId="urn:microsoft.com/office/officeart/2018/2/layout/IconLabelList"/>
    <dgm:cxn modelId="{C06C41D8-30CE-47B6-9215-549A04800427}" type="presParOf" srcId="{26D41AB1-5E00-44F4-8349-03DA0E664113}" destId="{73483DCC-BB4E-4047-BCE4-DD545362FE2D}" srcOrd="9" destOrd="0" presId="urn:microsoft.com/office/officeart/2018/2/layout/IconLabelList"/>
    <dgm:cxn modelId="{C344A066-7F05-41FF-B607-F706DC03CE2C}" type="presParOf" srcId="{26D41AB1-5E00-44F4-8349-03DA0E664113}" destId="{FED67555-CD93-47F3-8093-F7C30EE8CC2C}" srcOrd="10" destOrd="0" presId="urn:microsoft.com/office/officeart/2018/2/layout/IconLabelList"/>
    <dgm:cxn modelId="{7983233B-DE13-479A-A851-F8DCAED805D1}" type="presParOf" srcId="{FED67555-CD93-47F3-8093-F7C30EE8CC2C}" destId="{B917C276-BBDB-43C8-A3E9-82E37B2842F7}" srcOrd="0" destOrd="0" presId="urn:microsoft.com/office/officeart/2018/2/layout/IconLabelList"/>
    <dgm:cxn modelId="{71F58C38-335F-4AE2-A104-E6BF64655A7A}" type="presParOf" srcId="{FED67555-CD93-47F3-8093-F7C30EE8CC2C}" destId="{40F8C7AD-5A0F-4F83-9EEB-F0F35E947191}" srcOrd="1" destOrd="0" presId="urn:microsoft.com/office/officeart/2018/2/layout/IconLabelList"/>
    <dgm:cxn modelId="{537FEB9C-099D-4116-98C5-06CBA9DDF079}" type="presParOf" srcId="{FED67555-CD93-47F3-8093-F7C30EE8CC2C}" destId="{1848E993-0119-43B9-B188-04BEF2DC06A5}"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AA8892-EEA9-43C8-A159-F708D0D595E7}">
      <dsp:nvSpPr>
        <dsp:cNvPr id="0" name=""/>
        <dsp:cNvSpPr/>
      </dsp:nvSpPr>
      <dsp:spPr>
        <a:xfrm>
          <a:off x="1138811" y="393188"/>
          <a:ext cx="669990" cy="6699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415EF4-8CEC-4565-962A-526B17F2D695}">
      <dsp:nvSpPr>
        <dsp:cNvPr id="0" name=""/>
        <dsp:cNvSpPr/>
      </dsp:nvSpPr>
      <dsp:spPr>
        <a:xfrm>
          <a:off x="729373" y="1314747"/>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Secure File Transfer – SFTP / SSH / MFT (e.g., IBM Sterling)</a:t>
          </a:r>
        </a:p>
      </dsp:txBody>
      <dsp:txXfrm>
        <a:off x="729373" y="1314747"/>
        <a:ext cx="1488867" cy="595546"/>
      </dsp:txXfrm>
    </dsp:sp>
    <dsp:sp modelId="{FA49A5D5-1D2E-4A10-BB1F-6DDD6CED267D}">
      <dsp:nvSpPr>
        <dsp:cNvPr id="0" name=""/>
        <dsp:cNvSpPr/>
      </dsp:nvSpPr>
      <dsp:spPr>
        <a:xfrm>
          <a:off x="2888230" y="393188"/>
          <a:ext cx="669990" cy="6699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DAFB17-D7F5-4436-91D8-18D6B624BE99}">
      <dsp:nvSpPr>
        <dsp:cNvPr id="0" name=""/>
        <dsp:cNvSpPr/>
      </dsp:nvSpPr>
      <dsp:spPr>
        <a:xfrm>
          <a:off x="2478792" y="1314747"/>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Collaboration Access – M365, eShare, Slack via proxied, logged access</a:t>
          </a:r>
        </a:p>
      </dsp:txBody>
      <dsp:txXfrm>
        <a:off x="2478792" y="1314747"/>
        <a:ext cx="1488867" cy="595546"/>
      </dsp:txXfrm>
    </dsp:sp>
    <dsp:sp modelId="{67259D13-EAE6-44DD-AD13-DF166C1CAACD}">
      <dsp:nvSpPr>
        <dsp:cNvPr id="0" name=""/>
        <dsp:cNvSpPr/>
      </dsp:nvSpPr>
      <dsp:spPr>
        <a:xfrm>
          <a:off x="4637649" y="393188"/>
          <a:ext cx="669990" cy="6699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C7800F-C971-4325-8C2B-680A8A73F8CC}">
      <dsp:nvSpPr>
        <dsp:cNvPr id="0" name=""/>
        <dsp:cNvSpPr/>
      </dsp:nvSpPr>
      <dsp:spPr>
        <a:xfrm>
          <a:off x="4228211" y="1314747"/>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Virtual Desktop (VDI) – Citrix / Microsoft VDI via per-tenant proxies</a:t>
          </a:r>
        </a:p>
      </dsp:txBody>
      <dsp:txXfrm>
        <a:off x="4228211" y="1314747"/>
        <a:ext cx="1488867" cy="595546"/>
      </dsp:txXfrm>
    </dsp:sp>
    <dsp:sp modelId="{CE3A2273-4D38-4838-BB89-9868650651EC}">
      <dsp:nvSpPr>
        <dsp:cNvPr id="0" name=""/>
        <dsp:cNvSpPr/>
      </dsp:nvSpPr>
      <dsp:spPr>
        <a:xfrm>
          <a:off x="6387068" y="393188"/>
          <a:ext cx="669990" cy="6699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05FC16-7A89-4514-8147-F417C423703D}">
      <dsp:nvSpPr>
        <dsp:cNvPr id="0" name=""/>
        <dsp:cNvSpPr/>
      </dsp:nvSpPr>
      <dsp:spPr>
        <a:xfrm>
          <a:off x="5977630" y="1314747"/>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Web Applications – Internal HTTPS apps via reverse proxies with mTLS</a:t>
          </a:r>
        </a:p>
      </dsp:txBody>
      <dsp:txXfrm>
        <a:off x="5977630" y="1314747"/>
        <a:ext cx="1488867" cy="595546"/>
      </dsp:txXfrm>
    </dsp:sp>
    <dsp:sp modelId="{7BEE4EB2-587F-4D37-B8F6-4BE5B681A125}">
      <dsp:nvSpPr>
        <dsp:cNvPr id="0" name=""/>
        <dsp:cNvSpPr/>
      </dsp:nvSpPr>
      <dsp:spPr>
        <a:xfrm>
          <a:off x="2888230" y="2282510"/>
          <a:ext cx="669990" cy="66999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ED4AF5-01E5-422D-89CB-C3E03B98901C}">
      <dsp:nvSpPr>
        <dsp:cNvPr id="0" name=""/>
        <dsp:cNvSpPr/>
      </dsp:nvSpPr>
      <dsp:spPr>
        <a:xfrm>
          <a:off x="2478792" y="3204069"/>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Web APIs – REST/SOAP APIs with mTLS and token/claim-based controls</a:t>
          </a:r>
        </a:p>
      </dsp:txBody>
      <dsp:txXfrm>
        <a:off x="2478792" y="3204069"/>
        <a:ext cx="1488867" cy="595546"/>
      </dsp:txXfrm>
    </dsp:sp>
    <dsp:sp modelId="{B917C276-BBDB-43C8-A3E9-82E37B2842F7}">
      <dsp:nvSpPr>
        <dsp:cNvPr id="0" name=""/>
        <dsp:cNvSpPr/>
      </dsp:nvSpPr>
      <dsp:spPr>
        <a:xfrm>
          <a:off x="4637649" y="2282510"/>
          <a:ext cx="669990" cy="66999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48E993-0119-43B9-B188-04BEF2DC06A5}">
      <dsp:nvSpPr>
        <dsp:cNvPr id="0" name=""/>
        <dsp:cNvSpPr/>
      </dsp:nvSpPr>
      <dsp:spPr>
        <a:xfrm>
          <a:off x="4228211" y="3204069"/>
          <a:ext cx="1488867" cy="595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Each pattern must support both Enterprise and Internet/SaaS paths</a:t>
          </a:r>
        </a:p>
      </dsp:txBody>
      <dsp:txXfrm>
        <a:off x="4228211" y="3204069"/>
        <a:ext cx="1488867" cy="59554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06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deck summarizes the requirements for a Third-Party Landing Zone platform as defined in our RFP.</a:t>
            </a:r>
          </a:p>
          <a:p>
            <a:endParaRPr/>
          </a:p>
          <a:p>
            <a:r>
              <a:t>The key themes are vendor-neutral design, clear service patterns, a self-service portal experience, and strong automation.</a:t>
            </a:r>
          </a:p>
          <a:p>
            <a:endParaRPr/>
          </a:p>
          <a:p>
            <a:r>
              <a:t>We’re not looking for just another VPN product. We’re looking for a platform that application teams can consume through a web portal and APIs.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Communication with external vendors is essential for business success, yet it introduces significant security and operational risks. Traditional connectivity models often lack the necessary isolation, auditability, and scalability required to safeguard enterprise applications. These models typically rely on manual processes that hinder agility and increase complexity, making it difficult for organizations to adapt quickly to evolving business needs. The absence of a standardized, secure, and automated approach to vendor connectivity exposes the enterprise to potential vulnerabilities and inefficiencies. As the volume and diversity of third-party interactions grow, the limitations of existing connectivity solutions become more pronounced, necessitating a transformative approach that addresses both technical and operational challenges.</a:t>
            </a:r>
          </a:p>
        </p:txBody>
      </p:sp>
      <p:sp>
        <p:nvSpPr>
          <p:cNvPr id="4" name="Slide Number Placeholder 3"/>
          <p:cNvSpPr>
            <a:spLocks noGrp="1"/>
          </p:cNvSpPr>
          <p:nvPr>
            <p:ph type="sldNum" sz="quarter" idx="5"/>
          </p:nvPr>
        </p:nvSpPr>
        <p:spPr/>
        <p:txBody>
          <a:bodyPr/>
          <a:lstStyle/>
          <a:p>
            <a:fld id="{28C6B470-179D-4B95-8906-D61C195EFD62}" type="slidenum">
              <a:rPr lang="en-US" smtClean="0"/>
              <a:t>2</a:t>
            </a:fld>
            <a:endParaRPr lang="en-US" dirty="0"/>
          </a:p>
        </p:txBody>
      </p:sp>
    </p:spTree>
    <p:extLst>
      <p:ext uri="{BB962C8B-B14F-4D97-AF65-F5344CB8AC3E}">
        <p14:creationId xmlns:p14="http://schemas.microsoft.com/office/powerpoint/2010/main" val="532096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implementation of the 3PLZ represents a strategic shift from viewing third-party connectivity as a purely technical product to delivering a self-service, process-outcome based solution. This new paradigm leverages automation to provide tangible business value, empowering application development teams to manage their own connectivity needs. By aligning with the DevOps philosophy of 'build, run, own,' the solution enables teams to migrate existing connections independently while maintaining adherence to security best practices. The self-service model fosters agility and innovation, allowing teams to respond quickly to changing requirements. Furthermore, the automated delivery framework ensures consistency and scalability, supporting enhanced capabilities and controls as the organization evolves. This shift not only improves operational efficiency but also reinforces a culture of ownership and accountability within the enterprise.</a:t>
            </a:r>
          </a:p>
        </p:txBody>
      </p:sp>
      <p:sp>
        <p:nvSpPr>
          <p:cNvPr id="4" name="Slide Number Placeholder 3"/>
          <p:cNvSpPr>
            <a:spLocks noGrp="1"/>
          </p:cNvSpPr>
          <p:nvPr>
            <p:ph type="sldNum" sz="quarter" idx="5"/>
          </p:nvPr>
        </p:nvSpPr>
        <p:spPr/>
        <p:txBody>
          <a:bodyPr/>
          <a:lstStyle/>
          <a:p>
            <a:fld id="{28C6B470-179D-4B95-8906-D61C195EFD62}" type="slidenum">
              <a:rPr lang="en-US" smtClean="0"/>
              <a:t>3</a:t>
            </a:fld>
            <a:endParaRPr lang="en-US" dirty="0"/>
          </a:p>
        </p:txBody>
      </p:sp>
    </p:spTree>
    <p:extLst>
      <p:ext uri="{BB962C8B-B14F-4D97-AF65-F5344CB8AC3E}">
        <p14:creationId xmlns:p14="http://schemas.microsoft.com/office/powerpoint/2010/main" val="1100096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u="none" strike="noStrike" kern="1200" dirty="0">
                <a:solidFill>
                  <a:schemeClr val="tx1"/>
                </a:solidFill>
                <a:effectLst/>
                <a:latin typeface="+mn-lt"/>
                <a:ea typeface="+mn-ea"/>
                <a:cs typeface="+mn-cs"/>
              </a:rPr>
              <a:t>This slide summarizes the strategic and architectural foundation of the Third-Party Landing Zone. Our goal is to deliver secure, repeatable, and compliant connectivity for third-party use cases.</a:t>
            </a:r>
          </a:p>
          <a:p>
            <a:r>
              <a:rPr lang="en-US" sz="1200" b="0" i="0" u="none" strike="noStrike" kern="1200" dirty="0">
                <a:solidFill>
                  <a:schemeClr val="tx1"/>
                </a:solidFill>
                <a:effectLst/>
                <a:latin typeface="+mn-lt"/>
                <a:ea typeface="+mn-ea"/>
                <a:cs typeface="+mn-cs"/>
              </a:rPr>
              <a:t>The solution is built on a VPN-based architecture that isolates external access and enforces granular controls through service-specific proxies. These proxies support least privilege, segmentation, and auditable access, ensuring that vendor interactions are tightly governed.</a:t>
            </a:r>
          </a:p>
          <a:p>
            <a:r>
              <a:rPr lang="en-US" sz="1200" b="0" i="0" u="none" strike="noStrike" kern="1200" dirty="0">
                <a:solidFill>
                  <a:schemeClr val="tx1"/>
                </a:solidFill>
                <a:effectLst/>
                <a:latin typeface="+mn-lt"/>
                <a:ea typeface="+mn-ea"/>
                <a:cs typeface="+mn-cs"/>
              </a:rPr>
              <a:t>Automation and self-service onboarding reduce manual operations, improving agility and scalability. The platform aligns with key compliance frameworks like SOC 2, ISO 27001, and NIST standards, while also incorporating identity-aware controls and high availability to support enterprise-grade reliability.</a:t>
            </a:r>
          </a:p>
          <a:p>
            <a:endParaRPr lang="en-US" dirty="0"/>
          </a:p>
        </p:txBody>
      </p:sp>
    </p:spTree>
    <p:extLst>
      <p:ext uri="{BB962C8B-B14F-4D97-AF65-F5344CB8AC3E}">
        <p14:creationId xmlns:p14="http://schemas.microsoft.com/office/powerpoint/2010/main" val="2748373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E871B-6DC1-B45F-C008-154015019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1C9BF-E195-7E74-B8C7-064407D9EA02}"/>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4E0365C-9810-EBC2-A48E-7C4E72DEBA4E}"/>
              </a:ext>
            </a:extLst>
          </p:cNvPr>
          <p:cNvSpPr>
            <a:spLocks noGrp="1"/>
          </p:cNvSpPr>
          <p:nvPr>
            <p:ph type="body" idx="1"/>
          </p:nvPr>
        </p:nvSpPr>
        <p:spPr>
          <a:xfrm>
            <a:off x="685800" y="4400550"/>
            <a:ext cx="5486400" cy="3600450"/>
          </a:xfrm>
          <a:prstGeom prst="rect">
            <a:avLst/>
          </a:prstGeom>
        </p:spPr>
        <p:txBody>
          <a:bodyPr/>
          <a:lstStyle/>
          <a:p>
            <a:r>
              <a:rPr lang="en-US" sz="1200" b="0" i="0" u="none" strike="noStrike" kern="1200" dirty="0">
                <a:solidFill>
                  <a:schemeClr val="tx1"/>
                </a:solidFill>
                <a:effectLst/>
                <a:latin typeface="+mn-lt"/>
                <a:ea typeface="+mn-ea"/>
                <a:cs typeface="+mn-cs"/>
              </a:rPr>
              <a:t>This slide summarizes the strategic and architectural foundation of the Third-Party Landing Zone. Our goal is to deliver secure, repeatable, and compliant connectivity for third-party use cases.</a:t>
            </a:r>
          </a:p>
          <a:p>
            <a:r>
              <a:rPr lang="en-US" sz="1200" b="0" i="0" u="none" strike="noStrike" kern="1200" dirty="0">
                <a:solidFill>
                  <a:schemeClr val="tx1"/>
                </a:solidFill>
                <a:effectLst/>
                <a:latin typeface="+mn-lt"/>
                <a:ea typeface="+mn-ea"/>
                <a:cs typeface="+mn-cs"/>
              </a:rPr>
              <a:t>The solution is built on a VPN-based architecture that isolates external access and enforces granular controls through service-specific proxies. These proxies support least privilege, segmentation, and auditable access, ensuring that vendor interactions are tightly governed.</a:t>
            </a:r>
          </a:p>
          <a:p>
            <a:r>
              <a:rPr lang="en-US" sz="1200" b="0" i="0" u="none" strike="noStrike" kern="1200" dirty="0">
                <a:solidFill>
                  <a:schemeClr val="tx1"/>
                </a:solidFill>
                <a:effectLst/>
                <a:latin typeface="+mn-lt"/>
                <a:ea typeface="+mn-ea"/>
                <a:cs typeface="+mn-cs"/>
              </a:rPr>
              <a:t>Automation and self-service onboarding reduce manual operations, improving agility and scalability. The platform aligns with key compliance frameworks like SOC 2, ISO 27001, and NIST standards, while also incorporating identity-aware controls and high availability to support enterprise-grade reliability.</a:t>
            </a:r>
          </a:p>
          <a:p>
            <a:endParaRPr lang="en-US" dirty="0"/>
          </a:p>
        </p:txBody>
      </p:sp>
    </p:spTree>
    <p:extLst>
      <p:ext uri="{BB962C8B-B14F-4D97-AF65-F5344CB8AC3E}">
        <p14:creationId xmlns:p14="http://schemas.microsoft.com/office/powerpoint/2010/main" val="3012838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central requirement is that the solution be self-service for application teams.</a:t>
            </a:r>
          </a:p>
          <a:p>
            <a:endParaRPr dirty="0"/>
          </a:p>
          <a:p>
            <a:r>
              <a:rPr dirty="0"/>
              <a:t>The web portal is the primary front door: app owners use guided forms to request connectivity based on patterns.</a:t>
            </a:r>
          </a:p>
          <a:p>
            <a:endParaRPr dirty="0"/>
          </a:p>
          <a:p>
            <a:r>
              <a:rPr dirty="0"/>
              <a:t>Those forms collect the necessary technical and business data but do not require deep network or security expertise from the requester.</a:t>
            </a:r>
          </a:p>
          <a:p>
            <a:endParaRPr dirty="0"/>
          </a:p>
          <a:p>
            <a:r>
              <a:rPr dirty="0"/>
              <a:t>All portal capabilities must also be available through APIs so teams can integrate with Terraform, CI/CD pipelines, or other automation.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VLZ and tenant model are central to how we isolate third parties.</a:t>
            </a:r>
          </a:p>
          <a:p>
            <a:endParaRPr/>
          </a:p>
          <a:p>
            <a:r>
              <a:t>Each third-party connection lives in its own VLZ tenant that cannot directly route to internal networks.</a:t>
            </a:r>
          </a:p>
          <a:p>
            <a:endParaRPr/>
          </a:p>
          <a:p>
            <a:r>
              <a:t>Within that tenant, we define address blocks, tunnel interfaces, optional BGP sessions, DNS views, service proxies, and logging.</a:t>
            </a:r>
          </a:p>
          <a:p>
            <a:endParaRPr/>
          </a:p>
          <a:p>
            <a:r>
              <a:t>Tenant identity ties together the owner, vendor, application, and other attributes that drive policy, access control, and logging.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walks through a concrete example of the portal experience for a Secure File Transfer pattern.</a:t>
            </a:r>
          </a:p>
          <a:p>
            <a:endParaRPr/>
          </a:p>
          <a:p>
            <a:r>
              <a:t>The form collects business context, third-party details, network endpoints, service specifics, and data sensitivity information.</a:t>
            </a:r>
          </a:p>
          <a:p>
            <a:endParaRPr/>
          </a:p>
          <a:p>
            <a:r>
              <a:t>The platform validates that required fields are present, ports and protocols are within policy, and cipher requirements are met.</a:t>
            </a:r>
          </a:p>
          <a:p>
            <a:endParaRPr/>
          </a:p>
          <a:p>
            <a:r>
              <a:t>It then maps the request to the standard SFTP pattern, associates it with a specific VLZ tenant, and routes it through the appropriate approval workflow for security and compliance review.</a:t>
            </a:r>
          </a:p>
          <a:p>
            <a:endParaRPr/>
          </a:p>
          <a:p>
            <a:r>
              <a:t>The vendor solution should show how such a form is implemented, including validation and workflow, and how it drives automation in the backend.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presents a portal form example for a Web API pattern.</a:t>
            </a:r>
          </a:p>
          <a:p>
            <a:endParaRPr/>
          </a:p>
          <a:p>
            <a:r>
              <a:t>The form captures business context and detailed API metadata, including the internal FQDN and base path, allowed methods, and third-party attributes such as regions and support windows.</a:t>
            </a:r>
          </a:p>
          <a:p>
            <a:endParaRPr/>
          </a:p>
          <a:p>
            <a:r>
              <a:t>It also collects authentication and identity requirements—such as mTLS, OAuth2/JWT with specific scopes, or API keys—together with data classification information.</a:t>
            </a:r>
          </a:p>
          <a:p>
            <a:endParaRPr/>
          </a:p>
          <a:p>
            <a:r>
              <a:t>The platform validates fields, ensures that HTTP methods, ports, and crypto settings comply with policy, and uses classification to trigger stronger controls where necessary.</a:t>
            </a:r>
          </a:p>
          <a:p>
            <a:endParaRPr/>
          </a:p>
          <a:p>
            <a:r>
              <a:t>Once validated, the request is mapped to the standard Web API pattern and associated with the correct VLZ tenant, providing a consistent context for subsequent automation.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how the platform should behave for Web APIs once a Service Profile is defined.</a:t>
            </a:r>
          </a:p>
          <a:p>
            <a:endParaRPr/>
          </a:p>
          <a:p>
            <a:r>
              <a:t>For each tenant, the platform exposes a tenant-specific API endpoint and forwards calls to the internal API using mTLS where possible.</a:t>
            </a:r>
          </a:p>
          <a:p>
            <a:endParaRPr/>
          </a:p>
          <a:p>
            <a:r>
              <a:t>The proxy normalizes paths and headers according to the Service Profile and enforces policy at the HTTP layer: allowed methods, paths, rate limits, and optional IP restrictions.</a:t>
            </a:r>
          </a:p>
          <a:p>
            <a:endParaRPr/>
          </a:p>
          <a:p>
            <a:r>
              <a:t>It supports multiple authentication schemes, including mTLS, JWT/OAuth2 tokens, and API keys, verifying them according to the profile definitions.</a:t>
            </a:r>
          </a:p>
          <a:p>
            <a:endParaRPr/>
          </a:p>
          <a:p>
            <a:r>
              <a:t>On the observability side, the platform must provide per-tenant logging and metrics with correlation IDs, status codes, and latency, and integrate that data into the enterprise observability stack.</a:t>
            </a:r>
          </a:p>
          <a:p>
            <a:endParaRPr/>
          </a:p>
          <a:p>
            <a:r>
              <a:t>All telemetry should be tagged with tenant, vendor, application, and data classification for strong governance and reporting.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a request is approved, the platform should automatically generate a complete IPsec configuration bundle for the third party.</a:t>
            </a:r>
          </a:p>
          <a:p>
            <a:endParaRPr/>
          </a:p>
          <a:p>
            <a:r>
              <a:t>That bundle includes IKEv2 parameters, cryptographic proposals, tunnel interface details, and BGP information where used.</a:t>
            </a:r>
          </a:p>
          <a:p>
            <a:endParaRPr/>
          </a:p>
          <a:p>
            <a:r>
              <a:t>We expect vendors to support templates for major firewall and router platforms so remote configuration is straightforward.</a:t>
            </a:r>
          </a:p>
          <a:p>
            <a:endParaRPr/>
          </a:p>
          <a:p>
            <a:r>
              <a:t>On our side, tunnels should terminate on location-agnostic anchors, such as loopback or Anycast addresses, to support high availability and flexible routing.</a:t>
            </a:r>
          </a:p>
          <a:p>
            <a:endParaRPr/>
          </a:p>
          <a:p>
            <a:r>
              <a:t>The key point: the IPsec configuration is generated from templates and portal data, not hand-crafted by engineers for each vendor.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Service proxies and service profiles are the application-level control plane.</a:t>
            </a:r>
          </a:p>
          <a:p>
            <a:endParaRPr/>
          </a:p>
          <a:p>
            <a:r>
              <a:t>For each tenant, the platform exposes proxies for SFTP, VDI, web apps, web APIs, and SaaS.</a:t>
            </a:r>
          </a:p>
          <a:p>
            <a:endParaRPr/>
          </a:p>
          <a:p>
            <a:r>
              <a:t>Application owners use the portal to define Service Profiles by choosing a service type, providing FQDNs and ports, and selecting additional controls such as IP restrictions or authentication requirements.</a:t>
            </a:r>
          </a:p>
          <a:p>
            <a:endParaRPr/>
          </a:p>
          <a:p>
            <a:r>
              <a:t>The solution must take these profiles and automatically generate the proxy configuration, security groups or ACLs, and DNS rules that govern how traffic flows from the VLZ to the target services.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Identity, DNS, and observability must be first-class capabilities.</a:t>
            </a:r>
          </a:p>
          <a:p>
            <a:endParaRPr/>
          </a:p>
          <a:p>
            <a:r>
              <a:t>RBAC in the portal and APIs ensures that only authorized users can request, approve, or modify connectivity.</a:t>
            </a:r>
          </a:p>
          <a:p>
            <a:endParaRPr/>
          </a:p>
          <a:p>
            <a:r>
              <a:t>Tenant-linked identities are used in policy decisions and approvals.</a:t>
            </a:r>
          </a:p>
          <a:p>
            <a:endParaRPr/>
          </a:p>
          <a:p>
            <a:r>
              <a:t>DNS acts as a control plane, with per-tenant views, split-horizon behavior, and conditional forwarding as needed.</a:t>
            </a:r>
          </a:p>
          <a:p>
            <a:endParaRPr/>
          </a:p>
          <a:p>
            <a:r>
              <a:t>Finally, vendors must provide detailed, per-tenant logging and metrics for DNS, proxy transactions, and tunnel state, and integrate with our SIEM and observability stacks.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Automation and scale are major selection criteria.</a:t>
            </a:r>
          </a:p>
          <a:p>
            <a:endParaRPr/>
          </a:p>
          <a:p>
            <a:r>
              <a:t>Everything the portal can do should also be possible through well-documented APIs so we can automate via Terraform, Ansible, or CI pipelines.</a:t>
            </a:r>
          </a:p>
          <a:p>
            <a:endParaRPr/>
          </a:p>
          <a:p>
            <a:r>
              <a:t>We are targeting around 1000 tenants, each potentially using multiple service patterns, so the platform must scale horizontally and provide high availability.</a:t>
            </a:r>
          </a:p>
          <a:p>
            <a:endParaRPr/>
          </a:p>
          <a:p>
            <a:r>
              <a:t>We also expect standards-compliant cryptography and upgrade processes that minimize disruption to existing tenants.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sets clear expectations on what the business provides versus what we expect from the vendor platform.</a:t>
            </a:r>
          </a:p>
          <a:p>
            <a:endParaRPr/>
          </a:p>
          <a:p>
            <a:r>
              <a:t>On the business side, we must provide an application governance mechanism that issues Universal Application IDs and a Universal Identifier for third-party partners, the 3pBID.</a:t>
            </a:r>
          </a:p>
          <a:p>
            <a:endParaRPr/>
          </a:p>
          <a:p>
            <a:r>
              <a:t>Those identifiers are used to create and label site-to-site VPN connections between partners and Virtual Tenants and to identify entities when generating mTLS certificates for Web and Web API connections.</a:t>
            </a:r>
          </a:p>
          <a:p>
            <a:endParaRPr/>
          </a:p>
          <a:p>
            <a:r>
              <a:t>The business is also responsible for operating PKI processes to generate and securely deliver mTLS certificates, and for providing SAML/OAuth2/OIDC identity providers for SSO and role-based access to the Virtual Tenant portal.</a:t>
            </a:r>
          </a:p>
          <a:p>
            <a:endParaRPr/>
          </a:p>
          <a:p>
            <a:r>
              <a:t>On the vendor side, the platform must consume these identifiers as first-class attributes in the tenant model and configuration APIs, automatically build VPNs and service proxies from portal data, and integrate cleanly with our PKI and identity providers.</a:t>
            </a:r>
          </a:p>
          <a:p>
            <a:endParaRPr/>
          </a:p>
          <a:p>
            <a:r>
              <a:t>This division of responsibilities makes it clear that governance, identity, and certificate issuance remain enterprise functions, while the vendor focuses on automation, enforcement, and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final slide summarizes what we want to see in responses.</a:t>
            </a:r>
          </a:p>
          <a:p>
            <a:endParaRPr/>
          </a:p>
          <a:p>
            <a:r>
              <a:t>Vendors should describe end-to-end workflows starting from an application owner using the portal, through approval, to automated IPsec and service proxy deployment.</a:t>
            </a:r>
          </a:p>
          <a:p>
            <a:endParaRPr/>
          </a:p>
          <a:p>
            <a:r>
              <a:t>They should show how their platform implements each of the required service patterns in a vendor-neutral, standards-based way.</a:t>
            </a:r>
          </a:p>
          <a:p>
            <a:endParaRPr/>
          </a:p>
          <a:p>
            <a:r>
              <a:t>We expect concrete evidence of self-service forms that generate remote IPsec bundles, VLZ tenant configuration, and proxy rules, plus reference architectures, runbooks, and automation artifacts.</a:t>
            </a:r>
          </a:p>
          <a:p>
            <a:endParaRPr/>
          </a:p>
          <a:p>
            <a:r>
              <a:t>Finally, responses should map capabilities not only to our security, compliance, and scalability requirements, but also to the shared responsibility model between the business and the vendor platform.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0046" y="1112104"/>
            <a:ext cx="5507673"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20045" y="2187258"/>
            <a:ext cx="5507674" cy="4099242"/>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userDrawn="1"/>
        </p:nvCxnSpPr>
        <p:spPr>
          <a:xfrm>
            <a:off x="0" y="1206128"/>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820045" y="6438900"/>
            <a:ext cx="4334291" cy="419100"/>
          </a:xfrm>
        </p:spPr>
        <p:txBody>
          <a:bodyPr/>
          <a:lstStyle/>
          <a:p>
            <a:r>
              <a:rPr lang="en-US" dirty="0"/>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5221991" y="6438900"/>
            <a:ext cx="648528" cy="419100"/>
          </a:xfrm>
        </p:spPr>
        <p:txBody>
          <a:bodyPr/>
          <a:lstStyle/>
          <a:p>
            <a:fld id="{2ABAD28B-DD56-4B56-883A-96608C765E28}" type="datetimeFigureOut">
              <a:rPr lang="en-US" smtClean="0"/>
              <a:pPr/>
              <a:t>11/12/25</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5876642" y="6438900"/>
            <a:ext cx="451077"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6499170" y="0"/>
            <a:ext cx="264482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36307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Third-Party Landing Zone (3PLZ) – RFP Overview</a:t>
            </a:r>
          </a:p>
        </p:txBody>
      </p:sp>
      <p:sp>
        <p:nvSpPr>
          <p:cNvPr id="3" name="Subtitle 2"/>
          <p:cNvSpPr>
            <a:spLocks noGrp="1"/>
          </p:cNvSpPr>
          <p:nvPr>
            <p:ph type="subTitle" idx="1"/>
          </p:nvPr>
        </p:nvSpPr>
        <p:spPr/>
        <p:txBody>
          <a:bodyPr>
            <a:normAutofit fontScale="70000" lnSpcReduction="20000"/>
          </a:bodyPr>
          <a:lstStyle/>
          <a:p>
            <a:r>
              <a:rPr dirty="0"/>
              <a:t>Vendor-Neutral Requirements for Self-Service Third-Party Connectivity</a:t>
            </a:r>
            <a:r>
              <a:rPr lang="en-US" dirty="0"/>
              <a:t> Solution </a:t>
            </a:r>
            <a:endParaRPr dirty="0"/>
          </a:p>
          <a:p>
            <a:endParaRPr dirty="0"/>
          </a:p>
          <a:p>
            <a:r>
              <a:rPr lang="en-US" dirty="0"/>
              <a:t>Michael J. Martin </a:t>
            </a:r>
          </a:p>
          <a:p>
            <a:r>
              <a:rPr lang="en-US" dirty="0"/>
              <a:t>Network Security Engineering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27B5-B62F-6785-8550-6AC72427F1E6}"/>
              </a:ext>
            </a:extLst>
          </p:cNvPr>
          <p:cNvSpPr>
            <a:spLocks noGrp="1"/>
          </p:cNvSpPr>
          <p:nvPr>
            <p:ph type="title"/>
          </p:nvPr>
        </p:nvSpPr>
        <p:spPr>
          <a:xfrm>
            <a:off x="820046" y="1691328"/>
            <a:ext cx="5507673" cy="699516"/>
          </a:xfrm>
        </p:spPr>
        <p:txBody>
          <a:bodyPr anchor="t">
            <a:normAutofit fontScale="90000"/>
          </a:bodyPr>
          <a:lstStyle/>
          <a:p>
            <a:r>
              <a:rPr lang="en-US" dirty="0"/>
              <a:t>A Case For Change</a:t>
            </a:r>
          </a:p>
        </p:txBody>
      </p:sp>
      <p:sp>
        <p:nvSpPr>
          <p:cNvPr id="4" name="Content Placeholder 3">
            <a:extLst>
              <a:ext uri="{FF2B5EF4-FFF2-40B4-BE49-F238E27FC236}">
                <a16:creationId xmlns:a16="http://schemas.microsoft.com/office/drawing/2014/main" id="{F74347F7-1C3A-BE77-BE2B-7F915A9C6E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0045" y="2497693"/>
            <a:ext cx="5507674" cy="3618492"/>
          </a:xfrm>
        </p:spPr>
        <p:txBody>
          <a:bodyPr>
            <a:normAutofit/>
          </a:bodyPr>
          <a:lstStyle/>
          <a:p>
            <a:pPr marL="0" indent="0">
              <a:buNone/>
            </a:pPr>
            <a:r>
              <a:rPr lang="en-US" dirty="0"/>
              <a:t>Traditional enterprise approaches to third-party connectivity are no longer sufficient. They lack isolation, auditability, and scalability—creating security gaps and reducing business agility. Manual processes introduce inefficiencies and increase risk, while growing third-party interactions amplify these challenges. At the same time, evolving regulatory requirements and sophisticated cyber threats demand a standardized, automated approach that enforces least privilege, segmentation, and identity-aware controls to ensure compliance and operational resilience.</a:t>
            </a:r>
          </a:p>
          <a:p>
            <a:pPr marL="0" indent="0">
              <a:buNone/>
            </a:pPr>
            <a:endParaRPr lang="en-US" dirty="0"/>
          </a:p>
          <a:p>
            <a:pPr marL="0" indent="0">
              <a:buNone/>
            </a:pPr>
            <a:r>
              <a:rPr lang="en-US" dirty="0"/>
              <a:t>To address these challenges, the enterprise must </a:t>
            </a:r>
            <a:r>
              <a:rPr lang="en-US" b="1" dirty="0"/>
              <a:t>transition from insecure, unsupportable legacy models to a modern, service-oriented capability</a:t>
            </a:r>
            <a:r>
              <a:rPr lang="en-US" dirty="0"/>
              <a:t>. This new approach empowers business units through </a:t>
            </a:r>
            <a:r>
              <a:rPr lang="en-US" b="1" dirty="0"/>
              <a:t>self-service onboarding, automation, and end-to-end governance</a:t>
            </a:r>
            <a:r>
              <a:rPr lang="en-US" dirty="0"/>
              <a:t>, delivering a secure, repeatable, and compliant connectivity framework that accelerates time-to-market while reducing operational risk.</a:t>
            </a:r>
            <a:br>
              <a:rPr lang="en-US" dirty="0"/>
            </a:br>
            <a:endParaRPr lang="en-US" sz="1050" dirty="0"/>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64AD47C7-B7E5-445D-AEFE-7E79FBD16C7B}"/>
              </a:ext>
            </a:extLst>
          </p:cNvPr>
          <p:cNvPicPr>
            <a:picLocks noGrp="1" noChangeAspect="1"/>
          </p:cNvPicPr>
          <p:nvPr>
            <p:ph type="pic" sz="quarter" idx="13"/>
          </p:nvPr>
        </p:nvPicPr>
        <p:blipFill>
          <a:blip r:embed="rId3"/>
          <a:srcRect l="20124" r="41310"/>
          <a:stretch>
            <a:fillRect/>
          </a:stretch>
        </p:blipFill>
        <p:spPr>
          <a:xfrm>
            <a:off x="6499170" y="857257"/>
            <a:ext cx="2644829" cy="5143493"/>
          </a:xfrm>
          <a:prstGeom prst="rect">
            <a:avLst/>
          </a:prstGeom>
          <a:noFill/>
        </p:spPr>
      </p:pic>
    </p:spTree>
    <p:extLst>
      <p:ext uri="{BB962C8B-B14F-4D97-AF65-F5344CB8AC3E}">
        <p14:creationId xmlns:p14="http://schemas.microsoft.com/office/powerpoint/2010/main" val="30868974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6AA65-8D1D-9F32-C051-F574E7C17C56}"/>
              </a:ext>
            </a:extLst>
          </p:cNvPr>
          <p:cNvSpPr>
            <a:spLocks noGrp="1"/>
          </p:cNvSpPr>
          <p:nvPr>
            <p:ph type="title"/>
          </p:nvPr>
        </p:nvSpPr>
        <p:spPr>
          <a:xfrm>
            <a:off x="820046" y="1691328"/>
            <a:ext cx="5507673" cy="699516"/>
          </a:xfrm>
        </p:spPr>
        <p:txBody>
          <a:bodyPr anchor="t">
            <a:noAutofit/>
          </a:bodyPr>
          <a:lstStyle/>
          <a:p>
            <a:r>
              <a:rPr lang="en-US" sz="2800" dirty="0"/>
              <a:t>Delivering Change a Strategic Shift</a:t>
            </a:r>
          </a:p>
        </p:txBody>
      </p:sp>
      <p:sp>
        <p:nvSpPr>
          <p:cNvPr id="4" name="Content Placeholder 3">
            <a:extLst>
              <a:ext uri="{FF2B5EF4-FFF2-40B4-BE49-F238E27FC236}">
                <a16:creationId xmlns:a16="http://schemas.microsoft.com/office/drawing/2014/main" id="{A42973BB-E57A-EB07-5E80-CE87098530B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0045" y="2497693"/>
            <a:ext cx="5507674" cy="3074432"/>
          </a:xfrm>
        </p:spPr>
        <p:txBody>
          <a:bodyPr>
            <a:normAutofit/>
          </a:bodyPr>
          <a:lstStyle/>
          <a:p>
            <a:pPr marL="0" indent="0">
              <a:buNone/>
            </a:pPr>
            <a:r>
              <a:rPr lang="en-US" sz="1050" b="1" dirty="0"/>
              <a:t>Empowering Application Teams</a:t>
            </a:r>
            <a:br>
              <a:rPr lang="en-US" sz="1050" dirty="0"/>
            </a:br>
            <a:r>
              <a:rPr lang="en-US" sz="1050" dirty="0"/>
              <a:t>This shift enables application teams to independently manage connectivity through a </a:t>
            </a:r>
            <a:r>
              <a:rPr lang="en-US" sz="1050" b="1" dirty="0"/>
              <a:t>self-service, outcome-driven model</a:t>
            </a:r>
            <a:r>
              <a:rPr lang="en-US" sz="1050" dirty="0"/>
              <a:t>, reducing reliance on centralized processes and accelerating delivery</a:t>
            </a:r>
          </a:p>
          <a:p>
            <a:pPr marL="0" indent="0">
              <a:buNone/>
            </a:pPr>
            <a:endParaRPr lang="en-US" sz="1050" dirty="0"/>
          </a:p>
          <a:p>
            <a:pPr marL="0" indent="0">
              <a:buNone/>
            </a:pPr>
            <a:r>
              <a:rPr lang="en-US" sz="1050" b="1" dirty="0"/>
              <a:t>Alignment with DevOps</a:t>
            </a:r>
            <a:br>
              <a:rPr lang="en-US" sz="1050" dirty="0"/>
            </a:br>
            <a:r>
              <a:rPr lang="en-US" sz="1050" dirty="0"/>
              <a:t>By allowing teams to </a:t>
            </a:r>
            <a:r>
              <a:rPr lang="en-US" sz="1050" b="1" dirty="0"/>
              <a:t>build, run, and own their connections securely</a:t>
            </a:r>
            <a:r>
              <a:rPr lang="en-US" sz="1050" dirty="0"/>
              <a:t>, this approach reinforces DevOps principles and promotes agility across the enterprise.</a:t>
            </a:r>
          </a:p>
          <a:p>
            <a:pPr marL="0" indent="0">
              <a:buNone/>
            </a:pPr>
            <a:endParaRPr lang="en-US" sz="1050" dirty="0"/>
          </a:p>
          <a:p>
            <a:pPr marL="0" indent="0">
              <a:buNone/>
            </a:pPr>
            <a:r>
              <a:rPr lang="en-US" sz="1050" b="1" dirty="0"/>
              <a:t>Automation and Scalability</a:t>
            </a:r>
            <a:br>
              <a:rPr lang="en-US" sz="1050" dirty="0"/>
            </a:br>
            <a:r>
              <a:rPr lang="en-US" sz="1050" dirty="0"/>
              <a:t>Automated delivery frameworks ensure </a:t>
            </a:r>
            <a:r>
              <a:rPr lang="en-US" sz="1050" b="1" dirty="0"/>
              <a:t>consistent, repeatable, and scalable connectivity</a:t>
            </a:r>
            <a:r>
              <a:rPr lang="en-US" sz="1050" dirty="0"/>
              <a:t>, while embedding compliance and governance controls into every step.</a:t>
            </a:r>
          </a:p>
          <a:p>
            <a:pPr marL="0" indent="0">
              <a:buNone/>
            </a:pPr>
            <a:endParaRPr lang="en-US" sz="1050" dirty="0"/>
          </a:p>
          <a:p>
            <a:pPr marL="0" indent="0">
              <a:buNone/>
            </a:pPr>
            <a:r>
              <a:rPr lang="en-US" sz="1050" b="1" dirty="0"/>
              <a:t>Operational Efficiency and Ownership</a:t>
            </a:r>
            <a:br>
              <a:rPr lang="en-US" sz="1050" dirty="0"/>
            </a:br>
            <a:r>
              <a:rPr lang="en-US" sz="1050" dirty="0"/>
              <a:t>The strategic shift fosters </a:t>
            </a:r>
            <a:r>
              <a:rPr lang="en-US" sz="1050" b="1" dirty="0"/>
              <a:t>enterprise-wide efficiency</a:t>
            </a:r>
            <a:r>
              <a:rPr lang="en-US" sz="1050" dirty="0"/>
              <a:t>, reducing manual effort and reinforcing a culture of </a:t>
            </a:r>
            <a:r>
              <a:rPr lang="en-US" sz="1050" b="1" dirty="0"/>
              <a:t>ownership and accountability</a:t>
            </a:r>
            <a:r>
              <a:rPr lang="en-US" sz="1050" dirty="0"/>
              <a:t> for secure connectivity.</a:t>
            </a:r>
          </a:p>
          <a:p>
            <a:pPr marL="0" indent="0">
              <a:buNone/>
            </a:pPr>
            <a:endParaRPr lang="en-US" sz="1050" dirty="0"/>
          </a:p>
        </p:txBody>
      </p:sp>
      <p:pic>
        <p:nvPicPr>
          <p:cNvPr id="5" name="Content Placeholder 4" descr="technology and innovation concept">
            <a:extLst>
              <a:ext uri="{FF2B5EF4-FFF2-40B4-BE49-F238E27FC236}">
                <a16:creationId xmlns:a16="http://schemas.microsoft.com/office/drawing/2014/main" id="{54B32554-D336-4EC3-AEC3-49BE05606E00}"/>
              </a:ext>
            </a:extLst>
          </p:cNvPr>
          <p:cNvPicPr>
            <a:picLocks noGrp="1" noChangeAspect="1"/>
          </p:cNvPicPr>
          <p:nvPr>
            <p:ph type="pic" sz="quarter" idx="13"/>
          </p:nvPr>
        </p:nvPicPr>
        <p:blipFill>
          <a:blip r:embed="rId3"/>
          <a:srcRect l="30026" r="31408"/>
          <a:stretch>
            <a:fillRect/>
          </a:stretch>
        </p:blipFill>
        <p:spPr>
          <a:xfrm>
            <a:off x="6499170" y="857257"/>
            <a:ext cx="2644829" cy="5143493"/>
          </a:xfrm>
          <a:prstGeom prst="rect">
            <a:avLst/>
          </a:prstGeom>
          <a:noFill/>
        </p:spPr>
      </p:pic>
    </p:spTree>
    <p:extLst>
      <p:ext uri="{BB962C8B-B14F-4D97-AF65-F5344CB8AC3E}">
        <p14:creationId xmlns:p14="http://schemas.microsoft.com/office/powerpoint/2010/main" val="29855521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0F204-4DE7-5237-F554-C1D3129B4AF7}"/>
              </a:ext>
            </a:extLst>
          </p:cNvPr>
          <p:cNvSpPr>
            <a:spLocks noGrp="1"/>
          </p:cNvSpPr>
          <p:nvPr>
            <p:ph type="title"/>
          </p:nvPr>
        </p:nvSpPr>
        <p:spPr>
          <a:xfrm>
            <a:off x="457200" y="1025910"/>
            <a:ext cx="5556040" cy="1143000"/>
          </a:xfrm>
        </p:spPr>
        <p:txBody>
          <a:bodyPr>
            <a:normAutofit/>
          </a:bodyPr>
          <a:lstStyle/>
          <a:p>
            <a:r>
              <a:rPr lang="en-US" sz="3200" dirty="0"/>
              <a:t>Proposed Way Forward: 3PLZ </a:t>
            </a:r>
          </a:p>
        </p:txBody>
      </p:sp>
      <p:sp>
        <p:nvSpPr>
          <p:cNvPr id="23" name="TextBox 22">
            <a:extLst>
              <a:ext uri="{FF2B5EF4-FFF2-40B4-BE49-F238E27FC236}">
                <a16:creationId xmlns:a16="http://schemas.microsoft.com/office/drawing/2014/main" id="{60976298-F65A-0C7D-990B-93201AC1548C}"/>
              </a:ext>
            </a:extLst>
          </p:cNvPr>
          <p:cNvSpPr txBox="1"/>
          <p:nvPr/>
        </p:nvSpPr>
        <p:spPr>
          <a:xfrm>
            <a:off x="275531" y="2168910"/>
            <a:ext cx="6101046" cy="3231654"/>
          </a:xfrm>
          <a:prstGeom prst="rect">
            <a:avLst/>
          </a:prstGeom>
          <a:noFill/>
        </p:spPr>
        <p:txBody>
          <a:bodyPr wrap="square">
            <a:spAutoFit/>
          </a:bodyPr>
          <a:lstStyle/>
          <a:p>
            <a:r>
              <a:rPr lang="en-US" sz="1050" b="1" dirty="0"/>
              <a:t>Standardized IPSec Connectivity</a:t>
            </a:r>
          </a:p>
          <a:p>
            <a:r>
              <a:rPr lang="en-US" sz="1050" dirty="0"/>
              <a:t>The solution delivers </a:t>
            </a:r>
            <a:r>
              <a:rPr lang="en-US" sz="1050" b="1" dirty="0"/>
              <a:t>secure, standardized IPSec VPN connectivity</a:t>
            </a:r>
            <a:r>
              <a:rPr lang="en-US" sz="1050" dirty="0"/>
              <a:t> for third-party access, supporting leading platforms such as </a:t>
            </a:r>
            <a:r>
              <a:rPr lang="en-US" sz="1050" b="1" dirty="0"/>
              <a:t>Cisco, Arista, Palo Alto, and Fortinet</a:t>
            </a:r>
            <a:r>
              <a:rPr lang="en-US" sz="1050" dirty="0"/>
              <a:t>. Configurations are validated through virtual lab testing and require only basic, easily collectable data points for deployment.</a:t>
            </a:r>
            <a:br>
              <a:rPr lang="en-US" sz="1050" dirty="0"/>
            </a:br>
            <a:r>
              <a:rPr lang="en-US" sz="1050" dirty="0"/>
              <a:t>Connectivity supports </a:t>
            </a:r>
            <a:r>
              <a:rPr lang="en-US" sz="1050" b="1" dirty="0"/>
              <a:t>peer-to-peer routing via BGP or static IP</a:t>
            </a:r>
            <a:r>
              <a:rPr lang="en-US" sz="1050" dirty="0"/>
              <a:t>, restricted exclusively between the </a:t>
            </a:r>
            <a:r>
              <a:rPr lang="en-US" sz="1050" b="1" dirty="0"/>
              <a:t>Virtual Tenant</a:t>
            </a:r>
            <a:r>
              <a:rPr lang="en-US" sz="1050" dirty="0"/>
              <a:t> and the third-party network. All communication between third parties and the enterprise occurs through </a:t>
            </a:r>
            <a:r>
              <a:rPr lang="en-US" sz="1050" b="1" dirty="0"/>
              <a:t>application-specific proxies</a:t>
            </a:r>
            <a:r>
              <a:rPr lang="en-US" sz="1050" dirty="0"/>
              <a:t>, ensuring isolation and security.</a:t>
            </a:r>
            <a:br>
              <a:rPr lang="en-US" sz="1050" dirty="0"/>
            </a:br>
            <a:r>
              <a:rPr lang="en-US" sz="1050" dirty="0"/>
              <a:t>The architecture employs </a:t>
            </a:r>
            <a:r>
              <a:rPr lang="en-US" sz="1050" b="1" dirty="0"/>
              <a:t>Active/Passive HA with a single tunnel design</a:t>
            </a:r>
            <a:r>
              <a:rPr lang="en-US" sz="1050" dirty="0"/>
              <a:t>, featuring </a:t>
            </a:r>
            <a:r>
              <a:rPr lang="en-US" sz="1050" b="1" dirty="0"/>
              <a:t>unique per-tenant IP tunnel endpoints</a:t>
            </a:r>
            <a:r>
              <a:rPr lang="en-US" sz="1050" dirty="0"/>
              <a:t> for clear segmentation.</a:t>
            </a:r>
          </a:p>
          <a:p>
            <a:endParaRPr lang="en-US" sz="1050" dirty="0"/>
          </a:p>
          <a:p>
            <a:r>
              <a:rPr lang="en-US" sz="1050" b="1" dirty="0"/>
              <a:t>Virtual Tenant Architecture</a:t>
            </a:r>
          </a:p>
          <a:p>
            <a:r>
              <a:rPr lang="en-US" sz="1050" dirty="0"/>
              <a:t>The Virtual Landing Zone operates on a </a:t>
            </a:r>
            <a:r>
              <a:rPr lang="en-US" sz="1050" b="1" dirty="0"/>
              <a:t>split-brain proxy model</a:t>
            </a:r>
            <a:r>
              <a:rPr lang="en-US" sz="1050" dirty="0"/>
              <a:t>, maintaining separate routing domains for third-party and enterprise environments. It includes </a:t>
            </a:r>
            <a:r>
              <a:rPr lang="en-US" sz="1050" b="1" dirty="0"/>
              <a:t>DNS rewriting capabilities</a:t>
            </a:r>
            <a:r>
              <a:rPr lang="en-US" sz="1050" dirty="0"/>
              <a:t>, enabling declarative forwarding for enterprise domains (public and private FQDNs), with responses contingent on successful authoritative </a:t>
            </a:r>
            <a:r>
              <a:rPr lang="en-US" sz="1050"/>
              <a:t>lookups. A </a:t>
            </a:r>
            <a:r>
              <a:rPr lang="en-US" sz="1050" b="1" dirty="0"/>
              <a:t>unique per-tenant/proxy addressing model</a:t>
            </a:r>
            <a:r>
              <a:rPr lang="en-US" sz="1050" dirty="0"/>
              <a:t> ensures strong isolation and traceability across all connections.</a:t>
            </a:r>
          </a:p>
          <a:p>
            <a:br>
              <a:rPr lang="en-US" dirty="0"/>
            </a:br>
            <a:endParaRPr lang="en-US" dirty="0"/>
          </a:p>
        </p:txBody>
      </p:sp>
      <p:pic>
        <p:nvPicPr>
          <p:cNvPr id="24" name="Content Placeholder 4" descr="Computer network security firewall cyber data protection">
            <a:extLst>
              <a:ext uri="{FF2B5EF4-FFF2-40B4-BE49-F238E27FC236}">
                <a16:creationId xmlns:a16="http://schemas.microsoft.com/office/drawing/2014/main" id="{DEF07821-8801-47D7-CC5F-96724CDEC1AE}"/>
              </a:ext>
            </a:extLst>
          </p:cNvPr>
          <p:cNvPicPr>
            <a:picLocks noChangeAspect="1"/>
          </p:cNvPicPr>
          <p:nvPr/>
        </p:nvPicPr>
        <p:blipFill>
          <a:blip r:embed="rId3"/>
          <a:srcRect l="26269" r="35166"/>
          <a:stretch>
            <a:fillRect/>
          </a:stretch>
        </p:blipFill>
        <p:spPr>
          <a:xfrm>
            <a:off x="6499171" y="1371985"/>
            <a:ext cx="2644829" cy="5143493"/>
          </a:xfrm>
          <a:prstGeom prst="rect">
            <a:avLst/>
          </a:prstGeom>
          <a:noFill/>
        </p:spPr>
      </p:pic>
    </p:spTree>
    <p:extLst>
      <p:ext uri="{BB962C8B-B14F-4D97-AF65-F5344CB8AC3E}">
        <p14:creationId xmlns:p14="http://schemas.microsoft.com/office/powerpoint/2010/main" val="3212857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D407A-DE16-48B6-9B12-E0A2E139A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D4071-FA93-9B29-6EA3-03C77808B913}"/>
              </a:ext>
            </a:extLst>
          </p:cNvPr>
          <p:cNvSpPr>
            <a:spLocks noGrp="1"/>
          </p:cNvSpPr>
          <p:nvPr>
            <p:ph type="title"/>
          </p:nvPr>
        </p:nvSpPr>
        <p:spPr>
          <a:xfrm>
            <a:off x="275531" y="1025910"/>
            <a:ext cx="6041971" cy="1143000"/>
          </a:xfrm>
        </p:spPr>
        <p:txBody>
          <a:bodyPr>
            <a:normAutofit/>
          </a:bodyPr>
          <a:lstStyle/>
          <a:p>
            <a:r>
              <a:rPr lang="en-US" sz="3200" dirty="0"/>
              <a:t>Vision for A 3rd Party Landing Zone</a:t>
            </a:r>
          </a:p>
        </p:txBody>
      </p:sp>
      <p:sp>
        <p:nvSpPr>
          <p:cNvPr id="23" name="TextBox 22">
            <a:extLst>
              <a:ext uri="{FF2B5EF4-FFF2-40B4-BE49-F238E27FC236}">
                <a16:creationId xmlns:a16="http://schemas.microsoft.com/office/drawing/2014/main" id="{0BBFD6FE-988F-E681-9B54-C6CB7608C999}"/>
              </a:ext>
            </a:extLst>
          </p:cNvPr>
          <p:cNvSpPr txBox="1"/>
          <p:nvPr/>
        </p:nvSpPr>
        <p:spPr>
          <a:xfrm>
            <a:off x="275531" y="2168910"/>
            <a:ext cx="6101046" cy="3277820"/>
          </a:xfrm>
          <a:prstGeom prst="rect">
            <a:avLst/>
          </a:prstGeom>
          <a:noFill/>
        </p:spPr>
        <p:txBody>
          <a:bodyPr wrap="square">
            <a:spAutoFit/>
          </a:bodyPr>
          <a:lstStyle/>
          <a:p>
            <a:r>
              <a:rPr lang="en-US" sz="1050" b="1" dirty="0"/>
              <a:t>Secure Tenant Architecture</a:t>
            </a:r>
          </a:p>
          <a:p>
            <a:r>
              <a:rPr lang="en-US" sz="1050" dirty="0"/>
              <a:t>Deliver a secure and compliant third-party connectivity solution by implementing </a:t>
            </a:r>
            <a:r>
              <a:rPr lang="en-US" sz="1050" b="1" dirty="0"/>
              <a:t>IPSec VPN tunnels to a Virtual Landing Zone</a:t>
            </a:r>
            <a:r>
              <a:rPr lang="en-US" sz="1050" dirty="0"/>
              <a:t>, ensuring isolation and protection of enterprise applications from external access. This architecture aligns with </a:t>
            </a:r>
            <a:r>
              <a:rPr lang="en-US" sz="1050" b="1" dirty="0"/>
              <a:t>SOC 2, ISO 27001, and NIST CSF / 800-171 / 800-207 standards</a:t>
            </a:r>
            <a:r>
              <a:rPr lang="en-US" sz="1050" dirty="0"/>
              <a:t>, providing a governance-driven approach that meets regulatory and security requirements.</a:t>
            </a:r>
          </a:p>
          <a:p>
            <a:endParaRPr lang="en-US" sz="1050" dirty="0"/>
          </a:p>
          <a:p>
            <a:r>
              <a:rPr lang="en-US" sz="1050" b="1" dirty="0"/>
              <a:t>Granular Access Control</a:t>
            </a:r>
          </a:p>
          <a:p>
            <a:r>
              <a:rPr lang="en-US" sz="1050" dirty="0"/>
              <a:t>Enforce per-partner connectivity through </a:t>
            </a:r>
            <a:r>
              <a:rPr lang="en-US" sz="1050" b="1" dirty="0"/>
              <a:t>service-specific proxies within the Virtual Landing Zone</a:t>
            </a:r>
            <a:r>
              <a:rPr lang="en-US" sz="1050" dirty="0"/>
              <a:t>, applying </a:t>
            </a:r>
            <a:r>
              <a:rPr lang="en-US" sz="1050" b="1" dirty="0"/>
              <a:t>least-privilege principles</a:t>
            </a:r>
            <a:r>
              <a:rPr lang="en-US" sz="1050" dirty="0"/>
              <a:t> and segmentation to deliver auditable, fine-grained access. Identity-aware controls strengthen the security posture by ensuring access decisions are context-driven and aligned with organizational policies.</a:t>
            </a:r>
          </a:p>
          <a:p>
            <a:endParaRPr lang="en-US" sz="1050" dirty="0"/>
          </a:p>
          <a:p>
            <a:r>
              <a:rPr lang="en-US" sz="1050" b="1" dirty="0"/>
              <a:t>Repeatable, Compliant Connectivity through Automation and Self-Service Onboarding</a:t>
            </a:r>
          </a:p>
          <a:p>
            <a:r>
              <a:rPr lang="en-US" sz="1050" dirty="0"/>
              <a:t>Streamline partner onboarding and minimize manual effort, accelerating time-to-market while enhancing governance and reducing operational risk. Delivered via an </a:t>
            </a:r>
            <a:r>
              <a:rPr lang="en-US" sz="1050" b="1" dirty="0"/>
              <a:t>intuitive self-service portal</a:t>
            </a:r>
            <a:r>
              <a:rPr lang="en-US" sz="1050" dirty="0"/>
              <a:t>, this solution provides a </a:t>
            </a:r>
            <a:r>
              <a:rPr lang="en-US" sz="1050" b="1" dirty="0"/>
              <a:t>secure, standardized connectivity framework</a:t>
            </a:r>
            <a:r>
              <a:rPr lang="en-US" sz="1050" dirty="0"/>
              <a:t> with a pre-hardened environment for quick, consistent onboarding. Easy-to-deploy interfaces and minimal configuration ensure a seamless experience while maintaining strict compliance with industry security standards.</a:t>
            </a:r>
          </a:p>
          <a:p>
            <a:pPr>
              <a:buNone/>
            </a:pPr>
            <a:endParaRPr lang="en-US" dirty="0"/>
          </a:p>
        </p:txBody>
      </p:sp>
      <p:pic>
        <p:nvPicPr>
          <p:cNvPr id="24" name="Content Placeholder 4" descr="Computer network security firewall cyber data protection">
            <a:extLst>
              <a:ext uri="{FF2B5EF4-FFF2-40B4-BE49-F238E27FC236}">
                <a16:creationId xmlns:a16="http://schemas.microsoft.com/office/drawing/2014/main" id="{47562A30-2362-B3F7-910A-D3A22EEFF3FF}"/>
              </a:ext>
            </a:extLst>
          </p:cNvPr>
          <p:cNvPicPr>
            <a:picLocks noChangeAspect="1"/>
          </p:cNvPicPr>
          <p:nvPr/>
        </p:nvPicPr>
        <p:blipFill>
          <a:blip r:embed="rId3"/>
          <a:srcRect l="26269" r="35166"/>
          <a:stretch>
            <a:fillRect/>
          </a:stretch>
        </p:blipFill>
        <p:spPr>
          <a:xfrm>
            <a:off x="6499171" y="1371985"/>
            <a:ext cx="2644829" cy="5143493"/>
          </a:xfrm>
          <a:prstGeom prst="rect">
            <a:avLst/>
          </a:prstGeom>
          <a:noFill/>
        </p:spPr>
      </p:pic>
    </p:spTree>
    <p:extLst>
      <p:ext uri="{BB962C8B-B14F-4D97-AF65-F5344CB8AC3E}">
        <p14:creationId xmlns:p14="http://schemas.microsoft.com/office/powerpoint/2010/main" val="1659290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Service Pattern Catalog (Use Cases)</a:t>
            </a:r>
          </a:p>
        </p:txBody>
      </p:sp>
      <p:graphicFrame>
        <p:nvGraphicFramePr>
          <p:cNvPr id="25" name="Content Placeholder 2">
            <a:extLst>
              <a:ext uri="{FF2B5EF4-FFF2-40B4-BE49-F238E27FC236}">
                <a16:creationId xmlns:a16="http://schemas.microsoft.com/office/drawing/2014/main" id="{A1350630-6F64-0AB9-A49B-26982B0D8FCA}"/>
              </a:ext>
            </a:extLst>
          </p:cNvPr>
          <p:cNvGraphicFramePr>
            <a:graphicFrameLocks noGrp="1"/>
          </p:cNvGraphicFramePr>
          <p:nvPr>
            <p:ph idx="1"/>
            <p:extLst>
              <p:ext uri="{D42A27DB-BD31-4B8C-83A1-F6EECF244321}">
                <p14:modId xmlns:p14="http://schemas.microsoft.com/office/powerpoint/2010/main" val="269884820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2D60-C81A-1610-506D-1CF17363C5EA}"/>
              </a:ext>
            </a:extLst>
          </p:cNvPr>
          <p:cNvSpPr>
            <a:spLocks noGrp="1"/>
          </p:cNvSpPr>
          <p:nvPr>
            <p:ph type="title"/>
          </p:nvPr>
        </p:nvSpPr>
        <p:spPr/>
        <p:txBody>
          <a:bodyPr/>
          <a:lstStyle/>
          <a:p>
            <a:r>
              <a:rPr lang="en-US" dirty="0"/>
              <a:t>User Experience. </a:t>
            </a:r>
          </a:p>
        </p:txBody>
      </p:sp>
    </p:spTree>
    <p:extLst>
      <p:ext uri="{BB962C8B-B14F-4D97-AF65-F5344CB8AC3E}">
        <p14:creationId xmlns:p14="http://schemas.microsoft.com/office/powerpoint/2010/main" val="3353222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Self-Service Portal Experience</a:t>
            </a:r>
          </a:p>
        </p:txBody>
      </p:sp>
      <p:sp>
        <p:nvSpPr>
          <p:cNvPr id="3" name="Content Placeholder 2"/>
          <p:cNvSpPr>
            <a:spLocks noGrp="1"/>
          </p:cNvSpPr>
          <p:nvPr>
            <p:ph idx="1"/>
          </p:nvPr>
        </p:nvSpPr>
        <p:spPr>
          <a:xfrm>
            <a:off x="711537" y="1527532"/>
            <a:ext cx="8229600" cy="4525963"/>
          </a:xfrm>
        </p:spPr>
        <p:txBody>
          <a:bodyPr/>
          <a:lstStyle/>
          <a:p>
            <a:r>
              <a:rPr dirty="0"/>
              <a:t>Web portal is the primary front door for application teams</a:t>
            </a:r>
          </a:p>
          <a:p>
            <a:r>
              <a:rPr dirty="0"/>
              <a:t>Guided forms collect required technical &amp; business data</a:t>
            </a:r>
          </a:p>
          <a:p>
            <a:r>
              <a:rPr dirty="0"/>
              <a:t>No deep network expertise required for requestors</a:t>
            </a:r>
          </a:p>
          <a:p>
            <a:r>
              <a:rPr dirty="0"/>
              <a:t>Same capabilities exposed via APIs for automation/</a:t>
            </a:r>
            <a:r>
              <a:rPr dirty="0" err="1"/>
              <a:t>IaC</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Virtual Landing Zone (VLZ) &amp; Tenant Model</a:t>
            </a:r>
          </a:p>
        </p:txBody>
      </p:sp>
      <p:sp>
        <p:nvSpPr>
          <p:cNvPr id="3" name="Content Placeholder 2"/>
          <p:cNvSpPr>
            <a:spLocks noGrp="1"/>
          </p:cNvSpPr>
          <p:nvPr>
            <p:ph idx="1"/>
          </p:nvPr>
        </p:nvSpPr>
        <p:spPr/>
        <p:txBody>
          <a:bodyPr>
            <a:normAutofit fontScale="92500"/>
          </a:bodyPr>
          <a:lstStyle/>
          <a:p>
            <a:r>
              <a:t>Each third-party connection is a dedicated tenant (VLZ)</a:t>
            </a:r>
          </a:p>
          <a:p>
            <a:r>
              <a:t>VLZ is a no-access zone: no direct routing to internal networks</a:t>
            </a:r>
          </a:p>
          <a:p>
            <a:r>
              <a:t>Tenant-scoped resources:</a:t>
            </a:r>
          </a:p>
          <a:p>
            <a:pPr lvl="1"/>
            <a:r>
              <a:t>Address blocks, tunnel interfaces, BGP sessions</a:t>
            </a:r>
          </a:p>
          <a:p>
            <a:pPr lvl="1"/>
            <a:r>
              <a:t>DNS view / resolvers, service proxies, logging context</a:t>
            </a:r>
          </a:p>
          <a:p>
            <a:r>
              <a:t>Tenant identity includes owner, vendor, and application IDs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Sample Portal Form – Secure File Transfer (SFTP via VLZ Proxy)</a:t>
            </a:r>
          </a:p>
        </p:txBody>
      </p:sp>
      <p:sp>
        <p:nvSpPr>
          <p:cNvPr id="3" name="Content Placeholder 2"/>
          <p:cNvSpPr>
            <a:spLocks noGrp="1"/>
          </p:cNvSpPr>
          <p:nvPr>
            <p:ph idx="1"/>
          </p:nvPr>
        </p:nvSpPr>
        <p:spPr/>
        <p:txBody>
          <a:bodyPr>
            <a:normAutofit fontScale="70000" lnSpcReduction="20000"/>
          </a:bodyPr>
          <a:lstStyle/>
          <a:p>
            <a:r>
              <a:t>Example fields collected in the portal:</a:t>
            </a:r>
          </a:p>
          <a:p>
            <a:pPr lvl="1"/>
            <a:r>
              <a:t>Business context: application name, owner, environment (dev/test/prod)</a:t>
            </a:r>
          </a:p>
          <a:p>
            <a:pPr lvl="1"/>
            <a:r>
              <a:t>Third-party details: organization name, contact info, support hours</a:t>
            </a:r>
          </a:p>
          <a:p>
            <a:pPr lvl="1"/>
            <a:r>
              <a:t>Network endpoints: remote public IP/FQDN, device type/platform</a:t>
            </a:r>
          </a:p>
          <a:p>
            <a:pPr lvl="1"/>
            <a:r>
              <a:t>Service specifics: SFTP hostnames, ports, internal target FQDNs</a:t>
            </a:r>
          </a:p>
          <a:p>
            <a:pPr lvl="1"/>
            <a:r>
              <a:t>Data sensitivity &amp; compliance tags (PHI/PII, region, retention)</a:t>
            </a:r>
          </a:p>
          <a:p>
            <a:pPr lvl="1"/>
            <a:r>
              <a:t>Operational parameters: expected volume, schedules/maintenance windows</a:t>
            </a:r>
          </a:p>
          <a:p>
            <a:r>
              <a:t>Validations &amp; policy checks:</a:t>
            </a:r>
          </a:p>
          <a:p>
            <a:pPr lvl="1"/>
            <a:r>
              <a:t>Required fields, allowed port ranges, approved cipher suites</a:t>
            </a:r>
          </a:p>
          <a:p>
            <a:pPr lvl="1"/>
            <a:r>
              <a:t>Automatic mapping to a standard SFTP pattern and VLZ tenant</a:t>
            </a:r>
          </a:p>
          <a:p>
            <a:pPr lvl="1"/>
            <a:r>
              <a:t>Routing to appropriate approvers and risk/compliance reviewers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Sample Portal Form – Web API (Enterprise API via VLZ Proxy)</a:t>
            </a:r>
          </a:p>
        </p:txBody>
      </p:sp>
      <p:sp>
        <p:nvSpPr>
          <p:cNvPr id="3" name="Content Placeholder 2"/>
          <p:cNvSpPr>
            <a:spLocks noGrp="1"/>
          </p:cNvSpPr>
          <p:nvPr>
            <p:ph idx="1"/>
          </p:nvPr>
        </p:nvSpPr>
        <p:spPr/>
        <p:txBody>
          <a:bodyPr>
            <a:normAutofit fontScale="62500" lnSpcReduction="20000"/>
          </a:bodyPr>
          <a:lstStyle/>
          <a:p>
            <a:r>
              <a:t>Example fields collected in the portal:</a:t>
            </a:r>
          </a:p>
          <a:p>
            <a:pPr lvl="1"/>
            <a:r>
              <a:t>Business context: application name, owner, environment (dev/test/uat/prod)</a:t>
            </a:r>
          </a:p>
          <a:p>
            <a:pPr lvl="1"/>
            <a:r>
              <a:t>API details: API name, internal FQDN, base path (e.g., /v1/payments)</a:t>
            </a:r>
          </a:p>
          <a:p>
            <a:pPr lvl="1"/>
            <a:r>
              <a:t>Third-party details: organization, contact, support window, region(s)</a:t>
            </a:r>
          </a:p>
          <a:p>
            <a:pPr lvl="1"/>
            <a:r>
              <a:t>Network endpoints: remote public IP(s)/FQDN(s), expected source CIDRs</a:t>
            </a:r>
          </a:p>
          <a:p>
            <a:pPr lvl="1"/>
            <a:r>
              <a:t>Auth &amp; identity: auth type (mTLS, OAuth2/JWT, API key), required claims/scopes</a:t>
            </a:r>
          </a:p>
          <a:p>
            <a:pPr lvl="1"/>
            <a:r>
              <a:t>Data classification: sensitivity (PHI/PII), residency, retention, logging level</a:t>
            </a:r>
          </a:p>
          <a:p>
            <a:pPr lvl="1"/>
            <a:r>
              <a:t>Traffic profile: expected QPS, burst limits, concurrency, allowed methods</a:t>
            </a:r>
          </a:p>
          <a:p>
            <a:r>
              <a:t>Validations &amp; policy checks:</a:t>
            </a:r>
          </a:p>
          <a:p>
            <a:pPr lvl="1"/>
            <a:r>
              <a:t>Required fields, allowed methods and ports, approved cipher suites</a:t>
            </a:r>
          </a:p>
          <a:p>
            <a:pPr lvl="1"/>
            <a:r>
              <a:t>API classification drives mandatory controls (e.g., mTLS for high sensitivity)</a:t>
            </a:r>
          </a:p>
          <a:p>
            <a:pPr lvl="1"/>
            <a:r>
              <a:t>Automatic mapping to a standard Web API pattern and VLZ tenant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Web API Service Behavior &amp; Controls</a:t>
            </a:r>
          </a:p>
        </p:txBody>
      </p:sp>
      <p:sp>
        <p:nvSpPr>
          <p:cNvPr id="3" name="Content Placeholder 2"/>
          <p:cNvSpPr>
            <a:spLocks noGrp="1"/>
          </p:cNvSpPr>
          <p:nvPr>
            <p:ph idx="1"/>
          </p:nvPr>
        </p:nvSpPr>
        <p:spPr/>
        <p:txBody>
          <a:bodyPr>
            <a:normAutofit fontScale="62500" lnSpcReduction="20000"/>
          </a:bodyPr>
          <a:lstStyle/>
          <a:p>
            <a:r>
              <a:t>Service proxy behavior:</a:t>
            </a:r>
          </a:p>
          <a:p>
            <a:pPr lvl="1"/>
            <a:r>
              <a:t>Exposes a tenant-specific API endpoint (e.g., https://&lt;tenant-id&gt;.api.3plz.example.com)</a:t>
            </a:r>
          </a:p>
          <a:p>
            <a:pPr lvl="1"/>
            <a:r>
              <a:t>Forwards to internal API FQDN/base path using mTLS where supported</a:t>
            </a:r>
          </a:p>
          <a:p>
            <a:pPr lvl="1"/>
            <a:r>
              <a:t>Normalizes paths, headers, and TLS parameters based on the Service Profile</a:t>
            </a:r>
          </a:p>
          <a:p>
            <a:r>
              <a:t>Security controls:</a:t>
            </a:r>
          </a:p>
          <a:p>
            <a:pPr lvl="1"/>
            <a:r>
              <a:t>Enforces allowed HTTP methods, paths, and rate limits per profile</a:t>
            </a:r>
          </a:p>
          <a:p>
            <a:pPr lvl="1"/>
            <a:r>
              <a:t>Supports mTLS, JWT/OAuth2 validation, or API key verification</a:t>
            </a:r>
          </a:p>
          <a:p>
            <a:pPr lvl="1"/>
            <a:r>
              <a:t>Optional IP/CIDR restrictions per third party / tenant</a:t>
            </a:r>
          </a:p>
          <a:p>
            <a:pPr lvl="1"/>
            <a:r>
              <a:t>Request/response size limits and protocol sanity checks</a:t>
            </a:r>
          </a:p>
          <a:p>
            <a:r>
              <a:t>Observability &amp; governance:</a:t>
            </a:r>
          </a:p>
          <a:p>
            <a:pPr lvl="1"/>
            <a:r>
              <a:t>Per-tenant logs with correlation IDs, status codes, latency, and auth outcome</a:t>
            </a:r>
          </a:p>
          <a:p>
            <a:pPr lvl="1"/>
            <a:r>
              <a:t>Metrics export (QPS, error rates, throttling events) to observability stack</a:t>
            </a:r>
          </a:p>
          <a:p>
            <a:pPr lvl="1"/>
            <a:r>
              <a:t>Logs tagged with tenant, vendor, application ID, and data classification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From Form → IPsec Configuration &amp; B2B Transport</a:t>
            </a:r>
          </a:p>
        </p:txBody>
      </p:sp>
      <p:sp>
        <p:nvSpPr>
          <p:cNvPr id="3" name="Content Placeholder 2"/>
          <p:cNvSpPr>
            <a:spLocks noGrp="1"/>
          </p:cNvSpPr>
          <p:nvPr>
            <p:ph idx="1"/>
          </p:nvPr>
        </p:nvSpPr>
        <p:spPr/>
        <p:txBody>
          <a:bodyPr>
            <a:normAutofit fontScale="92500" lnSpcReduction="20000"/>
          </a:bodyPr>
          <a:lstStyle/>
          <a:p>
            <a:r>
              <a:t>Each approved request generates a remote IPsec configuration bundle</a:t>
            </a:r>
          </a:p>
          <a:p>
            <a:pPr lvl="1"/>
            <a:r>
              <a:t>IKEv2 parameters, proposals, and crypto settings</a:t>
            </a:r>
          </a:p>
          <a:p>
            <a:pPr lvl="1"/>
            <a:r>
              <a:t>Tunnel interface addresses and BGP configuration (if applicable)</a:t>
            </a:r>
          </a:p>
          <a:p>
            <a:r>
              <a:t>Config bundles must support major firewall/router platforms</a:t>
            </a:r>
          </a:p>
          <a:p>
            <a:r>
              <a:t>Local side terminates on location-agnostic tunnel anchors</a:t>
            </a:r>
          </a:p>
          <a:p>
            <a:r>
              <a:t>All tunnel creation driven by templates and portal data, not manual builds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13BD2-4C3C-7E1C-CA17-FA98223AD53E}"/>
              </a:ext>
            </a:extLst>
          </p:cNvPr>
          <p:cNvSpPr>
            <a:spLocks noGrp="1"/>
          </p:cNvSpPr>
          <p:nvPr>
            <p:ph type="title"/>
          </p:nvPr>
        </p:nvSpPr>
        <p:spPr/>
        <p:txBody>
          <a:bodyPr>
            <a:normAutofit/>
          </a:bodyPr>
          <a:lstStyle/>
          <a:p>
            <a:r>
              <a:rPr lang="en-US" dirty="0"/>
              <a:t>Solution Capabilities and Functions</a:t>
            </a:r>
          </a:p>
        </p:txBody>
      </p:sp>
    </p:spTree>
    <p:extLst>
      <p:ext uri="{BB962C8B-B14F-4D97-AF65-F5344CB8AC3E}">
        <p14:creationId xmlns:p14="http://schemas.microsoft.com/office/powerpoint/2010/main" val="1218233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Service Proxies &amp; Service Profiles</a:t>
            </a:r>
          </a:p>
        </p:txBody>
      </p:sp>
      <p:sp>
        <p:nvSpPr>
          <p:cNvPr id="3" name="Content Placeholder 2"/>
          <p:cNvSpPr>
            <a:spLocks noGrp="1"/>
          </p:cNvSpPr>
          <p:nvPr>
            <p:ph idx="1"/>
          </p:nvPr>
        </p:nvSpPr>
        <p:spPr/>
        <p:txBody>
          <a:bodyPr>
            <a:normAutofit fontScale="77500" lnSpcReduction="20000"/>
          </a:bodyPr>
          <a:lstStyle/>
          <a:p>
            <a:r>
              <a:t>Platform provides per-tenant proxies for each service pattern</a:t>
            </a:r>
          </a:p>
          <a:p>
            <a:pPr lvl="1"/>
            <a:r>
              <a:t>SFTP/SSH proxy, VDI proxy, Web App proxy, Web API proxy, SaaS proxy</a:t>
            </a:r>
          </a:p>
          <a:p>
            <a:r>
              <a:t>Application owners define Service Profiles via the portal:</a:t>
            </a:r>
          </a:p>
          <a:p>
            <a:pPr lvl="1"/>
            <a:r>
              <a:t>Choose service type (e.g., Enterprise Web App, Internet SaaS)</a:t>
            </a:r>
          </a:p>
          <a:p>
            <a:pPr lvl="1"/>
            <a:r>
              <a:t>Provide FQDNs, ports, and header/path requirements</a:t>
            </a:r>
          </a:p>
          <a:p>
            <a:pPr lvl="1"/>
            <a:r>
              <a:t>Select controls (IP restrictions, auth requirements, rate limiting)</a:t>
            </a:r>
          </a:p>
          <a:p>
            <a:r>
              <a:t>Platform translates profiles into proxy configs, ACLs, and DNS rules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Identity, DNS, and Observability</a:t>
            </a:r>
          </a:p>
        </p:txBody>
      </p:sp>
      <p:sp>
        <p:nvSpPr>
          <p:cNvPr id="3" name="Content Placeholder 2"/>
          <p:cNvSpPr>
            <a:spLocks noGrp="1"/>
          </p:cNvSpPr>
          <p:nvPr>
            <p:ph idx="1"/>
          </p:nvPr>
        </p:nvSpPr>
        <p:spPr/>
        <p:txBody>
          <a:bodyPr>
            <a:normAutofit fontScale="92500" lnSpcReduction="20000"/>
          </a:bodyPr>
          <a:lstStyle/>
          <a:p>
            <a:r>
              <a:t>Identity &amp; Authorization: RBAC roles in the portal and APIs</a:t>
            </a:r>
          </a:p>
          <a:p>
            <a:r>
              <a:t>Tenant-linked identities influence policy decisions and approvals</a:t>
            </a:r>
          </a:p>
          <a:p>
            <a:r>
              <a:t>DNS as a control plane: per-tenant views, split-horizon, conditional forwarding</a:t>
            </a:r>
          </a:p>
          <a:p>
            <a:r>
              <a:t>Per-tenant logs for DNS, proxy traffic, and tunnel/BGP state</a:t>
            </a:r>
          </a:p>
          <a:p>
            <a:r>
              <a:t>Logs and metrics must integrate with enterprise SIEM/observability tools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Automation &amp; Scale Requirements</a:t>
            </a:r>
          </a:p>
        </p:txBody>
      </p:sp>
      <p:sp>
        <p:nvSpPr>
          <p:cNvPr id="3" name="Content Placeholder 2"/>
          <p:cNvSpPr>
            <a:spLocks noGrp="1"/>
          </p:cNvSpPr>
          <p:nvPr>
            <p:ph idx="1"/>
          </p:nvPr>
        </p:nvSpPr>
        <p:spPr/>
        <p:txBody>
          <a:bodyPr>
            <a:normAutofit lnSpcReduction="10000"/>
          </a:bodyPr>
          <a:lstStyle/>
          <a:p>
            <a:r>
              <a:t>All portal operations available via documented APIs</a:t>
            </a:r>
          </a:p>
          <a:p>
            <a:r>
              <a:t>Support for IaC tools (e.g., Terraform, Ansible) and CI/CD integration</a:t>
            </a:r>
          </a:p>
          <a:p>
            <a:r>
              <a:t>Target scale: ~1000 tenants, multiple patterns per tenant</a:t>
            </a:r>
          </a:p>
          <a:p>
            <a:r>
              <a:t>High availability for control and data planes</a:t>
            </a:r>
          </a:p>
          <a:p>
            <a:r>
              <a:t>Standards-compliant crypto and minimal-disruption upgrades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6669F-3530-2BAD-337F-65F1A2D65361}"/>
              </a:ext>
            </a:extLst>
          </p:cNvPr>
          <p:cNvSpPr>
            <a:spLocks noGrp="1"/>
          </p:cNvSpPr>
          <p:nvPr>
            <p:ph type="title"/>
          </p:nvPr>
        </p:nvSpPr>
        <p:spPr/>
        <p:txBody>
          <a:bodyPr/>
          <a:lstStyle/>
          <a:p>
            <a:r>
              <a:rPr lang="en-US" dirty="0"/>
              <a:t>Mutual Responsibility </a:t>
            </a:r>
          </a:p>
        </p:txBody>
      </p:sp>
    </p:spTree>
    <p:extLst>
      <p:ext uri="{BB962C8B-B14F-4D97-AF65-F5344CB8AC3E}">
        <p14:creationId xmlns:p14="http://schemas.microsoft.com/office/powerpoint/2010/main" val="1499019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Shared Responsibilities: Business vs Vendor Platform</a:t>
            </a:r>
          </a:p>
        </p:txBody>
      </p:sp>
      <p:sp>
        <p:nvSpPr>
          <p:cNvPr id="3" name="Content Placeholder 2"/>
          <p:cNvSpPr>
            <a:spLocks noGrp="1"/>
          </p:cNvSpPr>
          <p:nvPr>
            <p:ph idx="1"/>
          </p:nvPr>
        </p:nvSpPr>
        <p:spPr/>
        <p:txBody>
          <a:bodyPr>
            <a:normAutofit fontScale="62500" lnSpcReduction="20000"/>
          </a:bodyPr>
          <a:lstStyle/>
          <a:p>
            <a:r>
              <a:t>Business responsibilities:</a:t>
            </a:r>
          </a:p>
          <a:p>
            <a:pPr lvl="1"/>
            <a:r>
              <a:t>Provide an application governance mechanism with Universal Application IDs</a:t>
            </a:r>
          </a:p>
          <a:p>
            <a:pPr lvl="1"/>
            <a:r>
              <a:t>Provide a Universal Identifier for third-party partners (3pBID)</a:t>
            </a:r>
          </a:p>
          <a:p>
            <a:pPr lvl="1"/>
            <a:r>
              <a:t>Supply Universal IDs and 3pBIDs to drive tenant creation and site-to-site VPN setup</a:t>
            </a:r>
          </a:p>
          <a:p>
            <a:pPr lvl="1"/>
            <a:r>
              <a:t>Operate PKI processes to generate and deliver mTLS certificates for Web/WebAPI tenants</a:t>
            </a:r>
          </a:p>
          <a:p>
            <a:pPr lvl="1"/>
            <a:r>
              <a:t>Operate enterprise IdPs (SAML/OAuth2/OIDC) for Virtual Tenant portal SSO and RBAC</a:t>
            </a:r>
          </a:p>
          <a:p>
            <a:r>
              <a:t>Vendor platform responsibilities:</a:t>
            </a:r>
          </a:p>
          <a:p>
            <a:pPr lvl="1"/>
            <a:r>
              <a:t>Treat Universal IDs and 3pBIDs as first-class attributes in tenant and config APIs</a:t>
            </a:r>
          </a:p>
          <a:p>
            <a:pPr lvl="1"/>
            <a:r>
              <a:t>Automate VPN and service proxy creation from portal data and identifiers</a:t>
            </a:r>
          </a:p>
          <a:p>
            <a:pPr lvl="1"/>
            <a:r>
              <a:t>Integrate with enterprise PKI for certificate-based auth and renewal workflows</a:t>
            </a:r>
          </a:p>
          <a:p>
            <a:pPr lvl="1"/>
            <a:r>
              <a:t>Integrate with enterprise IdPs for authentication and authorization to the portal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We Expect in Vendor Responses</a:t>
            </a:r>
          </a:p>
        </p:txBody>
      </p:sp>
      <p:sp>
        <p:nvSpPr>
          <p:cNvPr id="3" name="Content Placeholder 2"/>
          <p:cNvSpPr>
            <a:spLocks noGrp="1"/>
          </p:cNvSpPr>
          <p:nvPr>
            <p:ph idx="1"/>
          </p:nvPr>
        </p:nvSpPr>
        <p:spPr/>
        <p:txBody>
          <a:bodyPr>
            <a:normAutofit fontScale="85000" lnSpcReduction="20000"/>
          </a:bodyPr>
          <a:lstStyle/>
          <a:p>
            <a:r>
              <a:t>Describe end-to-end portal-driven workflows:</a:t>
            </a:r>
          </a:p>
          <a:p>
            <a:pPr lvl="1"/>
            <a:r>
              <a:t>From app owner request → IPsec config → service proxy live</a:t>
            </a:r>
          </a:p>
          <a:p>
            <a:r>
              <a:t>Show how your platform implements the required service patterns</a:t>
            </a:r>
          </a:p>
          <a:p>
            <a:r>
              <a:t>Demonstrate self-service forms that generate:</a:t>
            </a:r>
          </a:p>
          <a:p>
            <a:pPr lvl="1"/>
            <a:r>
              <a:t>Remote IPsec bundles, VLZ/tenant config, service proxy rules</a:t>
            </a:r>
          </a:p>
          <a:p>
            <a:r>
              <a:t>Provide reference architectures, runbooks, and automation artifacts</a:t>
            </a:r>
          </a:p>
          <a:p>
            <a:r>
              <a:t>Map capabilities to security, compliance, scale, and shared responsibility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877</TotalTime>
  <Words>3646</Words>
  <Application>Microsoft Macintosh PowerPoint</Application>
  <PresentationFormat>On-screen Show (4:3)</PresentationFormat>
  <Paragraphs>258</Paragraphs>
  <Slides>20</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Third-Party Landing Zone (3PLZ) – RFP Overview</vt:lpstr>
      <vt:lpstr>A Case For Change</vt:lpstr>
      <vt:lpstr>Delivering Change a Strategic Shift</vt:lpstr>
      <vt:lpstr>Proposed Way Forward: 3PLZ </vt:lpstr>
      <vt:lpstr>Vision for A 3rd Party Landing Zone</vt:lpstr>
      <vt:lpstr>Service Pattern Catalog (Use Cases)</vt:lpstr>
      <vt:lpstr>User Experience. </vt:lpstr>
      <vt:lpstr>Self-Service Portal Experience</vt:lpstr>
      <vt:lpstr>Virtual Landing Zone (VLZ) &amp; Tenant Model</vt:lpstr>
      <vt:lpstr>Sample Portal Form – Secure File Transfer (SFTP via VLZ Proxy)</vt:lpstr>
      <vt:lpstr>Sample Portal Form – Web API (Enterprise API via VLZ Proxy)</vt:lpstr>
      <vt:lpstr>Web API Service Behavior &amp; Controls</vt:lpstr>
      <vt:lpstr>From Form → IPsec Configuration &amp; B2B Transport</vt:lpstr>
      <vt:lpstr>Solution Capabilities and Functions</vt:lpstr>
      <vt:lpstr>Service Proxies &amp; Service Profiles</vt:lpstr>
      <vt:lpstr>Identity, DNS, and Observability</vt:lpstr>
      <vt:lpstr>Automation &amp; Scale Requirements</vt:lpstr>
      <vt:lpstr>Mutual Responsibility </vt:lpstr>
      <vt:lpstr>Shared Responsibilities: Business vs Vendor Platform</vt:lpstr>
      <vt:lpstr>What We Expect in Vendor Responses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Martin, Michael J</cp:lastModifiedBy>
  <cp:revision>4</cp:revision>
  <dcterms:created xsi:type="dcterms:W3CDTF">2013-01-27T09:14:16Z</dcterms:created>
  <dcterms:modified xsi:type="dcterms:W3CDTF">2025-11-12T21:01:52Z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cdf243-b9b0-4f63-8694-76742e4201b7_Enabled">
    <vt:lpwstr>true</vt:lpwstr>
  </property>
  <property fmtid="{D5CDD505-2E9C-101B-9397-08002B2CF9AE}" pid="3" name="MSIP_Label_1ecdf243-b9b0-4f63-8694-76742e4201b7_SetDate">
    <vt:lpwstr>2025-11-11T00:59:52Z</vt:lpwstr>
  </property>
  <property fmtid="{D5CDD505-2E9C-101B-9397-08002B2CF9AE}" pid="4" name="MSIP_Label_1ecdf243-b9b0-4f63-8694-76742e4201b7_Method">
    <vt:lpwstr>Standard</vt:lpwstr>
  </property>
  <property fmtid="{D5CDD505-2E9C-101B-9397-08002B2CF9AE}" pid="5" name="MSIP_Label_1ecdf243-b9b0-4f63-8694-76742e4201b7_Name">
    <vt:lpwstr>Proprietary general</vt:lpwstr>
  </property>
  <property fmtid="{D5CDD505-2E9C-101B-9397-08002B2CF9AE}" pid="6" name="MSIP_Label_1ecdf243-b9b0-4f63-8694-76742e4201b7_SiteId">
    <vt:lpwstr>fabb61b8-3afe-4e75-b934-a47f782b8cd7</vt:lpwstr>
  </property>
  <property fmtid="{D5CDD505-2E9C-101B-9397-08002B2CF9AE}" pid="7" name="MSIP_Label_1ecdf243-b9b0-4f63-8694-76742e4201b7_ActionId">
    <vt:lpwstr>05b13b06-b508-4464-bd87-d06babaef8bd</vt:lpwstr>
  </property>
  <property fmtid="{D5CDD505-2E9C-101B-9397-08002B2CF9AE}" pid="8" name="MSIP_Label_1ecdf243-b9b0-4f63-8694-76742e4201b7_ContentBits">
    <vt:lpwstr>0</vt:lpwstr>
  </property>
  <property fmtid="{D5CDD505-2E9C-101B-9397-08002B2CF9AE}" pid="9" name="MSIP_Label_1ecdf243-b9b0-4f63-8694-76742e4201b7_Tag">
    <vt:lpwstr>50, 3, 0, 1</vt:lpwstr>
  </property>
</Properties>
</file>