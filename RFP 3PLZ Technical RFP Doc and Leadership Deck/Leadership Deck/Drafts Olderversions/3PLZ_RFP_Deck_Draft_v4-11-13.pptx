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63" r:id="rId3"/>
    <p:sldId id="2565" r:id="rId4"/>
    <p:sldId id="2566" r:id="rId5"/>
    <p:sldId id="2573" r:id="rId6"/>
    <p:sldId id="258" r:id="rId7"/>
    <p:sldId id="2575" r:id="rId8"/>
    <p:sldId id="2576" r:id="rId9"/>
    <p:sldId id="2577" r:id="rId10"/>
    <p:sldId id="2578" r:id="rId11"/>
    <p:sldId id="2579" r:id="rId12"/>
    <p:sldId id="2580" r:id="rId13"/>
    <p:sldId id="2581" r:id="rId14"/>
    <p:sldId id="2582" r:id="rId15"/>
    <p:sldId id="2583" r:id="rId16"/>
    <p:sldId id="2584" r:id="rId17"/>
    <p:sldId id="2585"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32"/>
    <p:restoredTop sz="94592"/>
  </p:normalViewPr>
  <p:slideViewPr>
    <p:cSldViewPr snapToGrid="0" snapToObjects="1">
      <p:cViewPr varScale="1">
        <p:scale>
          <a:sx n="196" d="100"/>
          <a:sy n="196" d="100"/>
        </p:scale>
        <p:origin x="389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5060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deck summarizes the requirements for a Third-Party Landing Zone platform as defined in our RFP.</a:t>
            </a:r>
          </a:p>
          <a:p>
            <a:endParaRPr/>
          </a:p>
          <a:p>
            <a:r>
              <a:t>The key themes are vendor-neutral design, clear service patterns, a self-service portal experience, and strong automation.</a:t>
            </a:r>
          </a:p>
          <a:p>
            <a:endParaRPr/>
          </a:p>
          <a:p>
            <a:r>
              <a:t>We’re not looking for just another VPN product. We’re looking for a platform that application teams can consume through a web portal and APIs.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Communication with external vendors is essential for business success, yet it introduces significant security and operational risks. Traditional connectivity models often lack the necessary isolation, auditability, and scalability required to safeguard enterprise applications. These models typically rely on manual processes that hinder agility and increase complexity, making it difficult for organizations to adapt quickly to evolving business needs. The absence of a standardized, secure, and automated approach to vendor connectivity exposes the enterprise to potential vulnerabilities and inefficiencies. As the volume and diversity of third-party interactions grow, the limitations of existing connectivity solutions become more pronounced, necessitating a transformative approach that addresses both technical and operational challenges.</a:t>
            </a:r>
          </a:p>
        </p:txBody>
      </p:sp>
      <p:sp>
        <p:nvSpPr>
          <p:cNvPr id="4" name="Slide Number Placeholder 3"/>
          <p:cNvSpPr>
            <a:spLocks noGrp="1"/>
          </p:cNvSpPr>
          <p:nvPr>
            <p:ph type="sldNum" sz="quarter" idx="5"/>
          </p:nvPr>
        </p:nvSpPr>
        <p:spPr/>
        <p:txBody>
          <a:bodyPr/>
          <a:lstStyle/>
          <a:p>
            <a:fld id="{28C6B470-179D-4B95-8906-D61C195EFD62}" type="slidenum">
              <a:rPr lang="en-US" smtClean="0"/>
              <a:t>2</a:t>
            </a:fld>
            <a:endParaRPr lang="en-US" dirty="0"/>
          </a:p>
        </p:txBody>
      </p:sp>
    </p:spTree>
    <p:extLst>
      <p:ext uri="{BB962C8B-B14F-4D97-AF65-F5344CB8AC3E}">
        <p14:creationId xmlns:p14="http://schemas.microsoft.com/office/powerpoint/2010/main" val="532096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implementation of the 3PLZ represents a strategic shift from viewing third-party connectivity as a purely technical product to delivering a self-service, process-outcome based solution. This new paradigm leverages automation to provide tangible business value, empowering application development teams to manage their own connectivity needs. By aligning with the DevOps philosophy of 'build, run, own,' the solution enables teams to migrate existing connections independently while maintaining adherence to security best practices. The self-service model fosters agility and innovation, allowing teams to respond quickly to changing requirements. Furthermore, the automated delivery framework ensures consistency and scalability, supporting enhanced capabilities and controls as the organization evolves. This shift not only improves operational efficiency but also reinforces a culture of ownership and accountability within the enterprise.</a:t>
            </a:r>
          </a:p>
        </p:txBody>
      </p:sp>
      <p:sp>
        <p:nvSpPr>
          <p:cNvPr id="4" name="Slide Number Placeholder 3"/>
          <p:cNvSpPr>
            <a:spLocks noGrp="1"/>
          </p:cNvSpPr>
          <p:nvPr>
            <p:ph type="sldNum" sz="quarter" idx="5"/>
          </p:nvPr>
        </p:nvSpPr>
        <p:spPr/>
        <p:txBody>
          <a:bodyPr/>
          <a:lstStyle/>
          <a:p>
            <a:fld id="{28C6B470-179D-4B95-8906-D61C195EFD62}" type="slidenum">
              <a:rPr lang="en-US" smtClean="0"/>
              <a:t>3</a:t>
            </a:fld>
            <a:endParaRPr lang="en-US" dirty="0"/>
          </a:p>
        </p:txBody>
      </p:sp>
    </p:spTree>
    <p:extLst>
      <p:ext uri="{BB962C8B-B14F-4D97-AF65-F5344CB8AC3E}">
        <p14:creationId xmlns:p14="http://schemas.microsoft.com/office/powerpoint/2010/main" val="1100096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u="none" strike="noStrike" kern="1200" dirty="0">
                <a:solidFill>
                  <a:schemeClr val="tx1"/>
                </a:solidFill>
                <a:effectLst/>
                <a:latin typeface="+mn-lt"/>
                <a:ea typeface="+mn-ea"/>
                <a:cs typeface="+mn-cs"/>
              </a:rPr>
              <a:t>This slide summarizes the strategic and architectural foundation of the Third-Party Landing Zone. Our goal is to deliver secure, repeatable, and compliant connectivity for third-party use cases.</a:t>
            </a:r>
          </a:p>
          <a:p>
            <a:r>
              <a:rPr lang="en-US" sz="1200" b="0" i="0" u="none" strike="noStrike" kern="1200" dirty="0">
                <a:solidFill>
                  <a:schemeClr val="tx1"/>
                </a:solidFill>
                <a:effectLst/>
                <a:latin typeface="+mn-lt"/>
                <a:ea typeface="+mn-ea"/>
                <a:cs typeface="+mn-cs"/>
              </a:rPr>
              <a:t>The solution is built on a VPN-based architecture that isolates external access and enforces granular controls through service-specific proxies. These proxies support least privilege, segmentation, and auditable access, ensuring that vendor interactions are tightly governed.</a:t>
            </a:r>
          </a:p>
          <a:p>
            <a:r>
              <a:rPr lang="en-US" sz="1200" b="0" i="0" u="none" strike="noStrike" kern="1200" dirty="0">
                <a:solidFill>
                  <a:schemeClr val="tx1"/>
                </a:solidFill>
                <a:effectLst/>
                <a:latin typeface="+mn-lt"/>
                <a:ea typeface="+mn-ea"/>
                <a:cs typeface="+mn-cs"/>
              </a:rPr>
              <a:t>Automation and self-service onboarding reduce manual operations, improving agility and scalability. The platform aligns with key compliance frameworks like SOC 2, ISO 27001, and NIST standards, while also incorporating identity-aware controls and high availability to support enterprise-grade reliability.</a:t>
            </a:r>
          </a:p>
          <a:p>
            <a:endParaRPr lang="en-US" dirty="0"/>
          </a:p>
        </p:txBody>
      </p:sp>
    </p:spTree>
    <p:extLst>
      <p:ext uri="{BB962C8B-B14F-4D97-AF65-F5344CB8AC3E}">
        <p14:creationId xmlns:p14="http://schemas.microsoft.com/office/powerpoint/2010/main" val="2748373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E871B-6DC1-B45F-C008-1540150191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1C9BF-E195-7E74-B8C7-064407D9EA02}"/>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4E0365C-9810-EBC2-A48E-7C4E72DEBA4E}"/>
              </a:ext>
            </a:extLst>
          </p:cNvPr>
          <p:cNvSpPr>
            <a:spLocks noGrp="1"/>
          </p:cNvSpPr>
          <p:nvPr>
            <p:ph type="body" idx="1"/>
          </p:nvPr>
        </p:nvSpPr>
        <p:spPr>
          <a:xfrm>
            <a:off x="685800" y="4400550"/>
            <a:ext cx="5486400" cy="3600450"/>
          </a:xfrm>
          <a:prstGeom prst="rect">
            <a:avLst/>
          </a:prstGeom>
        </p:spPr>
        <p:txBody>
          <a:bodyPr/>
          <a:lstStyle/>
          <a:p>
            <a:r>
              <a:rPr lang="en-US" sz="1200" b="0" i="0" u="none" strike="noStrike" kern="1200" dirty="0">
                <a:solidFill>
                  <a:schemeClr val="tx1"/>
                </a:solidFill>
                <a:effectLst/>
                <a:latin typeface="+mn-lt"/>
                <a:ea typeface="+mn-ea"/>
                <a:cs typeface="+mn-cs"/>
              </a:rPr>
              <a:t>This slide summarizes the strategic and architectural foundation of the Third-Party Landing Zone. Our goal is to deliver secure, repeatable, and compliant connectivity for third-party use cases.</a:t>
            </a:r>
          </a:p>
          <a:p>
            <a:r>
              <a:rPr lang="en-US" sz="1200" b="0" i="0" u="none" strike="noStrike" kern="1200" dirty="0">
                <a:solidFill>
                  <a:schemeClr val="tx1"/>
                </a:solidFill>
                <a:effectLst/>
                <a:latin typeface="+mn-lt"/>
                <a:ea typeface="+mn-ea"/>
                <a:cs typeface="+mn-cs"/>
              </a:rPr>
              <a:t>The solution is built on a VPN-based architecture that isolates external access and enforces granular controls through service-specific proxies. These proxies support least privilege, segmentation, and auditable access, ensuring that vendor interactions are tightly governed.</a:t>
            </a:r>
          </a:p>
          <a:p>
            <a:r>
              <a:rPr lang="en-US" sz="1200" b="0" i="0" u="none" strike="noStrike" kern="1200" dirty="0">
                <a:solidFill>
                  <a:schemeClr val="tx1"/>
                </a:solidFill>
                <a:effectLst/>
                <a:latin typeface="+mn-lt"/>
                <a:ea typeface="+mn-ea"/>
                <a:cs typeface="+mn-cs"/>
              </a:rPr>
              <a:t>Automation and self-service onboarding reduce manual operations, improving agility and scalability. The platform aligns with key compliance frameworks like SOC 2, ISO 27001, and NIST standards, while also incorporating identity-aware controls and high availability to support enterprise-grade reliability.</a:t>
            </a:r>
          </a:p>
          <a:p>
            <a:endParaRPr lang="en-US" dirty="0"/>
          </a:p>
        </p:txBody>
      </p:sp>
    </p:spTree>
    <p:extLst>
      <p:ext uri="{BB962C8B-B14F-4D97-AF65-F5344CB8AC3E}">
        <p14:creationId xmlns:p14="http://schemas.microsoft.com/office/powerpoint/2010/main" val="3012838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2B7F-AB76-639A-2DA4-087229842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0E89B-0B7A-224E-32A6-489CD0C124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F4549C8-6165-D55F-46DF-B1F04B1A66A2}"/>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44333CF1-2E50-0DCD-95A4-87C8D10CDD9E}"/>
              </a:ext>
            </a:extLst>
          </p:cNvPr>
          <p:cNvSpPr>
            <a:spLocks noGrp="1"/>
          </p:cNvSpPr>
          <p:nvPr>
            <p:ph type="sldNum" sz="quarter" idx="5"/>
          </p:nvPr>
        </p:nvSpPr>
        <p:spPr/>
      </p:sp>
    </p:spTree>
    <p:extLst>
      <p:ext uri="{BB962C8B-B14F-4D97-AF65-F5344CB8AC3E}">
        <p14:creationId xmlns:p14="http://schemas.microsoft.com/office/powerpoint/2010/main" val="2772538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06284-CB53-0B9F-9A10-CD9B1AE87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0FC9B-4BEF-A556-ED42-9F3D497F91B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9377321-B3FD-5A7D-66BE-05FD0D38E45A}"/>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EB7869BD-9F39-7864-668E-1D486820D929}"/>
              </a:ext>
            </a:extLst>
          </p:cNvPr>
          <p:cNvSpPr>
            <a:spLocks noGrp="1"/>
          </p:cNvSpPr>
          <p:nvPr>
            <p:ph type="sldNum" sz="quarter" idx="5"/>
          </p:nvPr>
        </p:nvSpPr>
        <p:spPr/>
      </p:sp>
    </p:spTree>
    <p:extLst>
      <p:ext uri="{BB962C8B-B14F-4D97-AF65-F5344CB8AC3E}">
        <p14:creationId xmlns:p14="http://schemas.microsoft.com/office/powerpoint/2010/main" val="1417087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1123-71B4-D8BD-B010-EF44A1A61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01C8C-D298-9002-4B03-BAF6C61C80F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D6112C8-2423-D586-A8B3-C4C6A3C61D09}"/>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511750B0-B5EC-D59F-03DD-7B7B6811B9AA}"/>
              </a:ext>
            </a:extLst>
          </p:cNvPr>
          <p:cNvSpPr>
            <a:spLocks noGrp="1"/>
          </p:cNvSpPr>
          <p:nvPr>
            <p:ph type="sldNum" sz="quarter" idx="5"/>
          </p:nvPr>
        </p:nvSpPr>
        <p:spPr/>
      </p:sp>
    </p:spTree>
    <p:extLst>
      <p:ext uri="{BB962C8B-B14F-4D97-AF65-F5344CB8AC3E}">
        <p14:creationId xmlns:p14="http://schemas.microsoft.com/office/powerpoint/2010/main" val="2206184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E600D-9E0F-1C04-6B5C-C6C6763D8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90698-DC4A-4FE2-28E0-CDEBD06CFCB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06D2EF4-0292-9F23-8A36-C3553A89B8A3}"/>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59C89BDC-DC84-9F7C-D4FD-02D84E4FE04C}"/>
              </a:ext>
            </a:extLst>
          </p:cNvPr>
          <p:cNvSpPr>
            <a:spLocks noGrp="1"/>
          </p:cNvSpPr>
          <p:nvPr>
            <p:ph type="sldNum" sz="quarter" idx="5"/>
          </p:nvPr>
        </p:nvSpPr>
        <p:spPr/>
      </p:sp>
    </p:spTree>
    <p:extLst>
      <p:ext uri="{BB962C8B-B14F-4D97-AF65-F5344CB8AC3E}">
        <p14:creationId xmlns:p14="http://schemas.microsoft.com/office/powerpoint/2010/main" val="688994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34227-F02B-4FB0-D402-681BA0436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D079D-ABC6-57B3-A590-E75225174A6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E9FCA7E-2CA9-76DA-40B9-CFD01CC596D7}"/>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FCE350FA-5027-63E8-33E9-F518A30B8CF6}"/>
              </a:ext>
            </a:extLst>
          </p:cNvPr>
          <p:cNvSpPr>
            <a:spLocks noGrp="1"/>
          </p:cNvSpPr>
          <p:nvPr>
            <p:ph type="sldNum" sz="quarter" idx="5"/>
          </p:nvPr>
        </p:nvSpPr>
        <p:spPr/>
      </p:sp>
    </p:spTree>
    <p:extLst>
      <p:ext uri="{BB962C8B-B14F-4D97-AF65-F5344CB8AC3E}">
        <p14:creationId xmlns:p14="http://schemas.microsoft.com/office/powerpoint/2010/main" val="2401650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4B20E-8F73-7E77-F8BC-659527D80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F892F-8A2E-9413-EE62-BB400726360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1B995F5-EDA2-BF75-3820-82879C7C59AC}"/>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40CE66C8-4C2C-D71D-7883-86D81D9567EC}"/>
              </a:ext>
            </a:extLst>
          </p:cNvPr>
          <p:cNvSpPr>
            <a:spLocks noGrp="1"/>
          </p:cNvSpPr>
          <p:nvPr>
            <p:ph type="sldNum" sz="quarter" idx="5"/>
          </p:nvPr>
        </p:nvSpPr>
        <p:spPr/>
      </p:sp>
    </p:spTree>
    <p:extLst>
      <p:ext uri="{BB962C8B-B14F-4D97-AF65-F5344CB8AC3E}">
        <p14:creationId xmlns:p14="http://schemas.microsoft.com/office/powerpoint/2010/main" val="1096458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B331A-9824-DDF2-B099-B7D958034F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47AB2-7B6E-7D82-5AAD-91D20A78F17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DE023D2-0938-842B-F4F0-AF122CE4063A}"/>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6C203DE5-371C-D21B-B513-DB61DA76F6CE}"/>
              </a:ext>
            </a:extLst>
          </p:cNvPr>
          <p:cNvSpPr>
            <a:spLocks noGrp="1"/>
          </p:cNvSpPr>
          <p:nvPr>
            <p:ph type="sldNum" sz="quarter" idx="5"/>
          </p:nvPr>
        </p:nvSpPr>
        <p:spPr/>
      </p:sp>
    </p:spTree>
    <p:extLst>
      <p:ext uri="{BB962C8B-B14F-4D97-AF65-F5344CB8AC3E}">
        <p14:creationId xmlns:p14="http://schemas.microsoft.com/office/powerpoint/2010/main" val="2205825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B3566-0D6C-E83F-E68A-A17B1753A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B6177-25FD-5DE5-00E8-1FA1F2AFAB4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5679AF8-AB63-2F10-7B9E-CF49FC5A1159}"/>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A7A28E55-BFE9-DAE7-8A6E-A31F47A3A7AB}"/>
              </a:ext>
            </a:extLst>
          </p:cNvPr>
          <p:cNvSpPr>
            <a:spLocks noGrp="1"/>
          </p:cNvSpPr>
          <p:nvPr>
            <p:ph type="sldNum" sz="quarter" idx="5"/>
          </p:nvPr>
        </p:nvSpPr>
        <p:spPr/>
      </p:sp>
    </p:spTree>
    <p:extLst>
      <p:ext uri="{BB962C8B-B14F-4D97-AF65-F5344CB8AC3E}">
        <p14:creationId xmlns:p14="http://schemas.microsoft.com/office/powerpoint/2010/main" val="33067877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88916-4980-33A2-302F-7DE96473CA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036FE-BA41-CB4C-BC24-DD144FB7DEC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73FB980-D4C9-18D1-5BE0-687DA5B34467}"/>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EA7102CB-4B10-4E7C-CA99-A6EF97830E0E}"/>
              </a:ext>
            </a:extLst>
          </p:cNvPr>
          <p:cNvSpPr>
            <a:spLocks noGrp="1"/>
          </p:cNvSpPr>
          <p:nvPr>
            <p:ph type="sldNum" sz="quarter" idx="5"/>
          </p:nvPr>
        </p:nvSpPr>
        <p:spPr/>
      </p:sp>
    </p:spTree>
    <p:extLst>
      <p:ext uri="{BB962C8B-B14F-4D97-AF65-F5344CB8AC3E}">
        <p14:creationId xmlns:p14="http://schemas.microsoft.com/office/powerpoint/2010/main" val="1913619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6DE00-F4C7-F257-F324-BC88834E4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2D188D-642E-FA9D-2F52-1BE2B6A6279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179223B-61E3-7AEF-4FC4-53B440773FF2}"/>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AA807494-C286-4914-2E7E-374826866ABE}"/>
              </a:ext>
            </a:extLst>
          </p:cNvPr>
          <p:cNvSpPr>
            <a:spLocks noGrp="1"/>
          </p:cNvSpPr>
          <p:nvPr>
            <p:ph type="sldNum" sz="quarter" idx="5"/>
          </p:nvPr>
        </p:nvSpPr>
        <p:spPr/>
      </p:sp>
    </p:spTree>
    <p:extLst>
      <p:ext uri="{BB962C8B-B14F-4D97-AF65-F5344CB8AC3E}">
        <p14:creationId xmlns:p14="http://schemas.microsoft.com/office/powerpoint/2010/main" val="3093164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3FA7B-767D-27EF-77F8-3C0F3E0F5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3B140-BDBA-C3C9-8A45-8129623435A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B142A36-6585-91F2-31EB-96D19D1D3D27}"/>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8D7877C1-C2F1-E457-E46C-F3E9A81251A6}"/>
              </a:ext>
            </a:extLst>
          </p:cNvPr>
          <p:cNvSpPr>
            <a:spLocks noGrp="1"/>
          </p:cNvSpPr>
          <p:nvPr>
            <p:ph type="sldNum" sz="quarter" idx="5"/>
          </p:nvPr>
        </p:nvSpPr>
        <p:spPr/>
      </p:sp>
    </p:spTree>
    <p:extLst>
      <p:ext uri="{BB962C8B-B14F-4D97-AF65-F5344CB8AC3E}">
        <p14:creationId xmlns:p14="http://schemas.microsoft.com/office/powerpoint/2010/main" val="6228017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sets clear expectations on what the business provides versus what we expect from the vendor platform.</a:t>
            </a:r>
          </a:p>
          <a:p>
            <a:endParaRPr/>
          </a:p>
          <a:p>
            <a:r>
              <a:t>On the business side, we must provide an application governance mechanism that issues Universal Application IDs and a Universal Identifier for third-party partners, the 3pBID.</a:t>
            </a:r>
          </a:p>
          <a:p>
            <a:endParaRPr/>
          </a:p>
          <a:p>
            <a:r>
              <a:t>Those identifiers are used to create and label site-to-site VPN connections between partners and Virtual Tenants and to identify entities when generating mTLS certificates for Web and Web API connections.</a:t>
            </a:r>
          </a:p>
          <a:p>
            <a:endParaRPr/>
          </a:p>
          <a:p>
            <a:r>
              <a:t>The business is also responsible for operating PKI processes to generate and securely deliver mTLS certificates, and for providing SAML/OAuth2/OIDC identity providers for SSO and role-based access to the Virtual Tenant portal.</a:t>
            </a:r>
          </a:p>
          <a:p>
            <a:endParaRPr/>
          </a:p>
          <a:p>
            <a:r>
              <a:t>On the vendor side, the platform must consume these identifiers as first-class attributes in the tenant model and configuration APIs, automatically build VPNs and service proxies from portal data, and integrate cleanly with our PKI and identity providers.</a:t>
            </a:r>
          </a:p>
          <a:p>
            <a:endParaRPr/>
          </a:p>
          <a:p>
            <a:r>
              <a:t>This division of responsibilities makes it clear that governance, identity, and certificate issuance remain enterprise functions, while the vendor focuses on automation, enforcement, and integration.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final slide summarizes what we want to see in responses.</a:t>
            </a:r>
          </a:p>
          <a:p>
            <a:endParaRPr/>
          </a:p>
          <a:p>
            <a:r>
              <a:t>Vendors should describe end-to-end workflows starting from an application owner using the portal, through approval, to automated IPsec and service proxy deployment.</a:t>
            </a:r>
          </a:p>
          <a:p>
            <a:endParaRPr/>
          </a:p>
          <a:p>
            <a:r>
              <a:t>They should show how their platform implements each of the required service patterns in a vendor-neutral, standards-based way.</a:t>
            </a:r>
          </a:p>
          <a:p>
            <a:endParaRPr/>
          </a:p>
          <a:p>
            <a:r>
              <a:t>We expect concrete evidence of self-service forms that generate remote IPsec bundles, VLZ tenant configuration, and proxy rules, plus reference architectures, runbooks, and automation artifacts.</a:t>
            </a:r>
          </a:p>
          <a:p>
            <a:endParaRPr/>
          </a:p>
          <a:p>
            <a:r>
              <a:t>Finally, responses should map capabilities not only to our security, compliance, and scalability requirements, but also to the shared responsibility model between the business and the vendor platform.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0046" y="1112104"/>
            <a:ext cx="5507673"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20045" y="2187258"/>
            <a:ext cx="5507674" cy="4099242"/>
          </a:xfrm>
        </p:spPr>
        <p:txBody>
          <a:bodyPr>
            <a:norm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userDrawn="1"/>
        </p:nvCxnSpPr>
        <p:spPr>
          <a:xfrm>
            <a:off x="0" y="1206128"/>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820045" y="6438900"/>
            <a:ext cx="4334291" cy="419100"/>
          </a:xfrm>
        </p:spPr>
        <p:txBody>
          <a:bodyPr/>
          <a:lstStyle/>
          <a:p>
            <a:r>
              <a:rPr lang="en-US" dirty="0"/>
              <a:t>Sample Footer Text</a:t>
            </a: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5221991" y="6438900"/>
            <a:ext cx="648528" cy="419100"/>
          </a:xfrm>
        </p:spPr>
        <p:txBody>
          <a:bodyPr/>
          <a:lstStyle/>
          <a:p>
            <a:fld id="{2ABAD28B-DD56-4B56-883A-96608C765E28}" type="datetimeFigureOut">
              <a:rPr lang="en-US" smtClean="0"/>
              <a:pPr/>
              <a:t>11/12/25</a:t>
            </a:fld>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5876642" y="6438900"/>
            <a:ext cx="451077" cy="419100"/>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6499170" y="0"/>
            <a:ext cx="264482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36307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11/12/25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Third-Party Landing Zone (3PLZ) – RFP Overview</a:t>
            </a:r>
          </a:p>
        </p:txBody>
      </p:sp>
      <p:sp>
        <p:nvSpPr>
          <p:cNvPr id="3" name="Subtitle 2"/>
          <p:cNvSpPr>
            <a:spLocks noGrp="1"/>
          </p:cNvSpPr>
          <p:nvPr>
            <p:ph type="subTitle" idx="1"/>
          </p:nvPr>
        </p:nvSpPr>
        <p:spPr/>
        <p:txBody>
          <a:bodyPr>
            <a:normAutofit fontScale="70000" lnSpcReduction="20000"/>
          </a:bodyPr>
          <a:lstStyle/>
          <a:p>
            <a:r>
              <a:rPr dirty="0"/>
              <a:t>Vendor-Neutral Requirements for Self-Service Third-Party Connectivity</a:t>
            </a:r>
            <a:r>
              <a:rPr lang="en-US" dirty="0"/>
              <a:t> Solution </a:t>
            </a:r>
            <a:endParaRPr dirty="0"/>
          </a:p>
          <a:p>
            <a:endParaRPr dirty="0"/>
          </a:p>
          <a:p>
            <a:r>
              <a:rPr lang="en-US" dirty="0"/>
              <a:t>Michael J. Martin </a:t>
            </a:r>
          </a:p>
          <a:p>
            <a:r>
              <a:rPr lang="en-US" dirty="0"/>
              <a:t>Network Security Engineering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B27B5-B62F-6785-8550-6AC72427F1E6}"/>
              </a:ext>
            </a:extLst>
          </p:cNvPr>
          <p:cNvSpPr>
            <a:spLocks noGrp="1"/>
          </p:cNvSpPr>
          <p:nvPr>
            <p:ph type="title"/>
          </p:nvPr>
        </p:nvSpPr>
        <p:spPr>
          <a:xfrm>
            <a:off x="820046" y="1691328"/>
            <a:ext cx="5507673" cy="699516"/>
          </a:xfrm>
        </p:spPr>
        <p:txBody>
          <a:bodyPr anchor="t">
            <a:normAutofit fontScale="90000"/>
          </a:bodyPr>
          <a:lstStyle/>
          <a:p>
            <a:r>
              <a:rPr lang="en-US" dirty="0"/>
              <a:t>A Case For Change</a:t>
            </a:r>
          </a:p>
        </p:txBody>
      </p:sp>
      <p:sp>
        <p:nvSpPr>
          <p:cNvPr id="4" name="Content Placeholder 3">
            <a:extLst>
              <a:ext uri="{FF2B5EF4-FFF2-40B4-BE49-F238E27FC236}">
                <a16:creationId xmlns:a16="http://schemas.microsoft.com/office/drawing/2014/main" id="{F74347F7-1C3A-BE77-BE2B-7F915A9C6EA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0045" y="2497693"/>
            <a:ext cx="5507674" cy="3618492"/>
          </a:xfrm>
        </p:spPr>
        <p:txBody>
          <a:bodyPr>
            <a:normAutofit/>
          </a:bodyPr>
          <a:lstStyle/>
          <a:p>
            <a:pPr marL="0" indent="0">
              <a:buNone/>
            </a:pPr>
            <a:r>
              <a:rPr lang="en-US" dirty="0"/>
              <a:t>Traditional enterprise approaches to third-party connectivity are no longer sufficient. They lack isolation, auditability, and scalability—creating security gaps and reducing business agility. Manual processes introduce inefficiencies and increase risk, while growing third-party interactions amplify these challenges. At the same time, evolving regulatory requirements and sophisticated cyber threats demand a standardized, automated approach that enforces least privilege, segmentation, and identity-aware controls to ensure compliance and operational resilience.</a:t>
            </a:r>
          </a:p>
          <a:p>
            <a:pPr marL="0" indent="0">
              <a:buNone/>
            </a:pPr>
            <a:endParaRPr lang="en-US" dirty="0"/>
          </a:p>
          <a:p>
            <a:pPr marL="0" indent="0">
              <a:buNone/>
            </a:pPr>
            <a:r>
              <a:rPr lang="en-US" dirty="0"/>
              <a:t>To address these challenges, the enterprise must </a:t>
            </a:r>
            <a:r>
              <a:rPr lang="en-US" b="1" dirty="0"/>
              <a:t>transition from insecure, unsupportable legacy models to a modern, service-oriented capability</a:t>
            </a:r>
            <a:r>
              <a:rPr lang="en-US" dirty="0"/>
              <a:t>. This new approach empowers business units through </a:t>
            </a:r>
            <a:r>
              <a:rPr lang="en-US" b="1" dirty="0"/>
              <a:t>self-service onboarding, automation, and end-to-end governance</a:t>
            </a:r>
            <a:r>
              <a:rPr lang="en-US" dirty="0"/>
              <a:t>, delivering a secure, repeatable, and compliant connectivity framework that accelerates time-to-market while reducing operational risk.</a:t>
            </a:r>
            <a:br>
              <a:rPr lang="en-US" dirty="0"/>
            </a:br>
            <a:endParaRPr lang="en-US" sz="1050" dirty="0"/>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64AD47C7-B7E5-445D-AEFE-7E79FBD16C7B}"/>
              </a:ext>
            </a:extLst>
          </p:cNvPr>
          <p:cNvPicPr>
            <a:picLocks noGrp="1" noChangeAspect="1"/>
          </p:cNvPicPr>
          <p:nvPr>
            <p:ph type="pic" sz="quarter" idx="13"/>
          </p:nvPr>
        </p:nvPicPr>
        <p:blipFill>
          <a:blip r:embed="rId3"/>
          <a:srcRect l="20124" r="41310"/>
          <a:stretch>
            <a:fillRect/>
          </a:stretch>
        </p:blipFill>
        <p:spPr>
          <a:xfrm>
            <a:off x="6499170" y="857257"/>
            <a:ext cx="2644829" cy="5143493"/>
          </a:xfrm>
          <a:prstGeom prst="rect">
            <a:avLst/>
          </a:prstGeom>
          <a:noFill/>
        </p:spPr>
      </p:pic>
    </p:spTree>
    <p:extLst>
      <p:ext uri="{BB962C8B-B14F-4D97-AF65-F5344CB8AC3E}">
        <p14:creationId xmlns:p14="http://schemas.microsoft.com/office/powerpoint/2010/main" val="30868974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6AA65-8D1D-9F32-C051-F574E7C17C56}"/>
              </a:ext>
            </a:extLst>
          </p:cNvPr>
          <p:cNvSpPr>
            <a:spLocks noGrp="1"/>
          </p:cNvSpPr>
          <p:nvPr>
            <p:ph type="title"/>
          </p:nvPr>
        </p:nvSpPr>
        <p:spPr>
          <a:xfrm>
            <a:off x="820046" y="1691328"/>
            <a:ext cx="5507673" cy="699516"/>
          </a:xfrm>
        </p:spPr>
        <p:txBody>
          <a:bodyPr anchor="t">
            <a:noAutofit/>
          </a:bodyPr>
          <a:lstStyle/>
          <a:p>
            <a:r>
              <a:rPr lang="en-US" sz="2800" dirty="0"/>
              <a:t>Delivering Change a Strategic Shift</a:t>
            </a:r>
          </a:p>
        </p:txBody>
      </p:sp>
      <p:sp>
        <p:nvSpPr>
          <p:cNvPr id="4" name="Content Placeholder 3">
            <a:extLst>
              <a:ext uri="{FF2B5EF4-FFF2-40B4-BE49-F238E27FC236}">
                <a16:creationId xmlns:a16="http://schemas.microsoft.com/office/drawing/2014/main" id="{A42973BB-E57A-EB07-5E80-CE87098530B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0045" y="2497693"/>
            <a:ext cx="5507674" cy="3074432"/>
          </a:xfrm>
        </p:spPr>
        <p:txBody>
          <a:bodyPr>
            <a:normAutofit/>
          </a:bodyPr>
          <a:lstStyle/>
          <a:p>
            <a:pPr marL="0" indent="0">
              <a:buNone/>
            </a:pPr>
            <a:r>
              <a:rPr lang="en-US" sz="1050" b="1" dirty="0"/>
              <a:t>Empowering Application Teams</a:t>
            </a:r>
            <a:br>
              <a:rPr lang="en-US" sz="1050" dirty="0"/>
            </a:br>
            <a:r>
              <a:rPr lang="en-US" sz="1050" dirty="0"/>
              <a:t>This shift enables application teams to independently manage connectivity through a </a:t>
            </a:r>
            <a:r>
              <a:rPr lang="en-US" sz="1050" b="1" dirty="0"/>
              <a:t>self-service, outcome-driven model</a:t>
            </a:r>
            <a:r>
              <a:rPr lang="en-US" sz="1050" dirty="0"/>
              <a:t>, reducing reliance on centralized processes and accelerating delivery</a:t>
            </a:r>
          </a:p>
          <a:p>
            <a:pPr marL="0" indent="0">
              <a:buNone/>
            </a:pPr>
            <a:endParaRPr lang="en-US" sz="1050" dirty="0"/>
          </a:p>
          <a:p>
            <a:pPr marL="0" indent="0">
              <a:buNone/>
            </a:pPr>
            <a:r>
              <a:rPr lang="en-US" sz="1050" b="1" dirty="0"/>
              <a:t>Alignment with DevOps</a:t>
            </a:r>
            <a:br>
              <a:rPr lang="en-US" sz="1050" dirty="0"/>
            </a:br>
            <a:r>
              <a:rPr lang="en-US" sz="1050" dirty="0"/>
              <a:t>By allowing teams to </a:t>
            </a:r>
            <a:r>
              <a:rPr lang="en-US" sz="1050" b="1" dirty="0"/>
              <a:t>build, run, and own their connections securely</a:t>
            </a:r>
            <a:r>
              <a:rPr lang="en-US" sz="1050" dirty="0"/>
              <a:t>, this approach reinforces DevOps principles and promotes agility across the enterprise.</a:t>
            </a:r>
          </a:p>
          <a:p>
            <a:pPr marL="0" indent="0">
              <a:buNone/>
            </a:pPr>
            <a:endParaRPr lang="en-US" sz="1050" dirty="0"/>
          </a:p>
          <a:p>
            <a:pPr marL="0" indent="0">
              <a:buNone/>
            </a:pPr>
            <a:r>
              <a:rPr lang="en-US" sz="1050" b="1" dirty="0"/>
              <a:t>Automation and Scalability</a:t>
            </a:r>
            <a:br>
              <a:rPr lang="en-US" sz="1050" dirty="0"/>
            </a:br>
            <a:r>
              <a:rPr lang="en-US" sz="1050" dirty="0"/>
              <a:t>Automated delivery frameworks ensure </a:t>
            </a:r>
            <a:r>
              <a:rPr lang="en-US" sz="1050" b="1" dirty="0"/>
              <a:t>consistent, repeatable, and scalable connectivity</a:t>
            </a:r>
            <a:r>
              <a:rPr lang="en-US" sz="1050" dirty="0"/>
              <a:t>, while embedding compliance and governance controls into every step.</a:t>
            </a:r>
          </a:p>
          <a:p>
            <a:pPr marL="0" indent="0">
              <a:buNone/>
            </a:pPr>
            <a:endParaRPr lang="en-US" sz="1050" dirty="0"/>
          </a:p>
          <a:p>
            <a:pPr marL="0" indent="0">
              <a:buNone/>
            </a:pPr>
            <a:r>
              <a:rPr lang="en-US" sz="1050" b="1" dirty="0"/>
              <a:t>Operational Efficiency and Ownership</a:t>
            </a:r>
            <a:br>
              <a:rPr lang="en-US" sz="1050" dirty="0"/>
            </a:br>
            <a:r>
              <a:rPr lang="en-US" sz="1050" dirty="0"/>
              <a:t>The strategic shift fosters </a:t>
            </a:r>
            <a:r>
              <a:rPr lang="en-US" sz="1050" b="1" dirty="0"/>
              <a:t>enterprise-wide efficiency</a:t>
            </a:r>
            <a:r>
              <a:rPr lang="en-US" sz="1050" dirty="0"/>
              <a:t>, reducing manual effort and reinforcing a culture of </a:t>
            </a:r>
            <a:r>
              <a:rPr lang="en-US" sz="1050" b="1" dirty="0"/>
              <a:t>ownership and accountability</a:t>
            </a:r>
            <a:r>
              <a:rPr lang="en-US" sz="1050" dirty="0"/>
              <a:t> for secure connectivity.</a:t>
            </a:r>
          </a:p>
          <a:p>
            <a:pPr marL="0" indent="0">
              <a:buNone/>
            </a:pPr>
            <a:endParaRPr lang="en-US" sz="1050" dirty="0"/>
          </a:p>
        </p:txBody>
      </p:sp>
      <p:pic>
        <p:nvPicPr>
          <p:cNvPr id="5" name="Content Placeholder 4" descr="technology and innovation concept">
            <a:extLst>
              <a:ext uri="{FF2B5EF4-FFF2-40B4-BE49-F238E27FC236}">
                <a16:creationId xmlns:a16="http://schemas.microsoft.com/office/drawing/2014/main" id="{54B32554-D336-4EC3-AEC3-49BE05606E00}"/>
              </a:ext>
            </a:extLst>
          </p:cNvPr>
          <p:cNvPicPr>
            <a:picLocks noGrp="1" noChangeAspect="1"/>
          </p:cNvPicPr>
          <p:nvPr>
            <p:ph type="pic" sz="quarter" idx="13"/>
          </p:nvPr>
        </p:nvPicPr>
        <p:blipFill>
          <a:blip r:embed="rId3"/>
          <a:srcRect l="30026" r="31408"/>
          <a:stretch>
            <a:fillRect/>
          </a:stretch>
        </p:blipFill>
        <p:spPr>
          <a:xfrm>
            <a:off x="6499170" y="857257"/>
            <a:ext cx="2644829" cy="5143493"/>
          </a:xfrm>
          <a:prstGeom prst="rect">
            <a:avLst/>
          </a:prstGeom>
          <a:noFill/>
        </p:spPr>
      </p:pic>
    </p:spTree>
    <p:extLst>
      <p:ext uri="{BB962C8B-B14F-4D97-AF65-F5344CB8AC3E}">
        <p14:creationId xmlns:p14="http://schemas.microsoft.com/office/powerpoint/2010/main" val="29855521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0F204-4DE7-5237-F554-C1D3129B4AF7}"/>
              </a:ext>
            </a:extLst>
          </p:cNvPr>
          <p:cNvSpPr>
            <a:spLocks noGrp="1"/>
          </p:cNvSpPr>
          <p:nvPr>
            <p:ph type="title"/>
          </p:nvPr>
        </p:nvSpPr>
        <p:spPr>
          <a:xfrm>
            <a:off x="457200" y="1025910"/>
            <a:ext cx="5556040" cy="1143000"/>
          </a:xfrm>
        </p:spPr>
        <p:txBody>
          <a:bodyPr>
            <a:normAutofit/>
          </a:bodyPr>
          <a:lstStyle/>
          <a:p>
            <a:r>
              <a:rPr lang="en-US" sz="3200" dirty="0"/>
              <a:t>Proposed Way Forward: 3PLZ </a:t>
            </a:r>
          </a:p>
        </p:txBody>
      </p:sp>
      <p:sp>
        <p:nvSpPr>
          <p:cNvPr id="23" name="TextBox 22">
            <a:extLst>
              <a:ext uri="{FF2B5EF4-FFF2-40B4-BE49-F238E27FC236}">
                <a16:creationId xmlns:a16="http://schemas.microsoft.com/office/drawing/2014/main" id="{60976298-F65A-0C7D-990B-93201AC1548C}"/>
              </a:ext>
            </a:extLst>
          </p:cNvPr>
          <p:cNvSpPr txBox="1"/>
          <p:nvPr/>
        </p:nvSpPr>
        <p:spPr>
          <a:xfrm>
            <a:off x="275531" y="2168910"/>
            <a:ext cx="6101046" cy="3231654"/>
          </a:xfrm>
          <a:prstGeom prst="rect">
            <a:avLst/>
          </a:prstGeom>
          <a:noFill/>
        </p:spPr>
        <p:txBody>
          <a:bodyPr wrap="square">
            <a:spAutoFit/>
          </a:bodyPr>
          <a:lstStyle/>
          <a:p>
            <a:r>
              <a:rPr lang="en-US" sz="1050" b="1" dirty="0"/>
              <a:t>Standardized IPSec Connectivity</a:t>
            </a:r>
          </a:p>
          <a:p>
            <a:r>
              <a:rPr lang="en-US" sz="1050" dirty="0"/>
              <a:t>The solution delivers </a:t>
            </a:r>
            <a:r>
              <a:rPr lang="en-US" sz="1050" b="1" dirty="0"/>
              <a:t>secure, standardized IPSec VPN connectivity</a:t>
            </a:r>
            <a:r>
              <a:rPr lang="en-US" sz="1050" dirty="0"/>
              <a:t> for third-party access, supporting leading platforms such as </a:t>
            </a:r>
            <a:r>
              <a:rPr lang="en-US" sz="1050" b="1" dirty="0"/>
              <a:t>Cisco, Arista, Palo Alto, and Fortinet</a:t>
            </a:r>
            <a:r>
              <a:rPr lang="en-US" sz="1050" dirty="0"/>
              <a:t>. Configurations are validated through virtual lab testing and require only basic, easily collectable data points for deployment.</a:t>
            </a:r>
            <a:br>
              <a:rPr lang="en-US" sz="1050" dirty="0"/>
            </a:br>
            <a:r>
              <a:rPr lang="en-US" sz="1050" dirty="0"/>
              <a:t>Connectivity supports </a:t>
            </a:r>
            <a:r>
              <a:rPr lang="en-US" sz="1050" b="1" dirty="0"/>
              <a:t>peer-to-peer routing via BGP or static IP</a:t>
            </a:r>
            <a:r>
              <a:rPr lang="en-US" sz="1050" dirty="0"/>
              <a:t>, restricted exclusively between the </a:t>
            </a:r>
            <a:r>
              <a:rPr lang="en-US" sz="1050" b="1" dirty="0"/>
              <a:t>Virtual Tenant</a:t>
            </a:r>
            <a:r>
              <a:rPr lang="en-US" sz="1050" dirty="0"/>
              <a:t> and the third-party network. All communication between third parties and the enterprise occurs through </a:t>
            </a:r>
            <a:r>
              <a:rPr lang="en-US" sz="1050" b="1" dirty="0"/>
              <a:t>application-specific proxies</a:t>
            </a:r>
            <a:r>
              <a:rPr lang="en-US" sz="1050" dirty="0"/>
              <a:t>, ensuring isolation and security.</a:t>
            </a:r>
            <a:br>
              <a:rPr lang="en-US" sz="1050" dirty="0"/>
            </a:br>
            <a:r>
              <a:rPr lang="en-US" sz="1050" dirty="0"/>
              <a:t>The architecture employs </a:t>
            </a:r>
            <a:r>
              <a:rPr lang="en-US" sz="1050" b="1" dirty="0"/>
              <a:t>Active/Passive HA with a single tunnel design</a:t>
            </a:r>
            <a:r>
              <a:rPr lang="en-US" sz="1050" dirty="0"/>
              <a:t>, featuring </a:t>
            </a:r>
            <a:r>
              <a:rPr lang="en-US" sz="1050" b="1" dirty="0"/>
              <a:t>unique per-tenant IP tunnel endpoints</a:t>
            </a:r>
            <a:r>
              <a:rPr lang="en-US" sz="1050" dirty="0"/>
              <a:t> for clear segmentation.</a:t>
            </a:r>
          </a:p>
          <a:p>
            <a:endParaRPr lang="en-US" sz="1050" dirty="0"/>
          </a:p>
          <a:p>
            <a:r>
              <a:rPr lang="en-US" sz="1050" b="1" dirty="0"/>
              <a:t>Virtual Tenant Architecture</a:t>
            </a:r>
          </a:p>
          <a:p>
            <a:r>
              <a:rPr lang="en-US" sz="1050" dirty="0"/>
              <a:t>The Virtual Landing Zone operates on a </a:t>
            </a:r>
            <a:r>
              <a:rPr lang="en-US" sz="1050" b="1" dirty="0"/>
              <a:t>split-brain proxy model</a:t>
            </a:r>
            <a:r>
              <a:rPr lang="en-US" sz="1050" dirty="0"/>
              <a:t>, maintaining separate routing domains for third-party and enterprise environments. It includes </a:t>
            </a:r>
            <a:r>
              <a:rPr lang="en-US" sz="1050" b="1" dirty="0"/>
              <a:t>DNS rewriting capabilities</a:t>
            </a:r>
            <a:r>
              <a:rPr lang="en-US" sz="1050" dirty="0"/>
              <a:t>, enabling declarative forwarding for enterprise domains (public and private FQDNs), with responses contingent on successful authoritative lookups. A </a:t>
            </a:r>
            <a:r>
              <a:rPr lang="en-US" sz="1050" b="1" dirty="0"/>
              <a:t>unique per-tenant/proxy addressing model</a:t>
            </a:r>
            <a:r>
              <a:rPr lang="en-US" sz="1050" dirty="0"/>
              <a:t> ensures strong isolation and traceability across all connections.</a:t>
            </a:r>
          </a:p>
          <a:p>
            <a:br>
              <a:rPr lang="en-US" dirty="0"/>
            </a:br>
            <a:endParaRPr lang="en-US" dirty="0"/>
          </a:p>
        </p:txBody>
      </p:sp>
      <p:pic>
        <p:nvPicPr>
          <p:cNvPr id="24" name="Content Placeholder 4" descr="Computer network security firewall cyber data protection">
            <a:extLst>
              <a:ext uri="{FF2B5EF4-FFF2-40B4-BE49-F238E27FC236}">
                <a16:creationId xmlns:a16="http://schemas.microsoft.com/office/drawing/2014/main" id="{DEF07821-8801-47D7-CC5F-96724CDEC1AE}"/>
              </a:ext>
            </a:extLst>
          </p:cNvPr>
          <p:cNvPicPr>
            <a:picLocks noChangeAspect="1"/>
          </p:cNvPicPr>
          <p:nvPr/>
        </p:nvPicPr>
        <p:blipFill>
          <a:blip r:embed="rId3"/>
          <a:srcRect l="26269" r="35166"/>
          <a:stretch>
            <a:fillRect/>
          </a:stretch>
        </p:blipFill>
        <p:spPr>
          <a:xfrm>
            <a:off x="6499171" y="1371985"/>
            <a:ext cx="2644829" cy="5143493"/>
          </a:xfrm>
          <a:prstGeom prst="rect">
            <a:avLst/>
          </a:prstGeom>
          <a:noFill/>
        </p:spPr>
      </p:pic>
    </p:spTree>
    <p:extLst>
      <p:ext uri="{BB962C8B-B14F-4D97-AF65-F5344CB8AC3E}">
        <p14:creationId xmlns:p14="http://schemas.microsoft.com/office/powerpoint/2010/main" val="3212857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D407A-DE16-48B6-9B12-E0A2E139A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D4071-FA93-9B29-6EA3-03C77808B913}"/>
              </a:ext>
            </a:extLst>
          </p:cNvPr>
          <p:cNvSpPr>
            <a:spLocks noGrp="1"/>
          </p:cNvSpPr>
          <p:nvPr>
            <p:ph type="title"/>
          </p:nvPr>
        </p:nvSpPr>
        <p:spPr>
          <a:xfrm>
            <a:off x="275531" y="1025910"/>
            <a:ext cx="6041971" cy="1143000"/>
          </a:xfrm>
        </p:spPr>
        <p:txBody>
          <a:bodyPr>
            <a:normAutofit/>
          </a:bodyPr>
          <a:lstStyle/>
          <a:p>
            <a:r>
              <a:rPr lang="en-US" sz="3200" dirty="0"/>
              <a:t>Vision for A 3rd Party Landing Zone</a:t>
            </a:r>
          </a:p>
        </p:txBody>
      </p:sp>
      <p:sp>
        <p:nvSpPr>
          <p:cNvPr id="23" name="TextBox 22">
            <a:extLst>
              <a:ext uri="{FF2B5EF4-FFF2-40B4-BE49-F238E27FC236}">
                <a16:creationId xmlns:a16="http://schemas.microsoft.com/office/drawing/2014/main" id="{0BBFD6FE-988F-E681-9B54-C6CB7608C999}"/>
              </a:ext>
            </a:extLst>
          </p:cNvPr>
          <p:cNvSpPr txBox="1"/>
          <p:nvPr/>
        </p:nvSpPr>
        <p:spPr>
          <a:xfrm>
            <a:off x="275531" y="2168910"/>
            <a:ext cx="6101046" cy="3277820"/>
          </a:xfrm>
          <a:prstGeom prst="rect">
            <a:avLst/>
          </a:prstGeom>
          <a:noFill/>
        </p:spPr>
        <p:txBody>
          <a:bodyPr wrap="square">
            <a:spAutoFit/>
          </a:bodyPr>
          <a:lstStyle/>
          <a:p>
            <a:r>
              <a:rPr lang="en-US" sz="1050" b="1" dirty="0"/>
              <a:t>Secure Tenant Architecture</a:t>
            </a:r>
          </a:p>
          <a:p>
            <a:r>
              <a:rPr lang="en-US" sz="1050" dirty="0"/>
              <a:t>Deliver a secure and compliant third-party connectivity solution by implementing </a:t>
            </a:r>
            <a:r>
              <a:rPr lang="en-US" sz="1050" b="1" dirty="0"/>
              <a:t>IPSec VPN tunnels to a Virtual Landing Zone</a:t>
            </a:r>
            <a:r>
              <a:rPr lang="en-US" sz="1050" dirty="0"/>
              <a:t>, ensuring isolation and protection of enterprise applications from external access. This architecture aligns with </a:t>
            </a:r>
            <a:r>
              <a:rPr lang="en-US" sz="1050" b="1" dirty="0"/>
              <a:t>SOC 2, ISO 27001, and NIST CSF / 800-171 / 800-207 standards</a:t>
            </a:r>
            <a:r>
              <a:rPr lang="en-US" sz="1050" dirty="0"/>
              <a:t>, providing a governance-driven approach that meets regulatory and security requirements.</a:t>
            </a:r>
          </a:p>
          <a:p>
            <a:endParaRPr lang="en-US" sz="1050" dirty="0"/>
          </a:p>
          <a:p>
            <a:r>
              <a:rPr lang="en-US" sz="1050" b="1" dirty="0"/>
              <a:t>Granular Access Control</a:t>
            </a:r>
          </a:p>
          <a:p>
            <a:r>
              <a:rPr lang="en-US" sz="1050" dirty="0"/>
              <a:t>Enforce per-partner connectivity through </a:t>
            </a:r>
            <a:r>
              <a:rPr lang="en-US" sz="1050" b="1" dirty="0"/>
              <a:t>service-specific proxies within the Virtual Landing Zone</a:t>
            </a:r>
            <a:r>
              <a:rPr lang="en-US" sz="1050" dirty="0"/>
              <a:t>, applying </a:t>
            </a:r>
            <a:r>
              <a:rPr lang="en-US" sz="1050" b="1" dirty="0"/>
              <a:t>least-privilege principles</a:t>
            </a:r>
            <a:r>
              <a:rPr lang="en-US" sz="1050" dirty="0"/>
              <a:t> and segmentation to deliver auditable, fine-grained access. Identity-aware controls strengthen the security posture by ensuring access decisions are context-driven and aligned with organizational policies.</a:t>
            </a:r>
          </a:p>
          <a:p>
            <a:endParaRPr lang="en-US" sz="1050" dirty="0"/>
          </a:p>
          <a:p>
            <a:r>
              <a:rPr lang="en-US" sz="1050" b="1" dirty="0"/>
              <a:t>Repeatable, Compliant Connectivity through Automation and Self-Service Onboarding</a:t>
            </a:r>
          </a:p>
          <a:p>
            <a:r>
              <a:rPr lang="en-US" sz="1050" dirty="0"/>
              <a:t>Streamline partner onboarding and minimize manual effort, accelerating time-to-market while enhancing governance and reducing operational risk. Delivered via an </a:t>
            </a:r>
            <a:r>
              <a:rPr lang="en-US" sz="1050" b="1" dirty="0"/>
              <a:t>intuitive self-service portal</a:t>
            </a:r>
            <a:r>
              <a:rPr lang="en-US" sz="1050" dirty="0"/>
              <a:t>, this solution provides a </a:t>
            </a:r>
            <a:r>
              <a:rPr lang="en-US" sz="1050" b="1" dirty="0"/>
              <a:t>secure, standardized connectivity framework</a:t>
            </a:r>
            <a:r>
              <a:rPr lang="en-US" sz="1050" dirty="0"/>
              <a:t> with a pre-hardened environment for quick, consistent onboarding. Easy-to-deploy interfaces and minimal configuration ensure a seamless experience while maintaining strict compliance with industry security standards.</a:t>
            </a:r>
          </a:p>
          <a:p>
            <a:pPr>
              <a:buNone/>
            </a:pPr>
            <a:endParaRPr lang="en-US" dirty="0"/>
          </a:p>
        </p:txBody>
      </p:sp>
      <p:pic>
        <p:nvPicPr>
          <p:cNvPr id="24" name="Content Placeholder 4" descr="Computer network security firewall cyber data protection">
            <a:extLst>
              <a:ext uri="{FF2B5EF4-FFF2-40B4-BE49-F238E27FC236}">
                <a16:creationId xmlns:a16="http://schemas.microsoft.com/office/drawing/2014/main" id="{47562A30-2362-B3F7-910A-D3A22EEFF3FF}"/>
              </a:ext>
            </a:extLst>
          </p:cNvPr>
          <p:cNvPicPr>
            <a:picLocks noChangeAspect="1"/>
          </p:cNvPicPr>
          <p:nvPr/>
        </p:nvPicPr>
        <p:blipFill>
          <a:blip r:embed="rId3"/>
          <a:srcRect l="26269" r="35166"/>
          <a:stretch>
            <a:fillRect/>
          </a:stretch>
        </p:blipFill>
        <p:spPr>
          <a:xfrm>
            <a:off x="6499171" y="1371985"/>
            <a:ext cx="2644829" cy="5143493"/>
          </a:xfrm>
          <a:prstGeom prst="rect">
            <a:avLst/>
          </a:prstGeom>
          <a:noFill/>
        </p:spPr>
      </p:pic>
    </p:spTree>
    <p:extLst>
      <p:ext uri="{BB962C8B-B14F-4D97-AF65-F5344CB8AC3E}">
        <p14:creationId xmlns:p14="http://schemas.microsoft.com/office/powerpoint/2010/main" val="1659290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fontScale="90000"/>
          </a:bodyPr>
          <a:lstStyle/>
          <a:p>
            <a:r>
              <a:rPr lang="en-US" sz="3500" dirty="0">
                <a:solidFill>
                  <a:srgbClr val="FFFFFF"/>
                </a:solidFill>
              </a:rPr>
              <a:t>Service Pattern Catalog (Initial Use Cases)</a:t>
            </a:r>
          </a:p>
        </p:txBody>
      </p:sp>
      <p:sp>
        <p:nvSpPr>
          <p:cNvPr id="3" name="Rectangle 2" descr="Server">
            <a:extLst>
              <a:ext uri="{FF2B5EF4-FFF2-40B4-BE49-F238E27FC236}">
                <a16:creationId xmlns:a16="http://schemas.microsoft.com/office/drawing/2014/main" id="{120C9E89-F989-091E-C2AE-4EF7FAD8B7B9}"/>
              </a:ext>
            </a:extLst>
          </p:cNvPr>
          <p:cNvSpPr/>
          <p:nvPr/>
        </p:nvSpPr>
        <p:spPr>
          <a:xfrm>
            <a:off x="621286" y="1924820"/>
            <a:ext cx="669990" cy="669990"/>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4" name="Rectangle 3" descr="User Network">
            <a:extLst>
              <a:ext uri="{FF2B5EF4-FFF2-40B4-BE49-F238E27FC236}">
                <a16:creationId xmlns:a16="http://schemas.microsoft.com/office/drawing/2014/main" id="{2C894598-5531-75A4-E712-1E6A5B1DC11E}"/>
              </a:ext>
            </a:extLst>
          </p:cNvPr>
          <p:cNvSpPr/>
          <p:nvPr/>
        </p:nvSpPr>
        <p:spPr>
          <a:xfrm>
            <a:off x="621286" y="2688199"/>
            <a:ext cx="669990" cy="669990"/>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5" name="Rectangle 4" descr="Computer">
            <a:extLst>
              <a:ext uri="{FF2B5EF4-FFF2-40B4-BE49-F238E27FC236}">
                <a16:creationId xmlns:a16="http://schemas.microsoft.com/office/drawing/2014/main" id="{8CE39477-2470-9B50-8CB4-80ED8D0A96C6}"/>
              </a:ext>
            </a:extLst>
          </p:cNvPr>
          <p:cNvSpPr/>
          <p:nvPr/>
        </p:nvSpPr>
        <p:spPr>
          <a:xfrm>
            <a:off x="621286" y="3498997"/>
            <a:ext cx="669990" cy="669990"/>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6" name="Rectangle 5" descr="Unlock">
            <a:extLst>
              <a:ext uri="{FF2B5EF4-FFF2-40B4-BE49-F238E27FC236}">
                <a16:creationId xmlns:a16="http://schemas.microsoft.com/office/drawing/2014/main" id="{AD08AE1B-2662-F7A5-C8BB-FC2E09D54EE1}"/>
              </a:ext>
            </a:extLst>
          </p:cNvPr>
          <p:cNvSpPr/>
          <p:nvPr/>
        </p:nvSpPr>
        <p:spPr>
          <a:xfrm>
            <a:off x="551485" y="4263191"/>
            <a:ext cx="669990" cy="669990"/>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7" name="Rectangle 6" descr="Soap">
            <a:extLst>
              <a:ext uri="{FF2B5EF4-FFF2-40B4-BE49-F238E27FC236}">
                <a16:creationId xmlns:a16="http://schemas.microsoft.com/office/drawing/2014/main" id="{5B8E4F06-D68A-9C99-A167-5165484F4CB0}"/>
              </a:ext>
            </a:extLst>
          </p:cNvPr>
          <p:cNvSpPr/>
          <p:nvPr/>
        </p:nvSpPr>
        <p:spPr>
          <a:xfrm>
            <a:off x="551485" y="5073989"/>
            <a:ext cx="669990" cy="669990"/>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8" name="Rectangle 7" descr="Web Design">
            <a:extLst>
              <a:ext uri="{FF2B5EF4-FFF2-40B4-BE49-F238E27FC236}">
                <a16:creationId xmlns:a16="http://schemas.microsoft.com/office/drawing/2014/main" id="{3CD44C4B-9EF1-0935-DE94-B1DADF0FDB07}"/>
              </a:ext>
            </a:extLst>
          </p:cNvPr>
          <p:cNvSpPr/>
          <p:nvPr/>
        </p:nvSpPr>
        <p:spPr>
          <a:xfrm>
            <a:off x="551485" y="5931572"/>
            <a:ext cx="669990" cy="669990"/>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0" name="TextBox 9">
            <a:extLst>
              <a:ext uri="{FF2B5EF4-FFF2-40B4-BE49-F238E27FC236}">
                <a16:creationId xmlns:a16="http://schemas.microsoft.com/office/drawing/2014/main" id="{7E569B86-84EB-AA7B-769F-E981BA888ABF}"/>
              </a:ext>
            </a:extLst>
          </p:cNvPr>
          <p:cNvSpPr txBox="1"/>
          <p:nvPr/>
        </p:nvSpPr>
        <p:spPr>
          <a:xfrm>
            <a:off x="1475195" y="2024432"/>
            <a:ext cx="6449660" cy="369332"/>
          </a:xfrm>
          <a:prstGeom prst="rect">
            <a:avLst/>
          </a:prstGeom>
          <a:noFill/>
        </p:spPr>
        <p:txBody>
          <a:bodyPr wrap="square">
            <a:spAutoFit/>
          </a:bodyPr>
          <a:lstStyle/>
          <a:p>
            <a:pPr lvl="0"/>
            <a:r>
              <a:rPr lang="en-US" dirty="0"/>
              <a:t>Secure File Transfer – SFTP / SSH / MFT (e.g., IBM Sterling)</a:t>
            </a:r>
          </a:p>
        </p:txBody>
      </p:sp>
      <p:sp>
        <p:nvSpPr>
          <p:cNvPr id="12" name="TextBox 11">
            <a:extLst>
              <a:ext uri="{FF2B5EF4-FFF2-40B4-BE49-F238E27FC236}">
                <a16:creationId xmlns:a16="http://schemas.microsoft.com/office/drawing/2014/main" id="{828C08A2-DF1F-BFAF-FE92-03800187F7A3}"/>
              </a:ext>
            </a:extLst>
          </p:cNvPr>
          <p:cNvSpPr txBox="1"/>
          <p:nvPr/>
        </p:nvSpPr>
        <p:spPr>
          <a:xfrm>
            <a:off x="1475195" y="2696411"/>
            <a:ext cx="6449660" cy="646331"/>
          </a:xfrm>
          <a:prstGeom prst="rect">
            <a:avLst/>
          </a:prstGeom>
          <a:noFill/>
        </p:spPr>
        <p:txBody>
          <a:bodyPr wrap="square">
            <a:spAutoFit/>
          </a:bodyPr>
          <a:lstStyle/>
          <a:p>
            <a:pPr lvl="0"/>
            <a:r>
              <a:rPr lang="en-US" dirty="0"/>
              <a:t>Collaboration Access – M365, </a:t>
            </a:r>
            <a:r>
              <a:rPr lang="en-US" dirty="0" err="1"/>
              <a:t>eShare</a:t>
            </a:r>
            <a:r>
              <a:rPr lang="en-US" dirty="0"/>
              <a:t>, Slack via proxied, logged access</a:t>
            </a:r>
          </a:p>
        </p:txBody>
      </p:sp>
      <p:sp>
        <p:nvSpPr>
          <p:cNvPr id="14" name="TextBox 13">
            <a:extLst>
              <a:ext uri="{FF2B5EF4-FFF2-40B4-BE49-F238E27FC236}">
                <a16:creationId xmlns:a16="http://schemas.microsoft.com/office/drawing/2014/main" id="{EDCAFCB3-7FA0-9C0E-77F9-FD3349FA9AF8}"/>
              </a:ext>
            </a:extLst>
          </p:cNvPr>
          <p:cNvSpPr txBox="1"/>
          <p:nvPr/>
        </p:nvSpPr>
        <p:spPr>
          <a:xfrm>
            <a:off x="1475195" y="3627072"/>
            <a:ext cx="6449660" cy="369332"/>
          </a:xfrm>
          <a:prstGeom prst="rect">
            <a:avLst/>
          </a:prstGeom>
          <a:noFill/>
        </p:spPr>
        <p:txBody>
          <a:bodyPr wrap="square">
            <a:spAutoFit/>
          </a:bodyPr>
          <a:lstStyle/>
          <a:p>
            <a:pPr lvl="0"/>
            <a:r>
              <a:rPr lang="en-US" dirty="0"/>
              <a:t>Virtual Desktop (VDI) – Citrix / Microsoft VDI via per-tenant proxies</a:t>
            </a:r>
          </a:p>
        </p:txBody>
      </p:sp>
      <p:sp>
        <p:nvSpPr>
          <p:cNvPr id="16" name="TextBox 15">
            <a:extLst>
              <a:ext uri="{FF2B5EF4-FFF2-40B4-BE49-F238E27FC236}">
                <a16:creationId xmlns:a16="http://schemas.microsoft.com/office/drawing/2014/main" id="{5ACA20E3-3D2C-70EB-789B-FC1ADEAFA5AE}"/>
              </a:ext>
            </a:extLst>
          </p:cNvPr>
          <p:cNvSpPr txBox="1"/>
          <p:nvPr/>
        </p:nvSpPr>
        <p:spPr>
          <a:xfrm>
            <a:off x="1475195" y="4299051"/>
            <a:ext cx="6449660" cy="646331"/>
          </a:xfrm>
          <a:prstGeom prst="rect">
            <a:avLst/>
          </a:prstGeom>
          <a:noFill/>
        </p:spPr>
        <p:txBody>
          <a:bodyPr wrap="square">
            <a:spAutoFit/>
          </a:bodyPr>
          <a:lstStyle/>
          <a:p>
            <a:pPr lvl="0"/>
            <a:r>
              <a:rPr lang="en-US" dirty="0"/>
              <a:t>Web Applications – Internal HTTPS apps via reverse proxies with </a:t>
            </a:r>
            <a:r>
              <a:rPr lang="en-US" dirty="0" err="1"/>
              <a:t>mTLS</a:t>
            </a:r>
            <a:endParaRPr lang="en-US" dirty="0"/>
          </a:p>
        </p:txBody>
      </p:sp>
      <p:sp>
        <p:nvSpPr>
          <p:cNvPr id="18" name="TextBox 17">
            <a:extLst>
              <a:ext uri="{FF2B5EF4-FFF2-40B4-BE49-F238E27FC236}">
                <a16:creationId xmlns:a16="http://schemas.microsoft.com/office/drawing/2014/main" id="{77BC9765-3A30-FBF4-B283-82D4B6C0268E}"/>
              </a:ext>
            </a:extLst>
          </p:cNvPr>
          <p:cNvSpPr txBox="1"/>
          <p:nvPr/>
        </p:nvSpPr>
        <p:spPr>
          <a:xfrm>
            <a:off x="1475195" y="5073989"/>
            <a:ext cx="6449660" cy="646331"/>
          </a:xfrm>
          <a:prstGeom prst="rect">
            <a:avLst/>
          </a:prstGeom>
          <a:noFill/>
        </p:spPr>
        <p:txBody>
          <a:bodyPr wrap="square">
            <a:spAutoFit/>
          </a:bodyPr>
          <a:lstStyle/>
          <a:p>
            <a:pPr lvl="0"/>
            <a:r>
              <a:rPr lang="en-US" dirty="0"/>
              <a:t>Web APIs – REST/SOAP APIs with </a:t>
            </a:r>
            <a:r>
              <a:rPr lang="en-US" dirty="0" err="1"/>
              <a:t>mTLS</a:t>
            </a:r>
            <a:r>
              <a:rPr lang="en-US" dirty="0"/>
              <a:t> and token/claim-based controls</a:t>
            </a:r>
          </a:p>
        </p:txBody>
      </p:sp>
      <p:sp>
        <p:nvSpPr>
          <p:cNvPr id="20" name="TextBox 19">
            <a:extLst>
              <a:ext uri="{FF2B5EF4-FFF2-40B4-BE49-F238E27FC236}">
                <a16:creationId xmlns:a16="http://schemas.microsoft.com/office/drawing/2014/main" id="{51EE7D16-292E-2C5D-2A6E-5D773D92A91F}"/>
              </a:ext>
            </a:extLst>
          </p:cNvPr>
          <p:cNvSpPr txBox="1"/>
          <p:nvPr/>
        </p:nvSpPr>
        <p:spPr>
          <a:xfrm>
            <a:off x="1475195" y="6047030"/>
            <a:ext cx="6449660" cy="369332"/>
          </a:xfrm>
          <a:prstGeom prst="rect">
            <a:avLst/>
          </a:prstGeom>
          <a:noFill/>
        </p:spPr>
        <p:txBody>
          <a:bodyPr wrap="square">
            <a:spAutoFit/>
          </a:bodyPr>
          <a:lstStyle/>
          <a:p>
            <a:pPr lvl="0"/>
            <a:r>
              <a:rPr lang="en-US" dirty="0"/>
              <a:t>Each pattern must support both Enterprise and Internet/SaaS paths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D57135-206F-C3BD-79F4-43C4B5A887F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C22DC44-22DF-C7F5-486B-0BB2FAD0B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7460FDE-AEA5-5665-9B19-A22187B3A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06F0C6D-AA4B-85C5-D223-224ACF7F5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A1743EF-C995-CD94-0A4E-D0ACE4C3E3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46C0240-5E02-26E6-C747-8A7AC1609880}"/>
              </a:ext>
            </a:extLst>
          </p:cNvPr>
          <p:cNvSpPr>
            <a:spLocks noGrp="1"/>
          </p:cNvSpPr>
          <p:nvPr>
            <p:ph type="title"/>
          </p:nvPr>
        </p:nvSpPr>
        <p:spPr>
          <a:xfrm>
            <a:off x="1028697" y="348865"/>
            <a:ext cx="7533018" cy="877729"/>
          </a:xfrm>
        </p:spPr>
        <p:txBody>
          <a:bodyPr anchor="ctr">
            <a:normAutofit/>
          </a:bodyPr>
          <a:lstStyle/>
          <a:p>
            <a:r>
              <a:rPr lang="en-US" sz="3500" dirty="0">
                <a:solidFill>
                  <a:srgbClr val="FFFFFF"/>
                </a:solidFill>
              </a:rPr>
              <a:t>High Level Architectural View </a:t>
            </a:r>
          </a:p>
        </p:txBody>
      </p:sp>
      <p:pic>
        <p:nvPicPr>
          <p:cNvPr id="15" name="Picture 14" descr="A diagram of a cloud computing system&#10;&#10;AI-generated content may be incorrect.">
            <a:extLst>
              <a:ext uri="{FF2B5EF4-FFF2-40B4-BE49-F238E27FC236}">
                <a16:creationId xmlns:a16="http://schemas.microsoft.com/office/drawing/2014/main" id="{D2D3E508-104C-8B8A-D0A2-D98D7E3C1ADD}"/>
              </a:ext>
            </a:extLst>
          </p:cNvPr>
          <p:cNvPicPr>
            <a:picLocks noChangeAspect="1"/>
          </p:cNvPicPr>
          <p:nvPr/>
        </p:nvPicPr>
        <p:blipFill>
          <a:blip r:embed="rId3"/>
          <a:stretch>
            <a:fillRect/>
          </a:stretch>
        </p:blipFill>
        <p:spPr>
          <a:xfrm>
            <a:off x="412339" y="2215080"/>
            <a:ext cx="8487933" cy="2812039"/>
          </a:xfrm>
          <a:prstGeom prst="rect">
            <a:avLst/>
          </a:prstGeom>
        </p:spPr>
      </p:pic>
      <p:sp>
        <p:nvSpPr>
          <p:cNvPr id="17" name="TextBox 16">
            <a:extLst>
              <a:ext uri="{FF2B5EF4-FFF2-40B4-BE49-F238E27FC236}">
                <a16:creationId xmlns:a16="http://schemas.microsoft.com/office/drawing/2014/main" id="{267627B0-A76B-D850-25A4-04FE92A922F0}"/>
              </a:ext>
            </a:extLst>
          </p:cNvPr>
          <p:cNvSpPr txBox="1"/>
          <p:nvPr/>
        </p:nvSpPr>
        <p:spPr>
          <a:xfrm>
            <a:off x="412339" y="5296421"/>
            <a:ext cx="7529922" cy="738664"/>
          </a:xfrm>
          <a:prstGeom prst="rect">
            <a:avLst/>
          </a:prstGeom>
          <a:noFill/>
        </p:spPr>
        <p:txBody>
          <a:bodyPr wrap="square" rtlCol="0">
            <a:spAutoFit/>
          </a:bodyPr>
          <a:lstStyle/>
          <a:p>
            <a:r>
              <a:rPr lang="en-US" sz="1400" dirty="0"/>
              <a:t>3</a:t>
            </a:r>
            <a:r>
              <a:rPr lang="en-US" sz="1400" baseline="30000" dirty="0"/>
              <a:t>rd</a:t>
            </a:r>
            <a:r>
              <a:rPr lang="en-US" sz="1400" dirty="0"/>
              <a:t> party users utilize their corporate DNS to resolve our enterprise targets. User application traffic is sent to the 3PLZ target IP’s (Provided By L3PLZ DNS Service). User sessions are then connected (using platform optimized proxies) to our corporate Internet or Intranet application.   </a:t>
            </a:r>
          </a:p>
        </p:txBody>
      </p:sp>
    </p:spTree>
    <p:extLst>
      <p:ext uri="{BB962C8B-B14F-4D97-AF65-F5344CB8AC3E}">
        <p14:creationId xmlns:p14="http://schemas.microsoft.com/office/powerpoint/2010/main" val="4214142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C17928-10D7-59DD-A698-0927CD6E15DE}"/>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132629D-84B8-D147-F19B-B34BB7C53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554299E-BA74-B6BF-8F6E-86F624EDA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A7C0DA9-EC62-5EDC-07B6-B9FD493EF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50F7038-D625-CE0E-F0A3-E56201F51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FF9A4BB-5492-1FD5-B652-E46470FF34DD}"/>
              </a:ext>
            </a:extLst>
          </p:cNvPr>
          <p:cNvSpPr>
            <a:spLocks noGrp="1"/>
          </p:cNvSpPr>
          <p:nvPr>
            <p:ph type="title"/>
          </p:nvPr>
        </p:nvSpPr>
        <p:spPr>
          <a:xfrm>
            <a:off x="805491" y="349112"/>
            <a:ext cx="7533018" cy="877729"/>
          </a:xfrm>
        </p:spPr>
        <p:txBody>
          <a:bodyPr anchor="ctr">
            <a:normAutofit/>
          </a:bodyPr>
          <a:lstStyle/>
          <a:p>
            <a:r>
              <a:rPr lang="en-US" sz="3500" dirty="0">
                <a:solidFill>
                  <a:srgbClr val="FFFFFF"/>
                </a:solidFill>
              </a:rPr>
              <a:t>Appendix </a:t>
            </a:r>
          </a:p>
        </p:txBody>
      </p:sp>
    </p:spTree>
    <p:extLst>
      <p:ext uri="{BB962C8B-B14F-4D97-AF65-F5344CB8AC3E}">
        <p14:creationId xmlns:p14="http://schemas.microsoft.com/office/powerpoint/2010/main" val="4247556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D2BB5C-1C68-23CA-6A32-A756CACAED25}"/>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0721309-6A84-1A8E-A087-7A508F64B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B74F5EB-79D9-0E0B-6623-BD8AE3230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5AC6CEA-69C5-C8F6-AB14-C3E2503010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B9A7C90-E4F8-7E24-F409-0C4B4C66A6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3C594DF-6A28-FEAA-D818-D5EDBE7D8B9C}"/>
              </a:ext>
            </a:extLst>
          </p:cNvPr>
          <p:cNvSpPr>
            <a:spLocks noGrp="1"/>
          </p:cNvSpPr>
          <p:nvPr>
            <p:ph type="title"/>
          </p:nvPr>
        </p:nvSpPr>
        <p:spPr>
          <a:xfrm>
            <a:off x="805491" y="349112"/>
            <a:ext cx="7533018" cy="877729"/>
          </a:xfrm>
        </p:spPr>
        <p:txBody>
          <a:bodyPr anchor="ctr">
            <a:normAutofit/>
          </a:bodyPr>
          <a:lstStyle/>
          <a:p>
            <a:r>
              <a:rPr lang="en-US" sz="3600" dirty="0">
                <a:solidFill>
                  <a:schemeClr val="bg1"/>
                </a:solidFill>
              </a:rPr>
              <a:t>Self-Service Portal Experience</a:t>
            </a:r>
            <a:endParaRPr lang="en-US" sz="3500" dirty="0">
              <a:solidFill>
                <a:schemeClr val="bg1"/>
              </a:solidFill>
            </a:endParaRPr>
          </a:p>
        </p:txBody>
      </p:sp>
      <p:sp>
        <p:nvSpPr>
          <p:cNvPr id="4" name="TextBox 3">
            <a:extLst>
              <a:ext uri="{FF2B5EF4-FFF2-40B4-BE49-F238E27FC236}">
                <a16:creationId xmlns:a16="http://schemas.microsoft.com/office/drawing/2014/main" id="{CD497EC5-32DB-6C98-A76F-88E0E3285502}"/>
              </a:ext>
            </a:extLst>
          </p:cNvPr>
          <p:cNvSpPr txBox="1"/>
          <p:nvPr/>
        </p:nvSpPr>
        <p:spPr>
          <a:xfrm>
            <a:off x="369367" y="1985189"/>
            <a:ext cx="3919355" cy="2154436"/>
          </a:xfrm>
          <a:prstGeom prst="rect">
            <a:avLst/>
          </a:prstGeom>
          <a:noFill/>
        </p:spPr>
        <p:txBody>
          <a:bodyPr wrap="square">
            <a:spAutoFit/>
          </a:bodyPr>
          <a:lstStyle/>
          <a:p>
            <a:r>
              <a:rPr lang="en-US" sz="1400" dirty="0"/>
              <a:t>Web portal is the primary front door for application teams and product managers to deliver capabilities.</a:t>
            </a:r>
          </a:p>
          <a:p>
            <a:endParaRPr lang="en-US" dirty="0"/>
          </a:p>
          <a:p>
            <a:r>
              <a:rPr lang="en-US" sz="1400" dirty="0"/>
              <a:t>“Shift Left” Delivery approach.</a:t>
            </a:r>
          </a:p>
          <a:p>
            <a:endParaRPr lang="en-US" dirty="0"/>
          </a:p>
          <a:p>
            <a:endParaRPr lang="en-US" sz="1400" dirty="0"/>
          </a:p>
          <a:p>
            <a:r>
              <a:rPr lang="en-US" sz="1400" dirty="0"/>
              <a:t>Embracing the KISS principle.</a:t>
            </a:r>
          </a:p>
          <a:p>
            <a:endParaRPr lang="en-US" sz="1400" dirty="0"/>
          </a:p>
        </p:txBody>
      </p:sp>
      <p:sp>
        <p:nvSpPr>
          <p:cNvPr id="5" name="TextBox 4">
            <a:extLst>
              <a:ext uri="{FF2B5EF4-FFF2-40B4-BE49-F238E27FC236}">
                <a16:creationId xmlns:a16="http://schemas.microsoft.com/office/drawing/2014/main" id="{4F5DF515-54AD-B76D-EFAF-E5DEE359E2A8}"/>
              </a:ext>
            </a:extLst>
          </p:cNvPr>
          <p:cNvSpPr txBox="1"/>
          <p:nvPr/>
        </p:nvSpPr>
        <p:spPr>
          <a:xfrm>
            <a:off x="4658089" y="1985189"/>
            <a:ext cx="4572000" cy="2431435"/>
          </a:xfrm>
          <a:prstGeom prst="rect">
            <a:avLst/>
          </a:prstGeom>
          <a:noFill/>
        </p:spPr>
        <p:txBody>
          <a:bodyPr wrap="square">
            <a:spAutoFit/>
          </a:bodyPr>
          <a:lstStyle/>
          <a:p>
            <a:r>
              <a:rPr lang="en-US" sz="1400" dirty="0"/>
              <a:t>Web and API driven delivery interface enabling easy adoption for both technical and not-technical users.</a:t>
            </a:r>
          </a:p>
          <a:p>
            <a:endParaRPr lang="en-US" dirty="0"/>
          </a:p>
          <a:p>
            <a:r>
              <a:rPr lang="en-US" sz="1400" dirty="0"/>
              <a:t>Service and pattern driven configuration, built on easily collected data</a:t>
            </a:r>
          </a:p>
          <a:p>
            <a:endParaRPr lang="en-US" dirty="0"/>
          </a:p>
          <a:p>
            <a:r>
              <a:rPr lang="en-US" sz="1400" dirty="0"/>
              <a:t>No deep network expertise required for requestors. Portal delivers tested configurations based on well defined patterns.</a:t>
            </a:r>
          </a:p>
          <a:p>
            <a:endParaRPr lang="en-US" dirty="0"/>
          </a:p>
        </p:txBody>
      </p:sp>
    </p:spTree>
    <p:extLst>
      <p:ext uri="{BB962C8B-B14F-4D97-AF65-F5344CB8AC3E}">
        <p14:creationId xmlns:p14="http://schemas.microsoft.com/office/powerpoint/2010/main" val="4083584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3A52F6-5117-C7B0-A3D6-BA363A33B2DE}"/>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EDD9741-AC73-2D92-EF96-B28CA32097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34069D-FE39-5BFD-5875-D764F5C9C3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1DC220E-6F94-D639-A257-A603CB94C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C652C0E-DFA1-52BE-34A8-64D6D4306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1B226CD-DEC2-61E2-CFF6-60C444DB302F}"/>
              </a:ext>
            </a:extLst>
          </p:cNvPr>
          <p:cNvSpPr>
            <a:spLocks noGrp="1"/>
          </p:cNvSpPr>
          <p:nvPr>
            <p:ph type="title"/>
          </p:nvPr>
        </p:nvSpPr>
        <p:spPr>
          <a:xfrm>
            <a:off x="805491" y="349112"/>
            <a:ext cx="7533018" cy="877729"/>
          </a:xfrm>
        </p:spPr>
        <p:txBody>
          <a:bodyPr anchor="ctr">
            <a:normAutofit fontScale="90000"/>
          </a:bodyPr>
          <a:lstStyle/>
          <a:p>
            <a:r>
              <a:rPr lang="en-US" sz="3600" dirty="0">
                <a:solidFill>
                  <a:schemeClr val="bg1"/>
                </a:solidFill>
              </a:rPr>
              <a:t>Virtual Landing Zone (VLZ) &amp; Tenant Model</a:t>
            </a:r>
            <a:endParaRPr lang="en-US" sz="3500" dirty="0">
              <a:solidFill>
                <a:schemeClr val="bg1"/>
              </a:solidFill>
            </a:endParaRPr>
          </a:p>
        </p:txBody>
      </p:sp>
      <p:sp>
        <p:nvSpPr>
          <p:cNvPr id="3" name="Content Placeholder 2">
            <a:extLst>
              <a:ext uri="{FF2B5EF4-FFF2-40B4-BE49-F238E27FC236}">
                <a16:creationId xmlns:a16="http://schemas.microsoft.com/office/drawing/2014/main" id="{5C14FFF2-8AA6-F221-C668-C739DFAFA51A}"/>
              </a:ext>
            </a:extLst>
          </p:cNvPr>
          <p:cNvSpPr>
            <a:spLocks noGrp="1"/>
          </p:cNvSpPr>
          <p:nvPr>
            <p:ph idx="1"/>
          </p:nvPr>
        </p:nvSpPr>
        <p:spPr>
          <a:xfrm>
            <a:off x="599935" y="2518112"/>
            <a:ext cx="3598268" cy="3909457"/>
          </a:xfrm>
        </p:spPr>
        <p:txBody>
          <a:bodyPr>
            <a:normAutofit/>
          </a:bodyPr>
          <a:lstStyle/>
          <a:p>
            <a:r>
              <a:rPr sz="1600" dirty="0"/>
              <a:t>Each third-party connection is a dedicated tenant (VLZ)</a:t>
            </a:r>
            <a:endParaRPr lang="en-US" sz="1600" dirty="0"/>
          </a:p>
          <a:p>
            <a:r>
              <a:rPr lang="en-US" sz="1600" dirty="0"/>
              <a:t>Provides the enterprise side of the Peer 2 Peer IPSec tunnel</a:t>
            </a:r>
          </a:p>
          <a:p>
            <a:r>
              <a:rPr lang="en-US" sz="1600" dirty="0"/>
              <a:t>Single HA-FT IPSec Connection per VLZ </a:t>
            </a:r>
          </a:p>
          <a:p>
            <a:r>
              <a:rPr sz="1600" dirty="0"/>
              <a:t>VLZ is a no-access zone: no direct routing to internal networks</a:t>
            </a:r>
            <a:endParaRPr lang="en-US" sz="1600" dirty="0"/>
          </a:p>
          <a:p>
            <a:r>
              <a:rPr lang="en-US" sz="1600" dirty="0"/>
              <a:t>Virtual Landing Zone is physical, but discrete (A tenant can have more than one VLZ)</a:t>
            </a:r>
            <a:endParaRPr sz="1600" dirty="0"/>
          </a:p>
        </p:txBody>
      </p:sp>
      <p:sp>
        <p:nvSpPr>
          <p:cNvPr id="4" name="Content Placeholder 2">
            <a:extLst>
              <a:ext uri="{FF2B5EF4-FFF2-40B4-BE49-F238E27FC236}">
                <a16:creationId xmlns:a16="http://schemas.microsoft.com/office/drawing/2014/main" id="{F4C09E11-D712-2398-959A-29E12F408C84}"/>
              </a:ext>
            </a:extLst>
          </p:cNvPr>
          <p:cNvSpPr txBox="1">
            <a:spLocks/>
          </p:cNvSpPr>
          <p:nvPr/>
        </p:nvSpPr>
        <p:spPr>
          <a:xfrm>
            <a:off x="4960786" y="2518112"/>
            <a:ext cx="3598268" cy="375473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600" dirty="0"/>
              <a:t>A Tenant is logical (more than one VLZ can exist in a tenant)</a:t>
            </a:r>
          </a:p>
          <a:p>
            <a:r>
              <a:rPr lang="en-US" sz="1600" dirty="0"/>
              <a:t>Each tenant is a unique identity, mapped to a business identity</a:t>
            </a:r>
          </a:p>
          <a:p>
            <a:pPr lvl="1"/>
            <a:r>
              <a:rPr lang="en-US" sz="1200" dirty="0"/>
              <a:t>A VLZ is owned by tenant</a:t>
            </a:r>
            <a:endParaRPr lang="en-US" sz="1600" dirty="0"/>
          </a:p>
          <a:p>
            <a:r>
              <a:rPr lang="en-US" sz="1600" dirty="0"/>
              <a:t>Each VLZ is distinctive:</a:t>
            </a:r>
          </a:p>
          <a:p>
            <a:pPr lvl="1"/>
            <a:r>
              <a:rPr lang="en-US" sz="1200" dirty="0"/>
              <a:t>Address blocks</a:t>
            </a:r>
          </a:p>
          <a:p>
            <a:pPr lvl="1"/>
            <a:r>
              <a:rPr lang="en-US" sz="1200" dirty="0"/>
              <a:t>Tunnel interfaces, </a:t>
            </a:r>
          </a:p>
          <a:p>
            <a:pPr lvl="1"/>
            <a:r>
              <a:rPr lang="en-US" sz="1200" dirty="0"/>
              <a:t>EBGP ASN</a:t>
            </a:r>
          </a:p>
          <a:p>
            <a:pPr lvl="1"/>
            <a:r>
              <a:rPr lang="en-US" sz="1200" dirty="0"/>
              <a:t>DNS Resolver </a:t>
            </a:r>
          </a:p>
          <a:p>
            <a:pPr lvl="1"/>
            <a:r>
              <a:rPr lang="en-US" sz="1200" dirty="0"/>
              <a:t>Service Connections</a:t>
            </a:r>
          </a:p>
          <a:p>
            <a:pPr lvl="1"/>
            <a:endParaRPr lang="en-US" sz="1200" dirty="0"/>
          </a:p>
          <a:p>
            <a:r>
              <a:rPr lang="en-US" sz="1600" dirty="0"/>
              <a:t>Availability is built around applications using FQDN reachability </a:t>
            </a:r>
          </a:p>
          <a:p>
            <a:pPr marL="457200" lvl="1" indent="0">
              <a:buNone/>
            </a:pPr>
            <a:endParaRPr lang="en-US" sz="1600" dirty="0"/>
          </a:p>
        </p:txBody>
      </p:sp>
      <p:sp>
        <p:nvSpPr>
          <p:cNvPr id="5" name="TextBox 4">
            <a:extLst>
              <a:ext uri="{FF2B5EF4-FFF2-40B4-BE49-F238E27FC236}">
                <a16:creationId xmlns:a16="http://schemas.microsoft.com/office/drawing/2014/main" id="{D57A5E44-7C12-4B11-84A8-2EAC6484BAF1}"/>
              </a:ext>
            </a:extLst>
          </p:cNvPr>
          <p:cNvSpPr txBox="1"/>
          <p:nvPr/>
        </p:nvSpPr>
        <p:spPr>
          <a:xfrm>
            <a:off x="945094" y="1829566"/>
            <a:ext cx="2907950" cy="461665"/>
          </a:xfrm>
          <a:prstGeom prst="rect">
            <a:avLst/>
          </a:prstGeom>
          <a:noFill/>
        </p:spPr>
        <p:txBody>
          <a:bodyPr wrap="square" rtlCol="0">
            <a:spAutoFit/>
          </a:bodyPr>
          <a:lstStyle/>
          <a:p>
            <a:r>
              <a:rPr lang="en-US" sz="2400" dirty="0"/>
              <a:t>Virtual Landing Zone</a:t>
            </a:r>
          </a:p>
        </p:txBody>
      </p:sp>
      <p:sp>
        <p:nvSpPr>
          <p:cNvPr id="6" name="TextBox 5">
            <a:extLst>
              <a:ext uri="{FF2B5EF4-FFF2-40B4-BE49-F238E27FC236}">
                <a16:creationId xmlns:a16="http://schemas.microsoft.com/office/drawing/2014/main" id="{B1D3B27C-AB26-6EF8-5F5A-82062EF24224}"/>
              </a:ext>
            </a:extLst>
          </p:cNvPr>
          <p:cNvSpPr txBox="1"/>
          <p:nvPr/>
        </p:nvSpPr>
        <p:spPr>
          <a:xfrm>
            <a:off x="5044547" y="1829566"/>
            <a:ext cx="2907950" cy="461665"/>
          </a:xfrm>
          <a:prstGeom prst="rect">
            <a:avLst/>
          </a:prstGeom>
          <a:noFill/>
        </p:spPr>
        <p:txBody>
          <a:bodyPr wrap="square" rtlCol="0">
            <a:spAutoFit/>
          </a:bodyPr>
          <a:lstStyle/>
          <a:p>
            <a:r>
              <a:rPr lang="en-US" sz="2400" dirty="0"/>
              <a:t>Secure Tenant Model</a:t>
            </a:r>
          </a:p>
        </p:txBody>
      </p:sp>
    </p:spTree>
    <p:extLst>
      <p:ext uri="{BB962C8B-B14F-4D97-AF65-F5344CB8AC3E}">
        <p14:creationId xmlns:p14="http://schemas.microsoft.com/office/powerpoint/2010/main" val="1358938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47BC29-8E8E-D45C-8CA7-529C5190B9DF}"/>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882FA21-B4D4-DF47-A7DE-E83A1419B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120D6B4-0BB7-CF62-C361-48837417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21E8B9B-83E9-4BB4-48B1-9B5657F072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272AA46-964D-4317-53D9-B67B709E47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96E96A5-D67F-665F-4BB1-6CC733007470}"/>
              </a:ext>
            </a:extLst>
          </p:cNvPr>
          <p:cNvSpPr>
            <a:spLocks noGrp="1"/>
          </p:cNvSpPr>
          <p:nvPr>
            <p:ph type="title"/>
          </p:nvPr>
        </p:nvSpPr>
        <p:spPr>
          <a:xfrm>
            <a:off x="-2" y="349112"/>
            <a:ext cx="9039300" cy="877729"/>
          </a:xfrm>
        </p:spPr>
        <p:txBody>
          <a:bodyPr anchor="ctr">
            <a:normAutofit/>
          </a:bodyPr>
          <a:lstStyle/>
          <a:p>
            <a:r>
              <a:rPr lang="en-US" sz="3600" dirty="0">
                <a:solidFill>
                  <a:schemeClr val="bg1"/>
                </a:solidFill>
              </a:rPr>
              <a:t>Service Patterns and Service Connections</a:t>
            </a:r>
            <a:endParaRPr lang="en-US" sz="3500" dirty="0">
              <a:solidFill>
                <a:schemeClr val="bg1"/>
              </a:solidFill>
            </a:endParaRPr>
          </a:p>
        </p:txBody>
      </p:sp>
      <p:sp>
        <p:nvSpPr>
          <p:cNvPr id="16" name="Content Placeholder 2">
            <a:extLst>
              <a:ext uri="{FF2B5EF4-FFF2-40B4-BE49-F238E27FC236}">
                <a16:creationId xmlns:a16="http://schemas.microsoft.com/office/drawing/2014/main" id="{637A88D8-B6E6-6CA9-C1EA-A2138503C867}"/>
              </a:ext>
            </a:extLst>
          </p:cNvPr>
          <p:cNvSpPr>
            <a:spLocks noGrp="1"/>
          </p:cNvSpPr>
          <p:nvPr>
            <p:ph idx="1"/>
          </p:nvPr>
        </p:nvSpPr>
        <p:spPr>
          <a:xfrm>
            <a:off x="599935" y="2464636"/>
            <a:ext cx="3598268" cy="3909457"/>
          </a:xfrm>
        </p:spPr>
        <p:txBody>
          <a:bodyPr>
            <a:normAutofit fontScale="85000" lnSpcReduction="20000"/>
          </a:bodyPr>
          <a:lstStyle/>
          <a:p>
            <a:r>
              <a:rPr lang="en-US" sz="1600" dirty="0"/>
              <a:t>Users provide connectivity using application specific proxy configuration templates</a:t>
            </a:r>
          </a:p>
          <a:p>
            <a:pPr lvl="1"/>
            <a:r>
              <a:rPr lang="en-US" sz="1200" dirty="0"/>
              <a:t>SFTP/SSH proxy, VDI proxy, Web App proxy, Web API proxy, SaaS proxy</a:t>
            </a:r>
          </a:p>
          <a:p>
            <a:r>
              <a:rPr lang="en-US" sz="1600" dirty="0"/>
              <a:t>Each service has a set of templates that are optimized for different use cases (e.g., Internet Reachable Target, SFTP using blind key authentication)</a:t>
            </a:r>
          </a:p>
          <a:p>
            <a:r>
              <a:rPr lang="en-US" sz="1600" dirty="0"/>
              <a:t>Application owners define Service Profiles via the portal:</a:t>
            </a:r>
          </a:p>
          <a:p>
            <a:pPr lvl="1"/>
            <a:r>
              <a:rPr lang="en-US" sz="1600" dirty="0"/>
              <a:t>Choose service type (e.g., Enterprise Web App, Internet SaaS)</a:t>
            </a:r>
          </a:p>
          <a:p>
            <a:pPr lvl="1"/>
            <a:r>
              <a:rPr lang="en-US" sz="1600" dirty="0"/>
              <a:t>Provide FQDNs, ports, and header/path requirements</a:t>
            </a:r>
          </a:p>
          <a:p>
            <a:pPr lvl="1"/>
            <a:r>
              <a:rPr lang="en-US" sz="1600" dirty="0"/>
              <a:t>Select controls (IP restrictions, auth requirements, rate limiting)</a:t>
            </a:r>
          </a:p>
          <a:p>
            <a:r>
              <a:rPr lang="en-US" sz="1600" dirty="0"/>
              <a:t>Once the use case pattern is selected, to define a service connection all that is needed is the user to define the corporate FQDN application target.</a:t>
            </a:r>
            <a:endParaRPr sz="1600" dirty="0"/>
          </a:p>
        </p:txBody>
      </p:sp>
      <p:sp>
        <p:nvSpPr>
          <p:cNvPr id="17" name="TextBox 16">
            <a:extLst>
              <a:ext uri="{FF2B5EF4-FFF2-40B4-BE49-F238E27FC236}">
                <a16:creationId xmlns:a16="http://schemas.microsoft.com/office/drawing/2014/main" id="{27BD1FEB-1CA5-D25A-5242-23D41BCEC729}"/>
              </a:ext>
            </a:extLst>
          </p:cNvPr>
          <p:cNvSpPr txBox="1"/>
          <p:nvPr/>
        </p:nvSpPr>
        <p:spPr>
          <a:xfrm>
            <a:off x="599935" y="1856848"/>
            <a:ext cx="2907950" cy="461665"/>
          </a:xfrm>
          <a:prstGeom prst="rect">
            <a:avLst/>
          </a:prstGeom>
          <a:noFill/>
        </p:spPr>
        <p:txBody>
          <a:bodyPr wrap="square" rtlCol="0">
            <a:spAutoFit/>
          </a:bodyPr>
          <a:lstStyle/>
          <a:p>
            <a:r>
              <a:rPr lang="en-US" sz="2400" dirty="0"/>
              <a:t>Service Pattern</a:t>
            </a:r>
          </a:p>
        </p:txBody>
      </p:sp>
      <p:sp>
        <p:nvSpPr>
          <p:cNvPr id="18" name="TextBox 17">
            <a:extLst>
              <a:ext uri="{FF2B5EF4-FFF2-40B4-BE49-F238E27FC236}">
                <a16:creationId xmlns:a16="http://schemas.microsoft.com/office/drawing/2014/main" id="{4FDAECDD-AE67-756A-7ABD-C2C04AC215DB}"/>
              </a:ext>
            </a:extLst>
          </p:cNvPr>
          <p:cNvSpPr txBox="1"/>
          <p:nvPr/>
        </p:nvSpPr>
        <p:spPr>
          <a:xfrm>
            <a:off x="4987109" y="1856848"/>
            <a:ext cx="2907950" cy="461665"/>
          </a:xfrm>
          <a:prstGeom prst="rect">
            <a:avLst/>
          </a:prstGeom>
          <a:noFill/>
        </p:spPr>
        <p:txBody>
          <a:bodyPr wrap="square" rtlCol="0">
            <a:spAutoFit/>
          </a:bodyPr>
          <a:lstStyle/>
          <a:p>
            <a:r>
              <a:rPr lang="en-US" sz="2400" dirty="0"/>
              <a:t>Service Connections</a:t>
            </a:r>
          </a:p>
        </p:txBody>
      </p:sp>
      <p:sp>
        <p:nvSpPr>
          <p:cNvPr id="19" name="Content Placeholder 2">
            <a:extLst>
              <a:ext uri="{FF2B5EF4-FFF2-40B4-BE49-F238E27FC236}">
                <a16:creationId xmlns:a16="http://schemas.microsoft.com/office/drawing/2014/main" id="{50EC136F-F53D-F20E-3BF8-A1ABB29B739D}"/>
              </a:ext>
            </a:extLst>
          </p:cNvPr>
          <p:cNvSpPr txBox="1">
            <a:spLocks/>
          </p:cNvSpPr>
          <p:nvPr/>
        </p:nvSpPr>
        <p:spPr>
          <a:xfrm>
            <a:off x="4641950" y="2518111"/>
            <a:ext cx="3598268" cy="3909457"/>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600" dirty="0"/>
              <a:t>Platform translates profiles into proxy configs, ACLs, and DNS rules</a:t>
            </a:r>
          </a:p>
          <a:p>
            <a:r>
              <a:rPr lang="en-US" sz="1600" dirty="0"/>
              <a:t>FQDN/IP defined application connections that are reachable by 3</a:t>
            </a:r>
            <a:r>
              <a:rPr lang="en-US" sz="1600" baseline="30000" dirty="0"/>
              <a:t>rd</a:t>
            </a:r>
            <a:r>
              <a:rPr lang="en-US" sz="1600" dirty="0"/>
              <a:t> party users over the IPSec tunnel between the 3rd party network and the 3PLZ VLZ.</a:t>
            </a:r>
          </a:p>
          <a:p>
            <a:r>
              <a:rPr lang="en-US" sz="1600" dirty="0"/>
              <a:t>3</a:t>
            </a:r>
            <a:r>
              <a:rPr lang="en-US" sz="1600" baseline="30000" dirty="0"/>
              <a:t>Rd</a:t>
            </a:r>
            <a:r>
              <a:rPr lang="en-US" sz="1600" dirty="0"/>
              <a:t> party users use there corporate DNS to resolve applications. VLZ DNS service rewrites DNS lookup requests to reflect the VLZ proxy address.</a:t>
            </a:r>
          </a:p>
          <a:p>
            <a:r>
              <a:rPr lang="en-US" sz="1600" dirty="0"/>
              <a:t>Reachability to application service connections can be tied to successful corporate DNS resolution and if needed remote hop verification tied to BGP announcements.</a:t>
            </a:r>
          </a:p>
        </p:txBody>
      </p:sp>
    </p:spTree>
    <p:extLst>
      <p:ext uri="{BB962C8B-B14F-4D97-AF65-F5344CB8AC3E}">
        <p14:creationId xmlns:p14="http://schemas.microsoft.com/office/powerpoint/2010/main" val="257548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2FEA71-AF2F-2347-312D-B0800AFBFED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2A5FAC9-310C-DCAC-BA85-183595EF9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7EFA191-B3C5-2FBA-CA72-E475B0F3F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E7397F0-DBD9-BBEA-0168-69FCFA68E6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82C7ECE-58B8-76CD-8CF1-054BAEB1B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9493280-9D0F-7C8B-B4DB-4CAEFAB11B0A}"/>
              </a:ext>
            </a:extLst>
          </p:cNvPr>
          <p:cNvSpPr>
            <a:spLocks noGrp="1"/>
          </p:cNvSpPr>
          <p:nvPr>
            <p:ph type="title"/>
          </p:nvPr>
        </p:nvSpPr>
        <p:spPr>
          <a:xfrm>
            <a:off x="-2" y="349112"/>
            <a:ext cx="9039300" cy="877729"/>
          </a:xfrm>
        </p:spPr>
        <p:txBody>
          <a:bodyPr anchor="ctr">
            <a:normAutofit fontScale="90000"/>
          </a:bodyPr>
          <a:lstStyle/>
          <a:p>
            <a:r>
              <a:rPr lang="en-US" sz="3600" dirty="0">
                <a:solidFill>
                  <a:schemeClr val="bg1"/>
                </a:solidFill>
              </a:rPr>
              <a:t>Sample Portal Form – Secure File Transfer Service-Pattern (SFTP Service-Connection VLZ Proxy)</a:t>
            </a:r>
            <a:endParaRPr lang="en-US" sz="3500" dirty="0">
              <a:solidFill>
                <a:schemeClr val="bg1"/>
              </a:solidFill>
            </a:endParaRPr>
          </a:p>
        </p:txBody>
      </p:sp>
      <p:sp>
        <p:nvSpPr>
          <p:cNvPr id="11" name="Content Placeholder 2">
            <a:extLst>
              <a:ext uri="{FF2B5EF4-FFF2-40B4-BE49-F238E27FC236}">
                <a16:creationId xmlns:a16="http://schemas.microsoft.com/office/drawing/2014/main" id="{EFFF6804-CF9D-90EB-1E34-6B097541D725}"/>
              </a:ext>
            </a:extLst>
          </p:cNvPr>
          <p:cNvSpPr>
            <a:spLocks noGrp="1"/>
          </p:cNvSpPr>
          <p:nvPr>
            <p:ph idx="1"/>
          </p:nvPr>
        </p:nvSpPr>
        <p:spPr>
          <a:xfrm>
            <a:off x="457200" y="1830545"/>
            <a:ext cx="8229600" cy="4525963"/>
          </a:xfrm>
        </p:spPr>
        <p:txBody>
          <a:bodyPr>
            <a:normAutofit fontScale="70000" lnSpcReduction="20000"/>
          </a:bodyPr>
          <a:lstStyle/>
          <a:p>
            <a:r>
              <a:rPr dirty="0"/>
              <a:t>Example fields collected in the portal:</a:t>
            </a:r>
          </a:p>
          <a:p>
            <a:pPr lvl="1"/>
            <a:r>
              <a:rPr dirty="0"/>
              <a:t>Business context: application name, owner, environment (dev/test/prod)</a:t>
            </a:r>
          </a:p>
          <a:p>
            <a:pPr lvl="1"/>
            <a:r>
              <a:rPr dirty="0"/>
              <a:t>Third-party details: organization name, contact info, support hours</a:t>
            </a:r>
          </a:p>
          <a:p>
            <a:pPr lvl="1"/>
            <a:r>
              <a:rPr dirty="0"/>
              <a:t>Network endpoints: remote public IP/FQDN, device type/platform</a:t>
            </a:r>
          </a:p>
          <a:p>
            <a:pPr lvl="1"/>
            <a:r>
              <a:rPr dirty="0"/>
              <a:t>Service specifics: SFTP hostnames, ports, internal target FQDNs</a:t>
            </a:r>
          </a:p>
          <a:p>
            <a:pPr lvl="1"/>
            <a:r>
              <a:rPr dirty="0"/>
              <a:t>Data sensitivity &amp; compliance tags (PHI/PII, region, retention)</a:t>
            </a:r>
          </a:p>
          <a:p>
            <a:pPr lvl="1"/>
            <a:r>
              <a:rPr dirty="0"/>
              <a:t>Operational parameters: expected volume, schedules/maintenance windows</a:t>
            </a:r>
          </a:p>
          <a:p>
            <a:r>
              <a:rPr dirty="0"/>
              <a:t>Validations &amp; policy checks:</a:t>
            </a:r>
          </a:p>
          <a:p>
            <a:pPr lvl="1"/>
            <a:r>
              <a:rPr dirty="0"/>
              <a:t>Required fields, allowed port ranges, approved cipher suites</a:t>
            </a:r>
          </a:p>
          <a:p>
            <a:pPr lvl="1"/>
            <a:r>
              <a:rPr dirty="0"/>
              <a:t>Automatic mapping to a standard SFTP pattern and VLZ tenant</a:t>
            </a:r>
          </a:p>
          <a:p>
            <a:pPr lvl="1"/>
            <a:r>
              <a:rPr dirty="0"/>
              <a:t>Routing to appropriate approvers and risk/compliance reviewers</a:t>
            </a:r>
          </a:p>
        </p:txBody>
      </p:sp>
    </p:spTree>
    <p:extLst>
      <p:ext uri="{BB962C8B-B14F-4D97-AF65-F5344CB8AC3E}">
        <p14:creationId xmlns:p14="http://schemas.microsoft.com/office/powerpoint/2010/main" val="2471092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9EDB23-7831-5725-63DB-EE3109655254}"/>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A9CE3DB-8FBC-97E1-6606-3D7BEB7A65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9BA4AED-3FCF-AB7F-B20B-6FEDF068F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CEFA271-3111-2008-DECA-535363296F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DF89EDD-3C70-06B5-BF68-6CF7A81D11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F426E1A-9522-6EFA-6937-11C2056B9BD3}"/>
              </a:ext>
            </a:extLst>
          </p:cNvPr>
          <p:cNvSpPr>
            <a:spLocks noGrp="1"/>
          </p:cNvSpPr>
          <p:nvPr>
            <p:ph type="title"/>
          </p:nvPr>
        </p:nvSpPr>
        <p:spPr>
          <a:xfrm>
            <a:off x="-3" y="349112"/>
            <a:ext cx="9079151" cy="877729"/>
          </a:xfrm>
        </p:spPr>
        <p:txBody>
          <a:bodyPr anchor="ctr">
            <a:normAutofit fontScale="90000"/>
          </a:bodyPr>
          <a:lstStyle/>
          <a:p>
            <a:r>
              <a:rPr lang="en-US" sz="3600" dirty="0">
                <a:solidFill>
                  <a:schemeClr val="bg1"/>
                </a:solidFill>
              </a:rPr>
              <a:t>Sample Portal Form – Web API </a:t>
            </a:r>
            <a:br>
              <a:rPr lang="en-US" sz="3600" dirty="0">
                <a:solidFill>
                  <a:schemeClr val="bg1"/>
                </a:solidFill>
              </a:rPr>
            </a:br>
            <a:r>
              <a:rPr lang="en-US" sz="3600" dirty="0">
                <a:solidFill>
                  <a:schemeClr val="bg1"/>
                </a:solidFill>
              </a:rPr>
              <a:t>(Enterprise API via VLZ Proxy)</a:t>
            </a:r>
            <a:endParaRPr lang="en-US" sz="3500" dirty="0">
              <a:solidFill>
                <a:schemeClr val="bg1"/>
              </a:solidFill>
            </a:endParaRPr>
          </a:p>
        </p:txBody>
      </p:sp>
      <p:sp>
        <p:nvSpPr>
          <p:cNvPr id="5" name="Content Placeholder 2">
            <a:extLst>
              <a:ext uri="{FF2B5EF4-FFF2-40B4-BE49-F238E27FC236}">
                <a16:creationId xmlns:a16="http://schemas.microsoft.com/office/drawing/2014/main" id="{D8F4A201-C456-8C6F-AA3E-3AB3284290C1}"/>
              </a:ext>
            </a:extLst>
          </p:cNvPr>
          <p:cNvSpPr>
            <a:spLocks noGrp="1"/>
          </p:cNvSpPr>
          <p:nvPr>
            <p:ph idx="1"/>
          </p:nvPr>
        </p:nvSpPr>
        <p:spPr>
          <a:xfrm>
            <a:off x="424772" y="1779439"/>
            <a:ext cx="8229600" cy="4525963"/>
          </a:xfrm>
        </p:spPr>
        <p:txBody>
          <a:bodyPr>
            <a:normAutofit fontScale="62500" lnSpcReduction="20000"/>
          </a:bodyPr>
          <a:lstStyle/>
          <a:p>
            <a:r>
              <a:rPr dirty="0"/>
              <a:t>Example fields collected in the portal:</a:t>
            </a:r>
          </a:p>
          <a:p>
            <a:pPr lvl="1"/>
            <a:r>
              <a:rPr dirty="0"/>
              <a:t>Business context: application name, owner, environment (dev/test/</a:t>
            </a:r>
            <a:r>
              <a:rPr dirty="0" err="1"/>
              <a:t>uat</a:t>
            </a:r>
            <a:r>
              <a:rPr dirty="0"/>
              <a:t>/prod)</a:t>
            </a:r>
          </a:p>
          <a:p>
            <a:pPr lvl="1"/>
            <a:r>
              <a:rPr dirty="0"/>
              <a:t>API details: API name, internal FQDN, base path (e.g., /v1/payments)</a:t>
            </a:r>
          </a:p>
          <a:p>
            <a:pPr lvl="1"/>
            <a:r>
              <a:rPr dirty="0"/>
              <a:t>Third-party details: organization, contact, support window, region(s)</a:t>
            </a:r>
          </a:p>
          <a:p>
            <a:pPr lvl="1"/>
            <a:r>
              <a:rPr dirty="0"/>
              <a:t>Network endpoints: remote public IP(s)/FQDN(s), expected source CIDRs</a:t>
            </a:r>
          </a:p>
          <a:p>
            <a:pPr lvl="1"/>
            <a:r>
              <a:rPr dirty="0"/>
              <a:t>Auth &amp; identity: auth type (</a:t>
            </a:r>
            <a:r>
              <a:rPr dirty="0" err="1"/>
              <a:t>mTLS</a:t>
            </a:r>
            <a:r>
              <a:rPr dirty="0"/>
              <a:t>, OAuth2/JWT, API key), required claims/scopes</a:t>
            </a:r>
          </a:p>
          <a:p>
            <a:pPr lvl="1"/>
            <a:r>
              <a:rPr dirty="0"/>
              <a:t>Data classification: sensitivity (PHI/PII), residency, retention, logging level</a:t>
            </a:r>
          </a:p>
          <a:p>
            <a:pPr lvl="1"/>
            <a:r>
              <a:rPr dirty="0"/>
              <a:t>Traffic profile: expected QPS, burst limits, concurrency, allowed methods</a:t>
            </a:r>
          </a:p>
          <a:p>
            <a:r>
              <a:rPr dirty="0"/>
              <a:t>Validations &amp; policy checks:</a:t>
            </a:r>
          </a:p>
          <a:p>
            <a:pPr lvl="1"/>
            <a:r>
              <a:rPr dirty="0"/>
              <a:t>Required fields, allowed methods and ports, approved cipher suites</a:t>
            </a:r>
          </a:p>
          <a:p>
            <a:pPr lvl="1"/>
            <a:r>
              <a:rPr dirty="0"/>
              <a:t>API classification drives mandatory controls (e.g., </a:t>
            </a:r>
            <a:r>
              <a:rPr dirty="0" err="1"/>
              <a:t>mTLS</a:t>
            </a:r>
            <a:r>
              <a:rPr dirty="0"/>
              <a:t> for high sensitivity)</a:t>
            </a:r>
          </a:p>
          <a:p>
            <a:pPr lvl="1"/>
            <a:r>
              <a:rPr dirty="0"/>
              <a:t>Automatic mapping to a standard Web API pattern and VLZ tenant</a:t>
            </a:r>
          </a:p>
        </p:txBody>
      </p:sp>
    </p:spTree>
    <p:extLst>
      <p:ext uri="{BB962C8B-B14F-4D97-AF65-F5344CB8AC3E}">
        <p14:creationId xmlns:p14="http://schemas.microsoft.com/office/powerpoint/2010/main" val="582281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6A69BE-650E-96FE-EFB5-988275596E26}"/>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E2252ED-8D3D-4EC3-AB42-4E282C9DEF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215D8FD-C9A7-BEFF-A561-94CB11AB46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D77EA13-74CE-9861-7FA2-A0DD9B204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0C2E9C-7999-C827-09A7-4BD4EBDFA3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AFF302D-5D69-B79E-878C-7A7662F091EF}"/>
              </a:ext>
            </a:extLst>
          </p:cNvPr>
          <p:cNvSpPr>
            <a:spLocks noGrp="1"/>
          </p:cNvSpPr>
          <p:nvPr>
            <p:ph type="title"/>
          </p:nvPr>
        </p:nvSpPr>
        <p:spPr>
          <a:xfrm>
            <a:off x="-3" y="349112"/>
            <a:ext cx="9079151" cy="877729"/>
          </a:xfrm>
        </p:spPr>
        <p:txBody>
          <a:bodyPr anchor="ctr">
            <a:normAutofit/>
          </a:bodyPr>
          <a:lstStyle/>
          <a:p>
            <a:r>
              <a:rPr lang="en-US" sz="3600" dirty="0">
                <a:solidFill>
                  <a:schemeClr val="bg1"/>
                </a:solidFill>
              </a:rPr>
              <a:t>Web API Service Behavior &amp; Controls</a:t>
            </a:r>
            <a:endParaRPr lang="en-US" sz="3500" dirty="0">
              <a:solidFill>
                <a:schemeClr val="bg1"/>
              </a:solidFill>
            </a:endParaRPr>
          </a:p>
        </p:txBody>
      </p:sp>
      <p:sp>
        <p:nvSpPr>
          <p:cNvPr id="6" name="Content Placeholder 2">
            <a:extLst>
              <a:ext uri="{FF2B5EF4-FFF2-40B4-BE49-F238E27FC236}">
                <a16:creationId xmlns:a16="http://schemas.microsoft.com/office/drawing/2014/main" id="{3287B891-242B-4297-113D-8749BA14D11B}"/>
              </a:ext>
            </a:extLst>
          </p:cNvPr>
          <p:cNvSpPr>
            <a:spLocks noGrp="1"/>
          </p:cNvSpPr>
          <p:nvPr>
            <p:ph idx="1"/>
          </p:nvPr>
        </p:nvSpPr>
        <p:spPr>
          <a:xfrm>
            <a:off x="457200" y="1729902"/>
            <a:ext cx="8229600" cy="4525963"/>
          </a:xfrm>
        </p:spPr>
        <p:txBody>
          <a:bodyPr>
            <a:normAutofit fontScale="62500" lnSpcReduction="20000"/>
          </a:bodyPr>
          <a:lstStyle/>
          <a:p>
            <a:r>
              <a:rPr dirty="0"/>
              <a:t>Service proxy behavior:</a:t>
            </a:r>
          </a:p>
          <a:p>
            <a:pPr lvl="1"/>
            <a:r>
              <a:rPr dirty="0"/>
              <a:t>Exposes a tenant-specific API endpoint (e.g., https://&lt;tenant-id&gt;.api.3plz.example.com)</a:t>
            </a:r>
          </a:p>
          <a:p>
            <a:pPr lvl="1"/>
            <a:r>
              <a:rPr dirty="0"/>
              <a:t>Forwards to internal API FQDN/base path using </a:t>
            </a:r>
            <a:r>
              <a:rPr dirty="0" err="1"/>
              <a:t>mTLS</a:t>
            </a:r>
            <a:r>
              <a:rPr dirty="0"/>
              <a:t> where supported</a:t>
            </a:r>
          </a:p>
          <a:p>
            <a:pPr lvl="1"/>
            <a:r>
              <a:rPr dirty="0"/>
              <a:t>Normalizes paths, headers, and TLS parameters based on the Service Profile</a:t>
            </a:r>
          </a:p>
          <a:p>
            <a:r>
              <a:rPr dirty="0"/>
              <a:t>Security controls:</a:t>
            </a:r>
          </a:p>
          <a:p>
            <a:pPr lvl="1"/>
            <a:r>
              <a:rPr dirty="0"/>
              <a:t>Enforces allowed HTTP methods, paths, and rate limits per profile</a:t>
            </a:r>
          </a:p>
          <a:p>
            <a:pPr lvl="1"/>
            <a:r>
              <a:rPr dirty="0"/>
              <a:t>Supports </a:t>
            </a:r>
            <a:r>
              <a:rPr dirty="0" err="1"/>
              <a:t>mTLS</a:t>
            </a:r>
            <a:r>
              <a:rPr dirty="0"/>
              <a:t>, JWT/OAuth2 validation, or API key verification</a:t>
            </a:r>
          </a:p>
          <a:p>
            <a:pPr lvl="1"/>
            <a:r>
              <a:rPr dirty="0"/>
              <a:t>Optional IP/CIDR restrictions per third party / tenant</a:t>
            </a:r>
          </a:p>
          <a:p>
            <a:pPr lvl="1"/>
            <a:r>
              <a:rPr dirty="0"/>
              <a:t>Request/response size limits and protocol sanity checks</a:t>
            </a:r>
          </a:p>
          <a:p>
            <a:r>
              <a:rPr dirty="0"/>
              <a:t>Observability &amp; governance:</a:t>
            </a:r>
          </a:p>
          <a:p>
            <a:pPr lvl="1"/>
            <a:r>
              <a:rPr dirty="0"/>
              <a:t>Per-tenant logs with correlation IDs, status codes, latency, and auth outcome</a:t>
            </a:r>
          </a:p>
          <a:p>
            <a:pPr lvl="1"/>
            <a:r>
              <a:rPr dirty="0"/>
              <a:t>Metrics export (QPS, error rates, throttling events) to observability stack</a:t>
            </a:r>
          </a:p>
          <a:p>
            <a:pPr lvl="1"/>
            <a:r>
              <a:rPr dirty="0"/>
              <a:t>Logs tagged with tenant, vendor, application ID, and data classification</a:t>
            </a:r>
          </a:p>
        </p:txBody>
      </p:sp>
    </p:spTree>
    <p:extLst>
      <p:ext uri="{BB962C8B-B14F-4D97-AF65-F5344CB8AC3E}">
        <p14:creationId xmlns:p14="http://schemas.microsoft.com/office/powerpoint/2010/main" val="3444182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8F1DF9-E4FC-9847-61F5-D653D830791F}"/>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F50127C-F6E8-5F5B-0A06-B6073BFBE1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765891D-0DBD-9DA8-8D4E-D936D83AD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847532C-33B0-AC0D-FB04-0A6C3DC6F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CDA384B-7E3F-0F5E-3A83-8B5A78398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BDF553-BCD0-0917-B1D9-CF87A8152D17}"/>
              </a:ext>
            </a:extLst>
          </p:cNvPr>
          <p:cNvSpPr>
            <a:spLocks noGrp="1"/>
          </p:cNvSpPr>
          <p:nvPr>
            <p:ph type="title"/>
          </p:nvPr>
        </p:nvSpPr>
        <p:spPr>
          <a:xfrm>
            <a:off x="-3" y="349112"/>
            <a:ext cx="9079151" cy="877729"/>
          </a:xfrm>
        </p:spPr>
        <p:txBody>
          <a:bodyPr anchor="ctr">
            <a:normAutofit fontScale="90000"/>
          </a:bodyPr>
          <a:lstStyle/>
          <a:p>
            <a:r>
              <a:rPr lang="en-US" sz="3600" dirty="0">
                <a:solidFill>
                  <a:schemeClr val="bg1"/>
                </a:solidFill>
              </a:rPr>
              <a:t>From Form → IPsec Configuration &amp; B2B Transport</a:t>
            </a:r>
            <a:endParaRPr lang="en-US" sz="3500" dirty="0">
              <a:solidFill>
                <a:schemeClr val="bg1"/>
              </a:solidFill>
            </a:endParaRPr>
          </a:p>
        </p:txBody>
      </p:sp>
      <p:sp>
        <p:nvSpPr>
          <p:cNvPr id="5" name="Content Placeholder 2">
            <a:extLst>
              <a:ext uri="{FF2B5EF4-FFF2-40B4-BE49-F238E27FC236}">
                <a16:creationId xmlns:a16="http://schemas.microsoft.com/office/drawing/2014/main" id="{DE2C7655-03A0-D65A-5661-EA8808D736DA}"/>
              </a:ext>
            </a:extLst>
          </p:cNvPr>
          <p:cNvSpPr>
            <a:spLocks noGrp="1"/>
          </p:cNvSpPr>
          <p:nvPr>
            <p:ph idx="1"/>
          </p:nvPr>
        </p:nvSpPr>
        <p:spPr>
          <a:xfrm>
            <a:off x="457200" y="1600200"/>
            <a:ext cx="8229600" cy="4525963"/>
          </a:xfrm>
        </p:spPr>
        <p:txBody>
          <a:bodyPr>
            <a:normAutofit/>
          </a:bodyPr>
          <a:lstStyle/>
          <a:p>
            <a:r>
              <a:rPr sz="2400" dirty="0"/>
              <a:t>Each approved request generates a remote IPsec configuration bundle</a:t>
            </a:r>
          </a:p>
          <a:p>
            <a:pPr lvl="1"/>
            <a:r>
              <a:rPr sz="2400" dirty="0"/>
              <a:t>IKEv2 parameters, proposals, and crypto settings</a:t>
            </a:r>
          </a:p>
          <a:p>
            <a:pPr lvl="1"/>
            <a:r>
              <a:rPr sz="2400" dirty="0"/>
              <a:t>Tunnel interface addresses and BGP configuration (if applicable)</a:t>
            </a:r>
          </a:p>
          <a:p>
            <a:r>
              <a:rPr sz="2400" dirty="0"/>
              <a:t>Config bundles must support major firewall/router platforms</a:t>
            </a:r>
          </a:p>
          <a:p>
            <a:r>
              <a:rPr sz="2400" dirty="0"/>
              <a:t>Local side terminates on location-agnostic tunnel anchors</a:t>
            </a:r>
          </a:p>
          <a:p>
            <a:r>
              <a:rPr sz="2400" dirty="0"/>
              <a:t>All tunnel creation driven by templates and portal data, not manual builds</a:t>
            </a:r>
          </a:p>
        </p:txBody>
      </p:sp>
    </p:spTree>
    <p:extLst>
      <p:ext uri="{BB962C8B-B14F-4D97-AF65-F5344CB8AC3E}">
        <p14:creationId xmlns:p14="http://schemas.microsoft.com/office/powerpoint/2010/main" val="3838463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FFCADE-E71C-D97E-7A5B-3271E752253E}"/>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74F766F-5BB5-09A2-1B23-C31113306F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C5D0FFC-90B2-E503-81AF-DD75B37D7C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D34B56A-BABF-FB01-C0AB-DD971978F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C4D032A-4E49-AFF7-E993-E8712C192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02F145B-4622-C4FA-7F05-8F21423EDF1C}"/>
              </a:ext>
            </a:extLst>
          </p:cNvPr>
          <p:cNvSpPr>
            <a:spLocks noGrp="1"/>
          </p:cNvSpPr>
          <p:nvPr>
            <p:ph type="title"/>
          </p:nvPr>
        </p:nvSpPr>
        <p:spPr>
          <a:xfrm>
            <a:off x="-3" y="349112"/>
            <a:ext cx="9079151" cy="877729"/>
          </a:xfrm>
        </p:spPr>
        <p:txBody>
          <a:bodyPr anchor="ctr">
            <a:normAutofit/>
          </a:bodyPr>
          <a:lstStyle/>
          <a:p>
            <a:r>
              <a:rPr lang="en-US" sz="3600" dirty="0">
                <a:solidFill>
                  <a:schemeClr val="bg1"/>
                </a:solidFill>
              </a:rPr>
              <a:t>Identity, DNS, and Observability</a:t>
            </a:r>
            <a:endParaRPr lang="en-US" sz="3500" dirty="0">
              <a:solidFill>
                <a:schemeClr val="bg1"/>
              </a:solidFill>
            </a:endParaRPr>
          </a:p>
        </p:txBody>
      </p:sp>
      <p:sp>
        <p:nvSpPr>
          <p:cNvPr id="5" name="Content Placeholder 2">
            <a:extLst>
              <a:ext uri="{FF2B5EF4-FFF2-40B4-BE49-F238E27FC236}">
                <a16:creationId xmlns:a16="http://schemas.microsoft.com/office/drawing/2014/main" id="{CC6C0DA8-BA3A-D507-222C-D2EFABC2282B}"/>
              </a:ext>
            </a:extLst>
          </p:cNvPr>
          <p:cNvSpPr>
            <a:spLocks noGrp="1"/>
          </p:cNvSpPr>
          <p:nvPr>
            <p:ph idx="1"/>
          </p:nvPr>
        </p:nvSpPr>
        <p:spPr>
          <a:xfrm>
            <a:off x="457200" y="1600200"/>
            <a:ext cx="8229600" cy="4525963"/>
          </a:xfrm>
        </p:spPr>
        <p:txBody>
          <a:bodyPr>
            <a:normAutofit/>
          </a:bodyPr>
          <a:lstStyle/>
          <a:p>
            <a:r>
              <a:rPr lang="en-US" sz="2400" dirty="0"/>
              <a:t>Identity &amp; Authorization: RBAC roles in the portal and APIs</a:t>
            </a:r>
          </a:p>
          <a:p>
            <a:r>
              <a:rPr lang="en-US" sz="2400" dirty="0"/>
              <a:t>Tenant-linked identities influence policy decisions and approvals</a:t>
            </a:r>
          </a:p>
          <a:p>
            <a:r>
              <a:rPr lang="en-US" sz="2400" dirty="0"/>
              <a:t>DNS as a control plane: per-tenant views, split-horizon, conditional forwarding</a:t>
            </a:r>
          </a:p>
          <a:p>
            <a:r>
              <a:rPr lang="en-US" sz="2400" dirty="0"/>
              <a:t>Per-tenant logs for DNS, proxy traffic, and tunnel/BGP state</a:t>
            </a:r>
          </a:p>
          <a:p>
            <a:r>
              <a:rPr lang="en-US" sz="2400" dirty="0"/>
              <a:t>Logs and metrics must integrate with enterprise SIEM/observability tools</a:t>
            </a:r>
          </a:p>
        </p:txBody>
      </p:sp>
    </p:spTree>
    <p:extLst>
      <p:ext uri="{BB962C8B-B14F-4D97-AF65-F5344CB8AC3E}">
        <p14:creationId xmlns:p14="http://schemas.microsoft.com/office/powerpoint/2010/main" val="1570957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7BD28A-71A8-464A-411C-9C080C2F7120}"/>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66DEFDD-F7AA-07C1-ED28-51883A508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15D575B-14C3-391D-1E34-2DB237AAD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5FD4B97-2C2F-0192-E4E7-6677250DA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FCDF82E-2767-D468-4085-05A428CBCE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E526105-C357-E366-BA9C-6FCAAA765A09}"/>
              </a:ext>
            </a:extLst>
          </p:cNvPr>
          <p:cNvSpPr>
            <a:spLocks noGrp="1"/>
          </p:cNvSpPr>
          <p:nvPr>
            <p:ph type="title"/>
          </p:nvPr>
        </p:nvSpPr>
        <p:spPr>
          <a:xfrm>
            <a:off x="-3" y="349112"/>
            <a:ext cx="9079151" cy="877729"/>
          </a:xfrm>
        </p:spPr>
        <p:txBody>
          <a:bodyPr anchor="ctr">
            <a:normAutofit/>
          </a:bodyPr>
          <a:lstStyle/>
          <a:p>
            <a:r>
              <a:rPr lang="en-US" sz="3600" dirty="0">
                <a:solidFill>
                  <a:schemeClr val="bg1"/>
                </a:solidFill>
              </a:rPr>
              <a:t>Automation &amp; Scale Requirements</a:t>
            </a:r>
            <a:endParaRPr lang="en-US" sz="3500" dirty="0">
              <a:solidFill>
                <a:schemeClr val="bg1"/>
              </a:solidFill>
            </a:endParaRPr>
          </a:p>
        </p:txBody>
      </p:sp>
      <p:sp>
        <p:nvSpPr>
          <p:cNvPr id="5" name="Content Placeholder 2">
            <a:extLst>
              <a:ext uri="{FF2B5EF4-FFF2-40B4-BE49-F238E27FC236}">
                <a16:creationId xmlns:a16="http://schemas.microsoft.com/office/drawing/2014/main" id="{82D09F85-A353-F216-FCFA-3E9AC21EEA3D}"/>
              </a:ext>
            </a:extLst>
          </p:cNvPr>
          <p:cNvSpPr>
            <a:spLocks noGrp="1"/>
          </p:cNvSpPr>
          <p:nvPr>
            <p:ph idx="1"/>
          </p:nvPr>
        </p:nvSpPr>
        <p:spPr>
          <a:xfrm>
            <a:off x="457200" y="1600200"/>
            <a:ext cx="8229600" cy="4525963"/>
          </a:xfrm>
        </p:spPr>
        <p:txBody>
          <a:bodyPr>
            <a:normAutofit/>
          </a:bodyPr>
          <a:lstStyle/>
          <a:p>
            <a:r>
              <a:rPr lang="en-US" sz="2400" dirty="0"/>
              <a:t>All portal operations available via documented APIs</a:t>
            </a:r>
          </a:p>
          <a:p>
            <a:r>
              <a:rPr lang="en-US" sz="2400" dirty="0"/>
              <a:t>Support for </a:t>
            </a:r>
            <a:r>
              <a:rPr lang="en-US" sz="2400" dirty="0" err="1"/>
              <a:t>IaC</a:t>
            </a:r>
            <a:r>
              <a:rPr lang="en-US" sz="2400" dirty="0"/>
              <a:t> tools (e.g., Terraform, Ansible) and CI/CD integration</a:t>
            </a:r>
          </a:p>
          <a:p>
            <a:r>
              <a:rPr lang="en-US" sz="2400" dirty="0"/>
              <a:t>Target scale: ~1000 tenants, multiple patterns per tenant</a:t>
            </a:r>
          </a:p>
          <a:p>
            <a:r>
              <a:rPr lang="en-US" sz="2400" dirty="0"/>
              <a:t>High availability for control and data planes</a:t>
            </a:r>
          </a:p>
          <a:p>
            <a:r>
              <a:rPr lang="en-US" sz="2400" dirty="0"/>
              <a:t>Standards-compliant crypto and minimal-disruption upgrades</a:t>
            </a:r>
          </a:p>
        </p:txBody>
      </p:sp>
    </p:spTree>
    <p:extLst>
      <p:ext uri="{BB962C8B-B14F-4D97-AF65-F5344CB8AC3E}">
        <p14:creationId xmlns:p14="http://schemas.microsoft.com/office/powerpoint/2010/main" val="1056653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Shared Responsibilities: Business vs Vendor Platform</a:t>
            </a:r>
          </a:p>
        </p:txBody>
      </p:sp>
      <p:sp>
        <p:nvSpPr>
          <p:cNvPr id="3" name="Content Placeholder 2"/>
          <p:cNvSpPr>
            <a:spLocks noGrp="1"/>
          </p:cNvSpPr>
          <p:nvPr>
            <p:ph idx="1"/>
          </p:nvPr>
        </p:nvSpPr>
        <p:spPr/>
        <p:txBody>
          <a:bodyPr>
            <a:normAutofit fontScale="62500" lnSpcReduction="20000"/>
          </a:bodyPr>
          <a:lstStyle/>
          <a:p>
            <a:r>
              <a:t>Business responsibilities:</a:t>
            </a:r>
          </a:p>
          <a:p>
            <a:pPr lvl="1"/>
            <a:r>
              <a:t>Provide an application governance mechanism with Universal Application IDs</a:t>
            </a:r>
          </a:p>
          <a:p>
            <a:pPr lvl="1"/>
            <a:r>
              <a:t>Provide a Universal Identifier for third-party partners (3pBID)</a:t>
            </a:r>
          </a:p>
          <a:p>
            <a:pPr lvl="1"/>
            <a:r>
              <a:t>Supply Universal IDs and 3pBIDs to drive tenant creation and site-to-site VPN setup</a:t>
            </a:r>
          </a:p>
          <a:p>
            <a:pPr lvl="1"/>
            <a:r>
              <a:t>Operate PKI processes to generate and deliver mTLS certificates for Web/WebAPI tenants</a:t>
            </a:r>
          </a:p>
          <a:p>
            <a:pPr lvl="1"/>
            <a:r>
              <a:t>Operate enterprise IdPs (SAML/OAuth2/OIDC) for Virtual Tenant portal SSO and RBAC</a:t>
            </a:r>
          </a:p>
          <a:p>
            <a:r>
              <a:t>Vendor platform responsibilities:</a:t>
            </a:r>
          </a:p>
          <a:p>
            <a:pPr lvl="1"/>
            <a:r>
              <a:t>Treat Universal IDs and 3pBIDs as first-class attributes in tenant and config APIs</a:t>
            </a:r>
          </a:p>
          <a:p>
            <a:pPr lvl="1"/>
            <a:r>
              <a:t>Automate VPN and service proxy creation from portal data and identifiers</a:t>
            </a:r>
          </a:p>
          <a:p>
            <a:pPr lvl="1"/>
            <a:r>
              <a:t>Integrate with enterprise PKI for certificate-based auth and renewal workflows</a:t>
            </a:r>
          </a:p>
          <a:p>
            <a:pPr lvl="1"/>
            <a:r>
              <a:t>Integrate with enterprise IdPs for authentication and authorization to the portal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What We Expect in Vendor Responses</a:t>
            </a:r>
          </a:p>
        </p:txBody>
      </p:sp>
      <p:sp>
        <p:nvSpPr>
          <p:cNvPr id="3" name="Content Placeholder 2"/>
          <p:cNvSpPr>
            <a:spLocks noGrp="1"/>
          </p:cNvSpPr>
          <p:nvPr>
            <p:ph idx="1"/>
          </p:nvPr>
        </p:nvSpPr>
        <p:spPr/>
        <p:txBody>
          <a:bodyPr>
            <a:normAutofit fontScale="85000" lnSpcReduction="20000"/>
          </a:bodyPr>
          <a:lstStyle/>
          <a:p>
            <a:r>
              <a:t>Describe end-to-end portal-driven workflows:</a:t>
            </a:r>
          </a:p>
          <a:p>
            <a:pPr lvl="1"/>
            <a:r>
              <a:t>From app owner request → IPsec config → service proxy live</a:t>
            </a:r>
          </a:p>
          <a:p>
            <a:r>
              <a:t>Show how your platform implements the required service patterns</a:t>
            </a:r>
          </a:p>
          <a:p>
            <a:r>
              <a:t>Demonstrate self-service forms that generate:</a:t>
            </a:r>
          </a:p>
          <a:p>
            <a:pPr lvl="1"/>
            <a:r>
              <a:t>Remote IPsec bundles, VLZ/tenant config, service proxy rules</a:t>
            </a:r>
          </a:p>
          <a:p>
            <a:r>
              <a:t>Provide reference architectures, runbooks, and automation artifacts</a:t>
            </a:r>
          </a:p>
          <a:p>
            <a:r>
              <a:t>Map capabilities to security, compliance, scale, and shared responsibility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2082</TotalTime>
  <Words>3973</Words>
  <Application>Microsoft Macintosh PowerPoint</Application>
  <PresentationFormat>On-screen Show (4:3)</PresentationFormat>
  <Paragraphs>286</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Third-Party Landing Zone (3PLZ) – RFP Overview</vt:lpstr>
      <vt:lpstr>A Case For Change</vt:lpstr>
      <vt:lpstr>Delivering Change a Strategic Shift</vt:lpstr>
      <vt:lpstr>Proposed Way Forward: 3PLZ </vt:lpstr>
      <vt:lpstr>Vision for A 3rd Party Landing Zone</vt:lpstr>
      <vt:lpstr>Service Pattern Catalog (Initial Use Cases)</vt:lpstr>
      <vt:lpstr>High Level Architectural View </vt:lpstr>
      <vt:lpstr>Appendix </vt:lpstr>
      <vt:lpstr>Self-Service Portal Experience</vt:lpstr>
      <vt:lpstr>Virtual Landing Zone (VLZ) &amp; Tenant Model</vt:lpstr>
      <vt:lpstr>Service Patterns and Service Connections</vt:lpstr>
      <vt:lpstr>Sample Portal Form – Secure File Transfer Service-Pattern (SFTP Service-Connection VLZ Proxy)</vt:lpstr>
      <vt:lpstr>Sample Portal Form – Web API  (Enterprise API via VLZ Proxy)</vt:lpstr>
      <vt:lpstr>Web API Service Behavior &amp; Controls</vt:lpstr>
      <vt:lpstr>From Form → IPsec Configuration &amp; B2B Transport</vt:lpstr>
      <vt:lpstr>Identity, DNS, and Observability</vt:lpstr>
      <vt:lpstr>Automation &amp; Scale Requirements</vt:lpstr>
      <vt:lpstr>Shared Responsibilities: Business vs Vendor Platform</vt:lpstr>
      <vt:lpstr>What We Expect in Vendor Responses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Martin, Michael J</cp:lastModifiedBy>
  <cp:revision>7</cp:revision>
  <dcterms:created xsi:type="dcterms:W3CDTF">2013-01-27T09:14:16Z</dcterms:created>
  <dcterms:modified xsi:type="dcterms:W3CDTF">2025-11-13T17:07:06Z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ecdf243-b9b0-4f63-8694-76742e4201b7_Enabled">
    <vt:lpwstr>true</vt:lpwstr>
  </property>
  <property fmtid="{D5CDD505-2E9C-101B-9397-08002B2CF9AE}" pid="3" name="MSIP_Label_1ecdf243-b9b0-4f63-8694-76742e4201b7_SetDate">
    <vt:lpwstr>2025-11-11T00:59:52Z</vt:lpwstr>
  </property>
  <property fmtid="{D5CDD505-2E9C-101B-9397-08002B2CF9AE}" pid="4" name="MSIP_Label_1ecdf243-b9b0-4f63-8694-76742e4201b7_Method">
    <vt:lpwstr>Standard</vt:lpwstr>
  </property>
  <property fmtid="{D5CDD505-2E9C-101B-9397-08002B2CF9AE}" pid="5" name="MSIP_Label_1ecdf243-b9b0-4f63-8694-76742e4201b7_Name">
    <vt:lpwstr>Proprietary general</vt:lpwstr>
  </property>
  <property fmtid="{D5CDD505-2E9C-101B-9397-08002B2CF9AE}" pid="6" name="MSIP_Label_1ecdf243-b9b0-4f63-8694-76742e4201b7_SiteId">
    <vt:lpwstr>fabb61b8-3afe-4e75-b934-a47f782b8cd7</vt:lpwstr>
  </property>
  <property fmtid="{D5CDD505-2E9C-101B-9397-08002B2CF9AE}" pid="7" name="MSIP_Label_1ecdf243-b9b0-4f63-8694-76742e4201b7_ActionId">
    <vt:lpwstr>05b13b06-b508-4464-bd87-d06babaef8bd</vt:lpwstr>
  </property>
  <property fmtid="{D5CDD505-2E9C-101B-9397-08002B2CF9AE}" pid="8" name="MSIP_Label_1ecdf243-b9b0-4f63-8694-76742e4201b7_ContentBits">
    <vt:lpwstr>0</vt:lpwstr>
  </property>
  <property fmtid="{D5CDD505-2E9C-101B-9397-08002B2CF9AE}" pid="9" name="MSIP_Label_1ecdf243-b9b0-4f63-8694-76742e4201b7_Tag">
    <vt:lpwstr>50, 3, 0, 1</vt:lpwstr>
  </property>
</Properties>
</file>