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147483370" r:id="rId2"/>
    <p:sldId id="2147483371" r:id="rId3"/>
    <p:sldId id="2147483372" r:id="rId4"/>
    <p:sldId id="214748337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7C9AA-FC0E-DE44-905D-C6651E143252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7E55E-9A91-1244-A3E5-AD320B7A83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08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6D093-93FB-41D2-BA41-098CE338E1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966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19EA6-2D31-0646-1592-6F1BBD9AFE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4A0E41-3290-57D8-566B-B93495F3A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0386D-5270-1508-6CDB-946C6D77A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EB16-E569-6A47-A39F-6AFC6B2811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4EA7B-A7E7-D94F-9800-459282975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28074-69BD-22F3-1E3E-7BC70D87A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266E8-0E2B-A44F-8547-0855E84A3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234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A05DE-E79E-57D0-7A61-C5F81FCF4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448FB-7032-D032-C724-92C7CE0CA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6A4E0-3105-D1A2-BB68-3C466F60F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EB16-E569-6A47-A39F-6AFC6B2811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F4D16F-85DE-C212-6552-556E89917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E3D3A-95CB-538F-0933-46740A1A7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266E8-0E2B-A44F-8547-0855E84A3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8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CA8C2-F78F-9CA1-DC63-184548A38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25D1-F28D-98AC-FA61-37410F3FA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93027-1ADD-C867-B9B7-09CF5DFA0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EB16-E569-6A47-A39F-6AFC6B2811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9E664-0D3F-B651-3A19-E5B9696BF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7A16C-A588-EDDC-F8FD-44E104CFC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266E8-0E2B-A44F-8547-0855E84A3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75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E3DA9-78B5-1A46-6AD4-6DFE06BD1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8C464-1BC9-C767-9B49-EBC48F6FBE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B35BC-793A-3D4E-3B58-D9B22179AF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90E863-05CE-6426-D0E3-DBC5164FD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EB16-E569-6A47-A39F-6AFC6B2811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4DE7C-D08F-0DCC-51C1-30D1BA154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101BD2-CD3C-C3B4-E531-3237D0F39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266E8-0E2B-A44F-8547-0855E84A3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435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EC1EC-DDC1-3140-21FD-CBE903B13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EFE61-F7C6-1020-FB0C-C4E93A381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00E02B-ED34-7CD4-E17F-976693A5C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EC6446-B6B9-C52A-870D-7D06125D4D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7E54E1-19F2-341A-B56C-DB5A7C1203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E50CBA-C251-8B9E-0F87-D8353D598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EB16-E569-6A47-A39F-6AFC6B2811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FEB0D3-C4AB-3A26-C969-5BF0D28BD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657D40-C8C5-2742-DF24-1953A6405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266E8-0E2B-A44F-8547-0855E84A3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953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9F2F5-54C9-92C1-0E0D-E0A6CABE5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F640CA-F555-7041-0AD2-9B94EFAB3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EB16-E569-6A47-A39F-6AFC6B2811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800441-0355-25FA-EE2F-64867762C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4FF14-9033-AE70-2B57-52D7EBDDA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266E8-0E2B-A44F-8547-0855E84A3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224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D245CB-B90A-912F-4C3C-F8AE19DED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EB16-E569-6A47-A39F-6AFC6B2811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31ED43-432B-B3AE-EEC8-E5624A803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3012D-F2E4-AFE6-3A36-60AD6EA09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266E8-0E2B-A44F-8547-0855E84A3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755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C51A4-CBA7-ABBC-5F78-C1EB0B401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0924C-B282-373B-E091-297E09667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0E05D9-FC83-D309-78D6-45B9DACDBD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C19E30-F83F-F849-D7B7-BEEB0C6E2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EB16-E569-6A47-A39F-6AFC6B2811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1DEE22-F897-5DB3-CDE9-8131850D9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1D948A-0B03-12F8-CA54-105409662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266E8-0E2B-A44F-8547-0855E84A3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356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65707-9FE1-29D6-3E64-A641C4A73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A20067-CA3E-5DCC-7871-13B162E855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340BD-77AD-F22D-9B7E-F76E4AA06C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F05CBD-F48A-A63D-0B28-EA32A10D2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EB16-E569-6A47-A39F-6AFC6B2811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7D520-9EAC-7A52-0848-E0E7DFC29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E19D21-E834-B9AA-1559-E0A02D70C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266E8-0E2B-A44F-8547-0855E84A3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626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419FD-1011-4E92-6CE8-87ED987D2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FFD184-B575-5B9D-AF2B-A4264A5E01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82035-6619-F090-E788-DA5CA72E9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EB16-E569-6A47-A39F-6AFC6B2811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40402-A522-67AA-F922-D61EF2F1F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54A27-368D-D06A-4BA3-B31B80F69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266E8-0E2B-A44F-8547-0855E84A3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525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194707-E7C6-FB7B-8CB0-D4EC5FA7A6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1CC7F4-092F-3F40-E5F7-CE648AB306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8B1D4-0105-5D2D-3697-F22EAA9E2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BEB16-E569-6A47-A39F-6AFC6B2811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8ECD9-B948-19A2-384A-6D36C949E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C3E1E-AC19-702D-2F8B-956C3E80D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266E8-0E2B-A44F-8547-0855E84A3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810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838F9A1-FF1F-244F-4C9E-65B7F0F86342}"/>
              </a:ext>
            </a:extLst>
          </p:cNvPr>
          <p:cNvSpPr/>
          <p:nvPr userDrawn="1"/>
        </p:nvSpPr>
        <p:spPr bwMode="gray">
          <a:xfrm>
            <a:off x="2" y="0"/>
            <a:ext cx="12192000" cy="4019562"/>
          </a:xfrm>
          <a:prstGeom prst="rect">
            <a:avLst/>
          </a:prstGeom>
          <a:gradFill flip="none" rotWithShape="1">
            <a:gsLst>
              <a:gs pos="0">
                <a:srgbClr val="CCE6FF"/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="1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 userDrawn="1"/>
        </p:nvSpPr>
        <p:spPr>
          <a:xfrm>
            <a:off x="373162" y="389319"/>
            <a:ext cx="11440916" cy="5724144"/>
          </a:xfrm>
          <a:prstGeom prst="roundRect">
            <a:avLst>
              <a:gd name="adj" fmla="val 4242"/>
            </a:avLst>
          </a:prstGeom>
          <a:solidFill>
            <a:schemeClr val="bg1"/>
          </a:solidFill>
          <a:ln>
            <a:noFill/>
          </a:ln>
          <a:effectLst>
            <a:outerShdw blurRad="393700" sx="102000" sy="102000" algn="ctr" rotWithShape="0">
              <a:srgbClr val="000000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74249" tIns="182832" rIns="274249" bIns="457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400" b="1">
              <a:solidFill>
                <a:schemeClr val="accent5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774566" y="838190"/>
            <a:ext cx="4145700" cy="444348"/>
          </a:xfrm>
        </p:spPr>
        <p:txBody>
          <a:bodyPr anchor="b">
            <a:noAutofit/>
          </a:bodyPr>
          <a:lstStyle>
            <a:lvl1pPr>
              <a:defRPr sz="3199" b="0" i="0">
                <a:solidFill>
                  <a:schemeClr val="tx2"/>
                </a:solidFill>
                <a:latin typeface="CVS Health Sans Medium" panose="020B0504020202020204" pitchFamily="34" charset="0"/>
              </a:defRPr>
            </a:lvl1pPr>
          </a:lstStyle>
          <a:p>
            <a:r>
              <a:rPr lang="en-US"/>
              <a:t>Executive summary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774566" y="1603450"/>
            <a:ext cx="3682432" cy="2407316"/>
          </a:xfrm>
        </p:spPr>
        <p:txBody>
          <a:bodyPr>
            <a:noAutofit/>
          </a:bodyPr>
          <a:lstStyle>
            <a:lvl1pPr>
              <a:defRPr sz="15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Text here </a:t>
            </a:r>
            <a:br>
              <a:rPr lang="en-US"/>
            </a:br>
            <a:endParaRPr lang="en-US"/>
          </a:p>
        </p:txBody>
      </p:sp>
      <p:pic>
        <p:nvPicPr>
          <p:cNvPr id="8" name="Graphic 7" descr="CVS Health logo">
            <a:extLst>
              <a:ext uri="{FF2B5EF4-FFF2-40B4-BE49-F238E27FC236}">
                <a16:creationId xmlns:a16="http://schemas.microsoft.com/office/drawing/2014/main" id="{C0F86FE1-9C65-B265-9E3F-123303BC51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4711"/>
          <a:stretch/>
        </p:blipFill>
        <p:spPr>
          <a:xfrm>
            <a:off x="11243336" y="605613"/>
            <a:ext cx="348199" cy="27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553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BFD4E3-6AEE-EED5-B887-329E32F31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1CF07-0211-4E8C-7292-5875552630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C5463-D74D-239A-BF6C-CAE00CF943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BEB16-E569-6A47-A39F-6AFC6B281186}" type="datetimeFigureOut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2DAB8-7496-EA0A-FA6A-275B7D3051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59D18-6D06-F871-C1FC-98702C29A2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0266E8-0E2B-A44F-8547-0855E84A3C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628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2A422-61F4-1C58-9474-F7B6DD8D0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6328951-2933-5958-42EA-FD71AC102562}"/>
              </a:ext>
            </a:extLst>
          </p:cNvPr>
          <p:cNvGraphicFramePr>
            <a:graphicFrameLocks noGrp="1"/>
          </p:cNvGraphicFramePr>
          <p:nvPr/>
        </p:nvGraphicFramePr>
        <p:xfrm>
          <a:off x="775952" y="1229436"/>
          <a:ext cx="10971032" cy="4635755"/>
        </p:xfrm>
        <a:graphic>
          <a:graphicData uri="http://schemas.openxmlformats.org/drawingml/2006/table">
            <a:tbl>
              <a:tblPr firstRow="1" bandRow="1"/>
              <a:tblGrid>
                <a:gridCol w="1371379">
                  <a:extLst>
                    <a:ext uri="{9D8B030D-6E8A-4147-A177-3AD203B41FA5}">
                      <a16:colId xmlns:a16="http://schemas.microsoft.com/office/drawing/2014/main" val="2946703248"/>
                    </a:ext>
                  </a:extLst>
                </a:gridCol>
                <a:gridCol w="1371379">
                  <a:extLst>
                    <a:ext uri="{9D8B030D-6E8A-4147-A177-3AD203B41FA5}">
                      <a16:colId xmlns:a16="http://schemas.microsoft.com/office/drawing/2014/main" val="2144268247"/>
                    </a:ext>
                  </a:extLst>
                </a:gridCol>
                <a:gridCol w="1371379">
                  <a:extLst>
                    <a:ext uri="{9D8B030D-6E8A-4147-A177-3AD203B41FA5}">
                      <a16:colId xmlns:a16="http://schemas.microsoft.com/office/drawing/2014/main" val="2845347907"/>
                    </a:ext>
                  </a:extLst>
                </a:gridCol>
                <a:gridCol w="1371379">
                  <a:extLst>
                    <a:ext uri="{9D8B030D-6E8A-4147-A177-3AD203B41FA5}">
                      <a16:colId xmlns:a16="http://schemas.microsoft.com/office/drawing/2014/main" val="453933135"/>
                    </a:ext>
                  </a:extLst>
                </a:gridCol>
                <a:gridCol w="1371379">
                  <a:extLst>
                    <a:ext uri="{9D8B030D-6E8A-4147-A177-3AD203B41FA5}">
                      <a16:colId xmlns:a16="http://schemas.microsoft.com/office/drawing/2014/main" val="738834259"/>
                    </a:ext>
                  </a:extLst>
                </a:gridCol>
                <a:gridCol w="1371379">
                  <a:extLst>
                    <a:ext uri="{9D8B030D-6E8A-4147-A177-3AD203B41FA5}">
                      <a16:colId xmlns:a16="http://schemas.microsoft.com/office/drawing/2014/main" val="1300932125"/>
                    </a:ext>
                  </a:extLst>
                </a:gridCol>
                <a:gridCol w="1371379">
                  <a:extLst>
                    <a:ext uri="{9D8B030D-6E8A-4147-A177-3AD203B41FA5}">
                      <a16:colId xmlns:a16="http://schemas.microsoft.com/office/drawing/2014/main" val="1013529992"/>
                    </a:ext>
                  </a:extLst>
                </a:gridCol>
                <a:gridCol w="1371379">
                  <a:extLst>
                    <a:ext uri="{9D8B030D-6E8A-4147-A177-3AD203B41FA5}">
                      <a16:colId xmlns:a16="http://schemas.microsoft.com/office/drawing/2014/main" val="616946949"/>
                    </a:ext>
                  </a:extLst>
                </a:gridCol>
              </a:tblGrid>
              <a:tr h="448480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ZT Projects</a:t>
                      </a:r>
                    </a:p>
                  </a:txBody>
                  <a:tcPr marL="77280" marR="77280" marT="38640" marB="3864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Identity</a:t>
                      </a:r>
                    </a:p>
                  </a:txBody>
                  <a:tcPr marL="77280" marR="77280" marT="38640" marB="38640" anchor="b">
                    <a:lnL w="12700" cmpd="sng">
                      <a:noFill/>
                      <a:prstDash val="solid"/>
                    </a:lnL>
                    <a:solidFill>
                      <a:srgbClr val="1F51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Devices</a:t>
                      </a:r>
                    </a:p>
                  </a:txBody>
                  <a:tcPr marL="77280" marR="77280" marT="38640" marB="38640" anchor="b">
                    <a:solidFill>
                      <a:srgbClr val="4B4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Network</a:t>
                      </a:r>
                    </a:p>
                  </a:txBody>
                  <a:tcPr marL="77280" marR="77280" marT="38640" marB="38640" anchor="b">
                    <a:solidFill>
                      <a:srgbClr val="6A96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Applications &amp; Workloads</a:t>
                      </a:r>
                    </a:p>
                  </a:txBody>
                  <a:tcPr marL="77280" marR="77280" marT="38640" marB="38640" anchor="b">
                    <a:solidFill>
                      <a:srgbClr val="2B669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Data</a:t>
                      </a:r>
                    </a:p>
                  </a:txBody>
                  <a:tcPr marL="77280" marR="77280" marT="38640" marB="38640" anchor="b">
                    <a:solidFill>
                      <a:srgbClr val="4468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Visibility &amp; Analytics</a:t>
                      </a:r>
                    </a:p>
                  </a:txBody>
                  <a:tcPr marL="77280" marR="77280" marT="38640" marB="38640" anchor="b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Governance &amp; Automation</a:t>
                      </a:r>
                    </a:p>
                  </a:txBody>
                  <a:tcPr marL="77280" marR="77280" marT="38640" marB="38640" anchor="b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333269"/>
                  </a:ext>
                </a:extLst>
              </a:tr>
              <a:tr h="566009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Firewall Refresh</a:t>
                      </a:r>
                    </a:p>
                  </a:txBody>
                  <a:tcPr marL="77280" marR="77280" marT="38640" marB="3864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ctr"/>
                      <a:r>
                        <a:rPr lang="en-US" sz="1000" i="1">
                          <a:solidFill>
                            <a:schemeClr val="tx1"/>
                          </a:solidFill>
                        </a:rPr>
                        <a:t>While IAM Is a core Zero Trust capability, IAM projects are managed under a separate program and not shown in this view</a:t>
                      </a:r>
                    </a:p>
                  </a:txBody>
                  <a:tcPr marL="77280" marR="77280" marT="38640" marB="3864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i="1">
                        <a:solidFill>
                          <a:schemeClr val="bg1"/>
                        </a:solidFill>
                      </a:endParaRPr>
                    </a:p>
                  </a:txBody>
                  <a:tcPr marL="77280" marR="77280" marT="38640" marB="3864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>
                          <a:solidFill>
                            <a:schemeClr val="tx1"/>
                          </a:solidFill>
                        </a:rPr>
                        <a:t>Modernized perimeter; HA; PCI support</a:t>
                      </a:r>
                    </a:p>
                  </a:txBody>
                  <a:tcPr marL="77280" marR="77280" marT="38640" marB="3864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>
                          <a:solidFill>
                            <a:schemeClr val="tx1"/>
                          </a:solidFill>
                        </a:rPr>
                        <a:t>App‑ID / L7 policy capability</a:t>
                      </a:r>
                    </a:p>
                  </a:txBody>
                  <a:tcPr marL="77280" marR="77280" marT="38640" marB="3864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>
                          <a:solidFill>
                            <a:schemeClr val="tx1"/>
                          </a:solidFill>
                        </a:rPr>
                        <a:t>URL/file filtering (policy‑based)</a:t>
                      </a:r>
                    </a:p>
                  </a:txBody>
                  <a:tcPr marL="77280" marR="77280" marT="38640" marB="3864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>
                          <a:solidFill>
                            <a:schemeClr val="tx1"/>
                          </a:solidFill>
                        </a:rPr>
                        <a:t>Improved logging &amp; threat visibility</a:t>
                      </a:r>
                    </a:p>
                  </a:txBody>
                  <a:tcPr marL="77280" marR="77280" marT="38640" marB="3864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>
                          <a:solidFill>
                            <a:schemeClr val="tx1"/>
                          </a:solidFill>
                        </a:rPr>
                        <a:t>Standard rule base; audit/PCI alignment</a:t>
                      </a:r>
                    </a:p>
                  </a:txBody>
                  <a:tcPr marL="77280" marR="77280" marT="38640" marB="3864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1798161"/>
                  </a:ext>
                </a:extLst>
              </a:tr>
              <a:tr h="727398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3</a:t>
                      </a:r>
                      <a:r>
                        <a:rPr lang="en-US" sz="1000" b="1" baseline="30000">
                          <a:solidFill>
                            <a:schemeClr val="bg1"/>
                          </a:solidFill>
                        </a:rPr>
                        <a:t>rd</a:t>
                      </a:r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 Party Landing Zone</a:t>
                      </a:r>
                    </a:p>
                  </a:txBody>
                  <a:tcPr marL="77280" marR="77280" marT="38640" marB="38640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900" i="1">
                        <a:solidFill>
                          <a:schemeClr val="bg1"/>
                        </a:solidFill>
                      </a:endParaRPr>
                    </a:p>
                  </a:txBody>
                  <a:tcPr marL="77280" marR="77280" marT="38640" marB="38640"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i="1">
                        <a:solidFill>
                          <a:schemeClr val="bg1"/>
                        </a:solidFill>
                      </a:endParaRPr>
                    </a:p>
                  </a:txBody>
                  <a:tcPr marL="77280" marR="77280" marT="38640" marB="3864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>
                          <a:solidFill>
                            <a:schemeClr val="tx1"/>
                          </a:solidFill>
                        </a:rPr>
                        <a:t>Standardized 3P connectivity; controlled ingress/egress</a:t>
                      </a:r>
                    </a:p>
                  </a:txBody>
                  <a:tcPr marL="77280" marR="77280" marT="38640" marB="3864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>
                          <a:solidFill>
                            <a:schemeClr val="tx1"/>
                          </a:solidFill>
                        </a:rPr>
                        <a:t>Pre‑configured onboarding patterns</a:t>
                      </a:r>
                    </a:p>
                  </a:txBody>
                  <a:tcPr marL="77280" marR="77280" marT="38640" marB="3864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i="1">
                        <a:solidFill>
                          <a:schemeClr val="bg1"/>
                        </a:solidFill>
                      </a:endParaRPr>
                    </a:p>
                  </a:txBody>
                  <a:tcPr marL="77280" marR="77280" marT="38640" marB="3864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>
                          <a:solidFill>
                            <a:schemeClr val="tx1"/>
                          </a:solidFill>
                        </a:rPr>
                        <a:t>Better oversight of 3P connections</a:t>
                      </a:r>
                    </a:p>
                  </a:txBody>
                  <a:tcPr marL="77280" marR="77280" marT="38640" marB="3864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>
                          <a:solidFill>
                            <a:schemeClr val="tx1"/>
                          </a:solidFill>
                        </a:rPr>
                        <a:t>Policy standards; compliance guardrails</a:t>
                      </a:r>
                    </a:p>
                  </a:txBody>
                  <a:tcPr marL="77280" marR="77280" marT="38640" marB="3864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9265326"/>
                  </a:ext>
                </a:extLst>
              </a:tr>
              <a:tr h="604100">
                <a:tc>
                  <a:txBody>
                    <a:bodyPr/>
                    <a:lstStyle/>
                    <a:p>
                      <a:r>
                        <a:rPr lang="en-US" sz="1000" b="1" err="1">
                          <a:solidFill>
                            <a:schemeClr val="bg1"/>
                          </a:solidFill>
                        </a:rPr>
                        <a:t>Forescout</a:t>
                      </a:r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 Network Access Control (NAC) Platform</a:t>
                      </a:r>
                    </a:p>
                  </a:txBody>
                  <a:tcPr marL="77280" marR="77280" marT="38640" marB="38640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900" i="1">
                        <a:solidFill>
                          <a:schemeClr val="bg1"/>
                        </a:solidFill>
                      </a:endParaRPr>
                    </a:p>
                  </a:txBody>
                  <a:tcPr marL="77280" marR="77280" marT="38640" marB="38640"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 dirty="0">
                          <a:solidFill>
                            <a:schemeClr val="tx1"/>
                          </a:solidFill>
                        </a:rPr>
                        <a:t>Posture check; compliant‑only access</a:t>
                      </a:r>
                    </a:p>
                  </a:txBody>
                  <a:tcPr marL="77280" marR="77280" marT="38640" marB="3864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>
                          <a:solidFill>
                            <a:schemeClr val="tx1"/>
                          </a:solidFill>
                        </a:rPr>
                        <a:t>Enforce access at connect time</a:t>
                      </a:r>
                    </a:p>
                  </a:txBody>
                  <a:tcPr marL="77280" marR="77280" marT="38640" marB="3864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i="1">
                        <a:solidFill>
                          <a:schemeClr val="bg1"/>
                        </a:solidFill>
                      </a:endParaRPr>
                    </a:p>
                  </a:txBody>
                  <a:tcPr marL="77280" marR="77280" marT="38640" marB="3864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i="1">
                        <a:solidFill>
                          <a:schemeClr val="bg1"/>
                        </a:solidFill>
                      </a:endParaRPr>
                    </a:p>
                  </a:txBody>
                  <a:tcPr marL="77280" marR="77280" marT="38640" marB="3864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>
                          <a:solidFill>
                            <a:schemeClr val="tx1"/>
                          </a:solidFill>
                        </a:rPr>
                        <a:t>Device discovery; network visibility</a:t>
                      </a:r>
                    </a:p>
                  </a:txBody>
                  <a:tcPr marL="77280" marR="77280" marT="38640" marB="3864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i="1">
                        <a:solidFill>
                          <a:schemeClr val="bg1"/>
                        </a:solidFill>
                      </a:endParaRPr>
                    </a:p>
                  </a:txBody>
                  <a:tcPr marL="77280" marR="77280" marT="38640" marB="3864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274319"/>
                  </a:ext>
                </a:extLst>
              </a:tr>
              <a:tr h="727398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Network Micro Segmentation</a:t>
                      </a:r>
                    </a:p>
                  </a:txBody>
                  <a:tcPr marL="77280" marR="77280" marT="38640" marB="38640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900" i="1">
                        <a:solidFill>
                          <a:schemeClr val="bg1"/>
                        </a:solidFill>
                      </a:endParaRPr>
                    </a:p>
                  </a:txBody>
                  <a:tcPr marL="77280" marR="77280" marT="38640" marB="38640"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i="1">
                        <a:solidFill>
                          <a:schemeClr val="tx1"/>
                        </a:solidFill>
                      </a:endParaRPr>
                    </a:p>
                  </a:txBody>
                  <a:tcPr marL="77280" marR="77280" marT="38640" marB="3864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>
                          <a:solidFill>
                            <a:schemeClr val="tx1"/>
                          </a:solidFill>
                        </a:rPr>
                        <a:t>East‑west isolation; limit lateral movement</a:t>
                      </a:r>
                    </a:p>
                  </a:txBody>
                  <a:tcPr marL="77280" marR="77280" marT="38640" marB="3864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>
                          <a:solidFill>
                            <a:schemeClr val="tx1"/>
                          </a:solidFill>
                        </a:rPr>
                        <a:t>Segments aligned to apps/flows</a:t>
                      </a:r>
                    </a:p>
                  </a:txBody>
                  <a:tcPr marL="77280" marR="77280" marT="38640" marB="3864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>
                          <a:solidFill>
                            <a:schemeClr val="tx1"/>
                          </a:solidFill>
                        </a:rPr>
                        <a:t>Protect sensitive zones (via isolation)</a:t>
                      </a:r>
                    </a:p>
                  </a:txBody>
                  <a:tcPr marL="77280" marR="77280" marT="38640" marB="3864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>
                          <a:solidFill>
                            <a:schemeClr val="tx1"/>
                          </a:solidFill>
                        </a:rPr>
                        <a:t>Assessment &amp; flow baselining</a:t>
                      </a:r>
                    </a:p>
                  </a:txBody>
                  <a:tcPr marL="77280" marR="77280" marT="38640" marB="3864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>
                          <a:solidFill>
                            <a:schemeClr val="tx1"/>
                          </a:solidFill>
                        </a:rPr>
                        <a:t>Segmentation standards; alignment to regulations</a:t>
                      </a:r>
                    </a:p>
                  </a:txBody>
                  <a:tcPr marL="77280" marR="77280" marT="38640" marB="3864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629709"/>
                  </a:ext>
                </a:extLst>
              </a:tr>
              <a:tr h="581015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Data Center Egress  Security Modernization</a:t>
                      </a:r>
                    </a:p>
                  </a:txBody>
                  <a:tcPr marL="77280" marR="77280" marT="38640" marB="38640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900" i="1">
                        <a:solidFill>
                          <a:schemeClr val="bg1"/>
                        </a:solidFill>
                      </a:endParaRPr>
                    </a:p>
                  </a:txBody>
                  <a:tcPr marL="77280" marR="77280" marT="38640" marB="38640"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>
                          <a:solidFill>
                            <a:schemeClr val="tx1"/>
                          </a:solidFill>
                        </a:rPr>
                        <a:t>Consistent egress policy regardless of device location</a:t>
                      </a:r>
                    </a:p>
                  </a:txBody>
                  <a:tcPr marL="77280" marR="77280" marT="38640" marB="3864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>
                          <a:solidFill>
                            <a:schemeClr val="tx1"/>
                          </a:solidFill>
                        </a:rPr>
                        <a:t>Standard DC egress (Zscaler); unified outbound policy</a:t>
                      </a:r>
                    </a:p>
                  </a:txBody>
                  <a:tcPr marL="77280" marR="77280" marT="38640" marB="3864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0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i="1">
                          <a:solidFill>
                            <a:schemeClr val="tx1"/>
                          </a:solidFill>
                        </a:rPr>
                        <a:t>Consistent outbound patterns for hybrid (CSP/DC) apps</a:t>
                      </a:r>
                    </a:p>
                  </a:txBody>
                  <a:tcPr marL="77280" marR="77280" marT="38640" marB="3864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>
                          <a:solidFill>
                            <a:schemeClr val="tx1"/>
                          </a:solidFill>
                        </a:rPr>
                        <a:t>DLP inspection &amp; policy enforcement at DC egress</a:t>
                      </a:r>
                    </a:p>
                  </a:txBody>
                  <a:tcPr marL="77280" marR="77280" marT="38640" marB="3864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>
                          <a:solidFill>
                            <a:schemeClr val="tx1"/>
                          </a:solidFill>
                        </a:rPr>
                        <a:t>Centralized outbound telemetry &amp; threat analytics</a:t>
                      </a:r>
                    </a:p>
                  </a:txBody>
                  <a:tcPr marL="77280" marR="77280" marT="38640" marB="3864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>
                          <a:solidFill>
                            <a:schemeClr val="tx1"/>
                          </a:solidFill>
                        </a:rPr>
                        <a:t>Consistent egress architecture; simplified operations</a:t>
                      </a:r>
                    </a:p>
                  </a:txBody>
                  <a:tcPr marL="77280" marR="77280" marT="38640" marB="3864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61457"/>
                  </a:ext>
                </a:extLst>
              </a:tr>
              <a:tr h="566009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CSP Egress Expansion </a:t>
                      </a:r>
                    </a:p>
                  </a:txBody>
                  <a:tcPr marL="77280" marR="77280" marT="38640" marB="38640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900" i="1">
                        <a:solidFill>
                          <a:schemeClr val="bg1"/>
                        </a:solidFill>
                      </a:endParaRPr>
                    </a:p>
                  </a:txBody>
                  <a:tcPr marL="77280" marR="77280" marT="38640" marB="38640"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i="1">
                        <a:solidFill>
                          <a:schemeClr val="tx1"/>
                        </a:solidFill>
                      </a:endParaRPr>
                    </a:p>
                  </a:txBody>
                  <a:tcPr marL="77280" marR="77280" marT="38640" marB="3864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>
                          <a:solidFill>
                            <a:schemeClr val="tx1"/>
                          </a:solidFill>
                        </a:rPr>
                        <a:t>Egress cutover to Zscaler for Non‑Prod/Prod</a:t>
                      </a:r>
                    </a:p>
                  </a:txBody>
                  <a:tcPr marL="77280" marR="77280" marT="38640" marB="3864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06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i="1">
                        <a:solidFill>
                          <a:schemeClr val="bg1"/>
                        </a:solidFill>
                      </a:endParaRPr>
                    </a:p>
                  </a:txBody>
                  <a:tcPr marL="77280" marR="77280" marT="38640" marB="3864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i="1">
                        <a:solidFill>
                          <a:schemeClr val="bg1"/>
                        </a:solidFill>
                      </a:endParaRPr>
                    </a:p>
                  </a:txBody>
                  <a:tcPr marL="77280" marR="77280" marT="38640" marB="3864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>
                          <a:solidFill>
                            <a:schemeClr val="tx1"/>
                          </a:solidFill>
                        </a:rPr>
                        <a:t>Outbound traffic telemetry (via Zscaler)</a:t>
                      </a:r>
                    </a:p>
                  </a:txBody>
                  <a:tcPr marL="77280" marR="77280" marT="38640" marB="3864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>
                          <a:solidFill>
                            <a:schemeClr val="tx1"/>
                          </a:solidFill>
                        </a:rPr>
                        <a:t>Consistent egress architecture; controls</a:t>
                      </a:r>
                    </a:p>
                  </a:txBody>
                  <a:tcPr marL="77280" marR="77280" marT="38640" marB="3864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154212"/>
                  </a:ext>
                </a:extLst>
              </a:tr>
              <a:tr h="415346">
                <a:tc>
                  <a:txBody>
                    <a:bodyPr/>
                    <a:lstStyle/>
                    <a:p>
                      <a:r>
                        <a:rPr lang="en-US" sz="1000" b="1">
                          <a:solidFill>
                            <a:schemeClr val="bg1"/>
                          </a:solidFill>
                        </a:rPr>
                        <a:t>Zscaler Zero Trust Access (ZPA)</a:t>
                      </a:r>
                    </a:p>
                  </a:txBody>
                  <a:tcPr marL="77280" marR="77280" marT="38640" marB="38640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sz="900" i="1">
                        <a:solidFill>
                          <a:schemeClr val="bg1"/>
                        </a:solidFill>
                      </a:endParaRPr>
                    </a:p>
                  </a:txBody>
                  <a:tcPr marL="77280" marR="77280" marT="38640" marB="38640">
                    <a:solidFill>
                      <a:srgbClr val="A6A6A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i="1">
                        <a:solidFill>
                          <a:schemeClr val="bg1"/>
                        </a:solidFill>
                      </a:endParaRPr>
                    </a:p>
                  </a:txBody>
                  <a:tcPr marL="77280" marR="77280" marT="38640" marB="3864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i="1">
                        <a:solidFill>
                          <a:schemeClr val="bg1"/>
                        </a:solidFill>
                      </a:endParaRPr>
                    </a:p>
                  </a:txBody>
                  <a:tcPr marL="77280" marR="77280" marT="38640" marB="3864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>
                          <a:solidFill>
                            <a:schemeClr val="tx1"/>
                          </a:solidFill>
                        </a:rPr>
                        <a:t>Direct app connectivity (ZPA)</a:t>
                      </a:r>
                    </a:p>
                  </a:txBody>
                  <a:tcPr marL="77280" marR="77280" marT="38640" marB="3864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i="1">
                        <a:solidFill>
                          <a:schemeClr val="bg1"/>
                        </a:solidFill>
                      </a:endParaRPr>
                    </a:p>
                  </a:txBody>
                  <a:tcPr marL="77280" marR="77280" marT="38640" marB="3864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i="1">
                          <a:solidFill>
                            <a:schemeClr val="tx1"/>
                          </a:solidFill>
                        </a:rPr>
                        <a:t>Access logging per app/session</a:t>
                      </a:r>
                    </a:p>
                  </a:txBody>
                  <a:tcPr marL="77280" marR="77280" marT="38640" marB="3864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00" i="1" dirty="0">
                        <a:solidFill>
                          <a:schemeClr val="bg1"/>
                        </a:solidFill>
                      </a:endParaRPr>
                    </a:p>
                  </a:txBody>
                  <a:tcPr marL="77280" marR="77280" marT="38640" marB="3864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188852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E682ED4-2407-168B-B2AB-BB7FC2D81B14}"/>
              </a:ext>
            </a:extLst>
          </p:cNvPr>
          <p:cNvSpPr txBox="1"/>
          <p:nvPr/>
        </p:nvSpPr>
        <p:spPr>
          <a:xfrm>
            <a:off x="1566678" y="6072548"/>
            <a:ext cx="905864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57200"/>
            <a:r>
              <a:rPr lang="en-US" sz="1500" b="1">
                <a:solidFill>
                  <a:srgbClr val="3F3F3F"/>
                </a:solidFill>
                <a:latin typeface="CVS Health Sans"/>
              </a:rPr>
              <a:t>Leverages the CISA ZT model to show how current initiatives collectively strengthen our Zero Trust security posture and how much of the framework has been implemented.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3C1405-AFA2-4721-11BB-7599BF3E94A1}"/>
              </a:ext>
            </a:extLst>
          </p:cNvPr>
          <p:cNvSpPr/>
          <p:nvPr/>
        </p:nvSpPr>
        <p:spPr bwMode="gray">
          <a:xfrm>
            <a:off x="4018661" y="6602483"/>
            <a:ext cx="4301067" cy="189120"/>
          </a:xfrm>
          <a:prstGeom prst="rect">
            <a:avLst/>
          </a:prstGeom>
          <a:noFill/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457200"/>
            <a:r>
              <a:rPr lang="en-US" sz="900">
                <a:solidFill>
                  <a:srgbClr val="000000"/>
                </a:solidFill>
                <a:latin typeface="CVS Health Sans"/>
              </a:rPr>
              <a:t>*Mappings are based on project descriptions; validation may be required.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856E84-AFC3-62F3-3119-C2A7B1C2518A}"/>
              </a:ext>
            </a:extLst>
          </p:cNvPr>
          <p:cNvSpPr/>
          <p:nvPr/>
        </p:nvSpPr>
        <p:spPr bwMode="gray">
          <a:xfrm rot="16200000">
            <a:off x="-20452" y="3062413"/>
            <a:ext cx="1183900" cy="252957"/>
          </a:xfrm>
          <a:prstGeom prst="rect">
            <a:avLst/>
          </a:prstGeom>
          <a:noFill/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sz="1100" b="1">
                <a:solidFill>
                  <a:srgbClr val="7D3F98"/>
                </a:solidFill>
                <a:latin typeface="CVS Health Sans"/>
              </a:rPr>
              <a:t> Infrastructure Sec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6D4B56-CAD8-AD17-5F34-218C3D79DAF9}"/>
              </a:ext>
            </a:extLst>
          </p:cNvPr>
          <p:cNvSpPr/>
          <p:nvPr/>
        </p:nvSpPr>
        <p:spPr bwMode="gray">
          <a:xfrm rot="16200000">
            <a:off x="153015" y="4960338"/>
            <a:ext cx="793587" cy="252958"/>
          </a:xfrm>
          <a:prstGeom prst="rect">
            <a:avLst/>
          </a:prstGeom>
          <a:noFill/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sz="1100" b="1">
                <a:solidFill>
                  <a:srgbClr val="00B0F0"/>
                </a:solidFill>
                <a:latin typeface="CVS Health Sans"/>
              </a:rPr>
              <a:t>Data Integrity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42B2907-93C4-2EFE-7A21-A2CC9B76009E}"/>
              </a:ext>
            </a:extLst>
          </p:cNvPr>
          <p:cNvSpPr/>
          <p:nvPr/>
        </p:nvSpPr>
        <p:spPr bwMode="gray">
          <a:xfrm rot="16200000">
            <a:off x="153015" y="5520776"/>
            <a:ext cx="793587" cy="252958"/>
          </a:xfrm>
          <a:prstGeom prst="rect">
            <a:avLst/>
          </a:prstGeom>
          <a:noFill/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sz="1100" b="1">
                <a:solidFill>
                  <a:srgbClr val="00A78E"/>
                </a:solidFill>
                <a:latin typeface="CVS Health Sans"/>
              </a:rPr>
              <a:t>Sec</a:t>
            </a:r>
          </a:p>
          <a:p>
            <a:pPr algn="ctr" defTabSz="457200"/>
            <a:r>
              <a:rPr lang="en-US" sz="1100" b="1">
                <a:solidFill>
                  <a:srgbClr val="00A78E"/>
                </a:solidFill>
                <a:latin typeface="CVS Health Sans"/>
              </a:rPr>
              <a:t>Ops</a:t>
            </a:r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C03AB8D2-F212-26B3-C196-7222DD3D7FA6}"/>
              </a:ext>
            </a:extLst>
          </p:cNvPr>
          <p:cNvSpPr txBox="1">
            <a:spLocks/>
          </p:cNvSpPr>
          <p:nvPr/>
        </p:nvSpPr>
        <p:spPr>
          <a:xfrm>
            <a:off x="561261" y="643545"/>
            <a:ext cx="9119768" cy="44434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45706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199" b="0" i="0" kern="1200">
                <a:solidFill>
                  <a:schemeClr val="tx2"/>
                </a:solidFill>
                <a:latin typeface="CVS Health Sans Medium" panose="020B0504020202020204" pitchFamily="34" charset="0"/>
                <a:ea typeface="+mj-ea"/>
                <a:cs typeface="+mj-cs"/>
              </a:defRPr>
            </a:lvl1pPr>
          </a:lstStyle>
          <a:p>
            <a:r>
              <a:rPr lang="en-US" b="1">
                <a:latin typeface="+mj-lt"/>
              </a:rPr>
              <a:t>Zero Trust Capability Coverage*</a:t>
            </a:r>
          </a:p>
        </p:txBody>
      </p:sp>
    </p:spTree>
    <p:extLst>
      <p:ext uri="{BB962C8B-B14F-4D97-AF65-F5344CB8AC3E}">
        <p14:creationId xmlns:p14="http://schemas.microsoft.com/office/powerpoint/2010/main" val="3869421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D0937-0906-85F3-71D9-6A3DF9E85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565" y="838190"/>
            <a:ext cx="8582085" cy="444348"/>
          </a:xfrm>
        </p:spPr>
        <p:txBody>
          <a:bodyPr/>
          <a:lstStyle/>
          <a:p>
            <a:r>
              <a:rPr lang="en-US" dirty="0"/>
              <a:t>Technical Capabilities Delivered by 3PLZ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EF1BB-40D7-859D-2325-A7E27DF69A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74563" y="1385715"/>
            <a:ext cx="5321434" cy="565592"/>
          </a:xfrm>
        </p:spPr>
        <p:txBody>
          <a:bodyPr/>
          <a:lstStyle/>
          <a:p>
            <a:pPr marL="0" indent="0">
              <a:buNone/>
            </a:pPr>
            <a:r>
              <a:rPr lang="en-US" sz="1400" b="1" dirty="0"/>
              <a:t>A. Fully Isolated Zero Trust Tenant Architecture</a:t>
            </a:r>
            <a:endParaRPr lang="en-US" sz="1400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52967F91-AD61-0A97-2B69-C8F506CB7B17}"/>
              </a:ext>
            </a:extLst>
          </p:cNvPr>
          <p:cNvSpPr txBox="1">
            <a:spLocks/>
          </p:cNvSpPr>
          <p:nvPr/>
        </p:nvSpPr>
        <p:spPr>
          <a:xfrm>
            <a:off x="709965" y="2372538"/>
            <a:ext cx="3956922" cy="5655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500" b="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A51695-EDF7-FD03-99FC-D6935E883B54}"/>
              </a:ext>
            </a:extLst>
          </p:cNvPr>
          <p:cNvSpPr txBox="1"/>
          <p:nvPr/>
        </p:nvSpPr>
        <p:spPr>
          <a:xfrm>
            <a:off x="774563" y="2114463"/>
            <a:ext cx="4410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B. Automated, Standardized IPsec VPN Connectivity</a:t>
            </a:r>
            <a:endParaRPr lang="en-US" sz="1400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C12E801-7B34-4E2A-E662-98FBBF9B78A1}"/>
              </a:ext>
            </a:extLst>
          </p:cNvPr>
          <p:cNvSpPr txBox="1">
            <a:spLocks/>
          </p:cNvSpPr>
          <p:nvPr/>
        </p:nvSpPr>
        <p:spPr>
          <a:xfrm>
            <a:off x="774563" y="2835306"/>
            <a:ext cx="8359608" cy="4104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500" b="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/>
              <a:t>C. Layer‑7 Service‑Pattern Proxies for All Integrations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3CD62A-97C5-B4AD-B4CE-CC27D3478AD2}"/>
              </a:ext>
            </a:extLst>
          </p:cNvPr>
          <p:cNvSpPr txBox="1"/>
          <p:nvPr/>
        </p:nvSpPr>
        <p:spPr>
          <a:xfrm>
            <a:off x="774564" y="2403876"/>
            <a:ext cx="9316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System‑generated IPsec configuration bundles ensure consistent crypto, routing, and tunnel parameters across all vendors.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High‑availability tunnel endpoints provide reliable and location‑agnostic termination.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AC3216-DCDF-C8D8-692A-CEF63D5B1E0E}"/>
              </a:ext>
            </a:extLst>
          </p:cNvPr>
          <p:cNvSpPr txBox="1"/>
          <p:nvPr/>
        </p:nvSpPr>
        <p:spPr>
          <a:xfrm>
            <a:off x="774563" y="1670449"/>
            <a:ext cx="1023013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Each third party operates within a dedicated Virtual Landing Zone with its own routing, addressing, DNS, and security boundaries.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No direct access to internal networks; all communication forced through governed service entry points</a:t>
            </a:r>
            <a:r>
              <a:rPr lang="en-US" sz="1400" dirty="0"/>
              <a:t>.</a:t>
            </a:r>
          </a:p>
          <a:p>
            <a:pPr lvl="0"/>
            <a:endParaRPr lang="en-US" sz="1400" dirty="0"/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876EDA-E9AC-F774-9979-A132D76D4106}"/>
              </a:ext>
            </a:extLst>
          </p:cNvPr>
          <p:cNvSpPr txBox="1"/>
          <p:nvPr/>
        </p:nvSpPr>
        <p:spPr>
          <a:xfrm>
            <a:off x="806463" y="3096741"/>
            <a:ext cx="93165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Secure File Transfer (SFTP/SSH) with authentication, audit logging, and optional inspection.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Application‑Aware Proxies for Web, API, SaaS, and Collaboration apps with </a:t>
            </a:r>
            <a:r>
              <a:rPr lang="en-US" sz="1200" dirty="0" err="1"/>
              <a:t>mTLS</a:t>
            </a:r>
            <a:r>
              <a:rPr lang="en-US" sz="1200" dirty="0"/>
              <a:t>, OAuth, JWT, header/path controls, and rate enforcement.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VDI Connectivity using tenant‑specific proxy endpoints for controlled remote desktop access.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D5131E4-EAA7-F37F-F841-D7A75CF7BA73}"/>
              </a:ext>
            </a:extLst>
          </p:cNvPr>
          <p:cNvSpPr txBox="1">
            <a:spLocks/>
          </p:cNvSpPr>
          <p:nvPr/>
        </p:nvSpPr>
        <p:spPr>
          <a:xfrm>
            <a:off x="806463" y="3883270"/>
            <a:ext cx="5321434" cy="5655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500" b="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/>
              <a:t>D. DNS‑Driven Control Plane</a:t>
            </a:r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204B47-616A-C875-5D95-A6F2696B7F6A}"/>
              </a:ext>
            </a:extLst>
          </p:cNvPr>
          <p:cNvSpPr txBox="1"/>
          <p:nvPr/>
        </p:nvSpPr>
        <p:spPr>
          <a:xfrm>
            <a:off x="848995" y="4158938"/>
            <a:ext cx="93165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Per‑tenant DNS views, rewriting, and conditional forwarding ensure that all traffic resolves to the correct proxy endpoints.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DNS validation ties application reachability to authenticated, policy‑enforced resolution paths.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017B29-8D73-8E82-4E03-8B1396B6B4BE}"/>
              </a:ext>
            </a:extLst>
          </p:cNvPr>
          <p:cNvSpPr txBox="1">
            <a:spLocks/>
          </p:cNvSpPr>
          <p:nvPr/>
        </p:nvSpPr>
        <p:spPr>
          <a:xfrm>
            <a:off x="816690" y="4621959"/>
            <a:ext cx="5321434" cy="2298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500" b="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/>
              <a:t>E. End‑to‑End Automation Through APIs</a:t>
            </a: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7A724ED-9C4F-45D3-59BD-BEC26EB1F758}"/>
              </a:ext>
            </a:extLst>
          </p:cNvPr>
          <p:cNvSpPr txBox="1"/>
          <p:nvPr/>
        </p:nvSpPr>
        <p:spPr>
          <a:xfrm>
            <a:off x="848995" y="4855513"/>
            <a:ext cx="97941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All workflow steps — from request intake to VPN provisioning to proxy creation — are API‑driven.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Supports integration with Terraform, Ansible, CI/CD pipelines, and other automation systems.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7402503-8227-71EE-6320-B44FAB13C520}"/>
              </a:ext>
            </a:extLst>
          </p:cNvPr>
          <p:cNvSpPr txBox="1">
            <a:spLocks/>
          </p:cNvSpPr>
          <p:nvPr/>
        </p:nvSpPr>
        <p:spPr>
          <a:xfrm>
            <a:off x="816690" y="5316420"/>
            <a:ext cx="5321434" cy="2298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500" b="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/>
              <a:t>F. Comprehensive Observability and Logging</a:t>
            </a:r>
            <a:endParaRPr 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50E6A1-D8FE-2EC0-F298-A42FC32B3B50}"/>
              </a:ext>
            </a:extLst>
          </p:cNvPr>
          <p:cNvSpPr txBox="1"/>
          <p:nvPr/>
        </p:nvSpPr>
        <p:spPr>
          <a:xfrm>
            <a:off x="848995" y="5547252"/>
            <a:ext cx="97941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Detailed logs for proxy traffic, DNS activity, tunnel state, and routing sessions.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200" dirty="0"/>
              <a:t>Per‑tenant metrics and telemetry exported into enterprise monitoring platforms for visibility and correlation.</a:t>
            </a:r>
          </a:p>
        </p:txBody>
      </p:sp>
    </p:spTree>
    <p:extLst>
      <p:ext uri="{BB962C8B-B14F-4D97-AF65-F5344CB8AC3E}">
        <p14:creationId xmlns:p14="http://schemas.microsoft.com/office/powerpoint/2010/main" val="4071747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5C9E4-F218-677F-3E00-2A105186E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DDA4A-01AB-C451-BEF6-3587B59B1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566" y="838190"/>
            <a:ext cx="6763918" cy="444348"/>
          </a:xfrm>
        </p:spPr>
        <p:txBody>
          <a:bodyPr/>
          <a:lstStyle/>
          <a:p>
            <a:r>
              <a:rPr lang="en-US" dirty="0"/>
              <a:t>Delivery of 3PLZ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BCFDB4-730B-6B4E-CD9B-87950D5095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74566" y="1431192"/>
            <a:ext cx="4488550" cy="350076"/>
          </a:xfrm>
        </p:spPr>
        <p:txBody>
          <a:bodyPr/>
          <a:lstStyle/>
          <a:p>
            <a:pPr marL="0" indent="0">
              <a:buNone/>
            </a:pPr>
            <a:r>
              <a:rPr lang="en-US" sz="1400" b="1" dirty="0"/>
              <a:t>A. Reduced Enterprise Risk Exposure</a:t>
            </a:r>
            <a:endParaRPr lang="en-US" sz="1400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CD23A4F-90A7-ACEA-1979-575632F310D7}"/>
              </a:ext>
            </a:extLst>
          </p:cNvPr>
          <p:cNvSpPr txBox="1">
            <a:spLocks/>
          </p:cNvSpPr>
          <p:nvPr/>
        </p:nvSpPr>
        <p:spPr>
          <a:xfrm>
            <a:off x="709965" y="2372538"/>
            <a:ext cx="3956922" cy="5655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500" b="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7584DD-9823-38E9-FBCA-EF24D8C624FC}"/>
              </a:ext>
            </a:extLst>
          </p:cNvPr>
          <p:cNvSpPr txBox="1"/>
          <p:nvPr/>
        </p:nvSpPr>
        <p:spPr>
          <a:xfrm>
            <a:off x="774565" y="1694835"/>
            <a:ext cx="10378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Centralizes all third‑party connectivity into isolated, policy‑driven environments that remove the inconsistent and high‑risk behaviors of legacy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Applies identity‑aware controls and externalized enforcement to reduce the blast radius of vendor access and strengthen overall security posture.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CC30A5-8B96-0804-F843-00CCD9A52AB5}"/>
              </a:ext>
            </a:extLst>
          </p:cNvPr>
          <p:cNvSpPr txBox="1">
            <a:spLocks/>
          </p:cNvSpPr>
          <p:nvPr/>
        </p:nvSpPr>
        <p:spPr>
          <a:xfrm>
            <a:off x="774566" y="2218721"/>
            <a:ext cx="4488550" cy="3500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500" b="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/>
              <a:t>B. Faster Time‑to‑Market for Partner Integration</a:t>
            </a: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8D6A19-DBB3-97E3-DB4C-B90E90C9AB99}"/>
              </a:ext>
            </a:extLst>
          </p:cNvPr>
          <p:cNvSpPr txBox="1"/>
          <p:nvPr/>
        </p:nvSpPr>
        <p:spPr>
          <a:xfrm>
            <a:off x="774565" y="2529143"/>
            <a:ext cx="10134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Self‑service onboarding capabilities dramatically shorten delivery cycles and eliminate dependency on manual network engineering.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Automated generation of required configurations accelerates deployments and reduces project lead times.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4C1C639-FD11-AC08-6C42-F224F055171F}"/>
              </a:ext>
            </a:extLst>
          </p:cNvPr>
          <p:cNvSpPr txBox="1">
            <a:spLocks/>
          </p:cNvSpPr>
          <p:nvPr/>
        </p:nvSpPr>
        <p:spPr>
          <a:xfrm>
            <a:off x="774565" y="3009463"/>
            <a:ext cx="4988281" cy="3500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500" b="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/>
              <a:t>C. Higher Operational Efficiency and Lower Support Costs</a:t>
            </a:r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86FF2C-917B-B792-91E9-017B6EF9E000}"/>
              </a:ext>
            </a:extLst>
          </p:cNvPr>
          <p:cNvSpPr txBox="1"/>
          <p:nvPr/>
        </p:nvSpPr>
        <p:spPr>
          <a:xfrm>
            <a:off x="774565" y="3298567"/>
            <a:ext cx="10134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Standardized service patterns minimize bespoke engineering and simplify long‑term operations.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Centralized logging and visibility enable faster troubleshooting and incident response across all vendor connections.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1FC6CB5-98CC-F861-0AB7-FE3D92FD68FD}"/>
              </a:ext>
            </a:extLst>
          </p:cNvPr>
          <p:cNvSpPr txBox="1">
            <a:spLocks/>
          </p:cNvSpPr>
          <p:nvPr/>
        </p:nvSpPr>
        <p:spPr>
          <a:xfrm>
            <a:off x="774565" y="3782395"/>
            <a:ext cx="4988281" cy="3500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500" b="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/>
              <a:t>D. Stronger Compliance and Audit Alignment</a:t>
            </a:r>
            <a:endParaRPr 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4144F2-76CE-9651-3EB0-5DE038B04629}"/>
              </a:ext>
            </a:extLst>
          </p:cNvPr>
          <p:cNvSpPr txBox="1"/>
          <p:nvPr/>
        </p:nvSpPr>
        <p:spPr>
          <a:xfrm>
            <a:off x="774565" y="4082963"/>
            <a:ext cx="10134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Built‑in data classification, segmentation, and authentication controls ensure consistent adherence to regulatory standards.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Per‑tenant isolation and documented workflows provide a defensible audit trail for every integration..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F6666D0-4EA3-2BC6-C699-9F591BC7417D}"/>
              </a:ext>
            </a:extLst>
          </p:cNvPr>
          <p:cNvSpPr txBox="1">
            <a:spLocks/>
          </p:cNvSpPr>
          <p:nvPr/>
        </p:nvSpPr>
        <p:spPr>
          <a:xfrm>
            <a:off x="774565" y="4532054"/>
            <a:ext cx="4988281" cy="3500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500" b="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/>
              <a:t>E. Scalable Foundation for Enterprise Growth</a:t>
            </a:r>
            <a:endParaRPr 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38AEA6-1F3E-7803-0FA4-067374A6B5F9}"/>
              </a:ext>
            </a:extLst>
          </p:cNvPr>
          <p:cNvSpPr txBox="1"/>
          <p:nvPr/>
        </p:nvSpPr>
        <p:spPr>
          <a:xfrm>
            <a:off x="774565" y="4802821"/>
            <a:ext cx="10134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Designed to onboard and manage a large number of third‑party tenants without increased complexity.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Supports long‑term expansion through automation, high availability, and consistent architecture</a:t>
            </a:r>
          </a:p>
        </p:txBody>
      </p:sp>
    </p:spTree>
    <p:extLst>
      <p:ext uri="{BB962C8B-B14F-4D97-AF65-F5344CB8AC3E}">
        <p14:creationId xmlns:p14="http://schemas.microsoft.com/office/powerpoint/2010/main" val="2128519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D3CDA-4736-A51D-9660-F60E06BEB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452F6-0820-FFCC-E9B5-499BD7F2B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566" y="838190"/>
            <a:ext cx="6763918" cy="444348"/>
          </a:xfrm>
        </p:spPr>
        <p:txBody>
          <a:bodyPr/>
          <a:lstStyle/>
          <a:p>
            <a:r>
              <a:rPr lang="en-US" dirty="0"/>
              <a:t>3PLZ Dependencies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AC6F9-E012-2A5F-8EDD-B0D987F618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9747" y="1282539"/>
            <a:ext cx="11285734" cy="5476608"/>
          </a:xfrm>
        </p:spPr>
        <p:txBody>
          <a:bodyPr/>
          <a:lstStyle/>
          <a:p>
            <a:pPr marL="0" indent="0">
              <a:buNone/>
            </a:pPr>
            <a:r>
              <a:rPr lang="en-US" sz="1400" b="1" dirty="0"/>
              <a:t>Authoritative Identity &amp; PKI are wired into the platform:</a:t>
            </a:r>
          </a:p>
          <a:p>
            <a:r>
              <a:rPr lang="en-US" sz="1200" dirty="0"/>
              <a:t>Self-Service platform CVS users are the </a:t>
            </a:r>
            <a:r>
              <a:rPr lang="en-US" sz="1200" i="1" dirty="0"/>
              <a:t>customer</a:t>
            </a:r>
            <a:r>
              <a:rPr lang="en-US" sz="1200" dirty="0"/>
              <a:t>.</a:t>
            </a:r>
          </a:p>
          <a:p>
            <a:pPr>
              <a:lnSpc>
                <a:spcPct val="100000"/>
              </a:lnSpc>
            </a:pPr>
            <a:r>
              <a:rPr lang="en-US" sz="1200" dirty="0"/>
              <a:t>RBAC tenant model based on service implementation in the tenant with SNOW based review and approval</a:t>
            </a:r>
          </a:p>
          <a:p>
            <a:pPr>
              <a:lnSpc>
                <a:spcPct val="100000"/>
              </a:lnSpc>
            </a:pPr>
            <a:r>
              <a:rPr lang="en-US" sz="1200" dirty="0"/>
              <a:t>SAML IdP/ AD Group authentication required for RBAC.</a:t>
            </a:r>
            <a:endParaRPr lang="en-US" sz="1200" b="1" dirty="0"/>
          </a:p>
          <a:p>
            <a:pPr marL="0" indent="0">
              <a:buNone/>
            </a:pPr>
            <a:r>
              <a:rPr lang="en-US" sz="1400" b="1" dirty="0"/>
              <a:t>Tenant isolation is enforceable end‑to‑end:</a:t>
            </a:r>
          </a:p>
          <a:p>
            <a:r>
              <a:rPr lang="en-US" sz="1200" dirty="0"/>
              <a:t>Namespace driven architecture (tenant IP addressing overlaps/Tenant to CSV addressing is unique).</a:t>
            </a:r>
          </a:p>
          <a:p>
            <a:r>
              <a:rPr lang="en-US" sz="1200" dirty="0"/>
              <a:t>Solution has a dependency on DNS rewriting and the use of conditional forwarding.</a:t>
            </a:r>
          </a:p>
          <a:p>
            <a:r>
              <a:rPr lang="en-US" sz="1200" dirty="0"/>
              <a:t>Tenant solution provides network isolation and traffic visibility, inspection and enforcement via proxy splicing.</a:t>
            </a:r>
          </a:p>
          <a:p>
            <a:r>
              <a:rPr lang="en-US" sz="1200" dirty="0"/>
              <a:t>User and session identity driven enforcement depends on per tenant PKI and user on-boarding (not in initial project scope).</a:t>
            </a:r>
            <a:endParaRPr lang="en-US" sz="1200" b="1" dirty="0"/>
          </a:p>
          <a:p>
            <a:pPr marL="0" indent="0">
              <a:buNone/>
            </a:pPr>
            <a:r>
              <a:rPr lang="en-US" sz="1400" b="1" dirty="0"/>
              <a:t>Automation is the system of record: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/>
              <a:t>- Service delivery is based on patterned proxy implementation to load-balanced application front-ends.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/>
              <a:t>- IPSec delivery is also based on patterned delivery, no ad-hoc or bespoke connections.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/>
              <a:t>- Source of Truth for 3rd party partners is required (Need for formal on-board).</a:t>
            </a:r>
          </a:p>
          <a:p>
            <a:pPr marL="0" indent="0">
              <a:buNone/>
            </a:pPr>
            <a:r>
              <a:rPr lang="en-US" sz="1400" b="1" dirty="0"/>
              <a:t>Observability is multi‑layer and per‑tenant:</a:t>
            </a:r>
            <a:endParaRPr lang="en-US" sz="1200" b="1" dirty="0"/>
          </a:p>
          <a:p>
            <a:pPr marL="0" indent="0">
              <a:buNone/>
            </a:pPr>
            <a:r>
              <a:rPr lang="en-US" sz="1200" dirty="0"/>
              <a:t>- Logging events for DNS, Proxy Transactions, tunnel , BGP, and app telemetry flow into SIEM with consistent ID.</a:t>
            </a:r>
            <a:endParaRPr lang="en-US" sz="1200" b="1" dirty="0"/>
          </a:p>
          <a:p>
            <a:pPr marL="0" indent="0">
              <a:buNone/>
            </a:pPr>
            <a:r>
              <a:rPr lang="en-US" sz="1400" b="1" dirty="0"/>
              <a:t>Governance needs to embedded into the request flow: </a:t>
            </a:r>
          </a:p>
          <a:p>
            <a:pPr marL="0" indent="0">
              <a:buNone/>
            </a:pPr>
            <a:r>
              <a:rPr lang="en-US" sz="1200" dirty="0"/>
              <a:t>- Clear processes need to be defined for on-board, service deployment, SLA commitment, RBAC assignment.</a:t>
            </a:r>
          </a:p>
          <a:p>
            <a:pPr marL="0" indent="0">
              <a:buNone/>
            </a:pPr>
            <a:r>
              <a:rPr lang="en-US" sz="1200" dirty="0"/>
              <a:t>- There is no standard architecture for any of the candidate services, automated deployment requires services are architecture compliant..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B1B06BE-762C-EDC6-9CE8-C6937F35CF12}"/>
              </a:ext>
            </a:extLst>
          </p:cNvPr>
          <p:cNvSpPr txBox="1">
            <a:spLocks/>
          </p:cNvSpPr>
          <p:nvPr/>
        </p:nvSpPr>
        <p:spPr>
          <a:xfrm>
            <a:off x="709965" y="2372538"/>
            <a:ext cx="3956922" cy="5655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500" b="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192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532</TotalTime>
  <Words>1077</Words>
  <Application>Microsoft Macintosh PowerPoint</Application>
  <PresentationFormat>Widescreen</PresentationFormat>
  <Paragraphs>107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CVS Health Sans</vt:lpstr>
      <vt:lpstr>CVS Health Sans Medium</vt:lpstr>
      <vt:lpstr>Office Theme</vt:lpstr>
      <vt:lpstr>PowerPoint Presentation</vt:lpstr>
      <vt:lpstr>Technical Capabilities Delivered by 3PLZ</vt:lpstr>
      <vt:lpstr>Delivery of 3PLZ Outcomes</vt:lpstr>
      <vt:lpstr>3PLZ Dependencies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Martin, Michael J</dc:creator>
  <cp:lastModifiedBy>Martin, Michael J</cp:lastModifiedBy>
  <cp:revision>8</cp:revision>
  <dcterms:created xsi:type="dcterms:W3CDTF">2026-02-10T15:41:29Z</dcterms:created>
  <dcterms:modified xsi:type="dcterms:W3CDTF">2026-02-11T01:33:39Z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837230a-460a-4aec-98a3-ac101fb30b10_Enabled">
    <vt:lpwstr>true</vt:lpwstr>
  </property>
  <property fmtid="{D5CDD505-2E9C-101B-9397-08002B2CF9AE}" pid="3" name="MSIP_Label_7837230a-460a-4aec-98a3-ac101fb30b10_SetDate">
    <vt:lpwstr>2026-02-10T20:59:01Z</vt:lpwstr>
  </property>
  <property fmtid="{D5CDD505-2E9C-101B-9397-08002B2CF9AE}" pid="4" name="MSIP_Label_7837230a-460a-4aec-98a3-ac101fb30b10_Method">
    <vt:lpwstr>Privileged</vt:lpwstr>
  </property>
  <property fmtid="{D5CDD505-2E9C-101B-9397-08002B2CF9AE}" pid="5" name="MSIP_Label_7837230a-460a-4aec-98a3-ac101fb30b10_Name">
    <vt:lpwstr>7837230a-460a-4aec-98a3-ac101fb30b10</vt:lpwstr>
  </property>
  <property fmtid="{D5CDD505-2E9C-101B-9397-08002B2CF9AE}" pid="6" name="MSIP_Label_7837230a-460a-4aec-98a3-ac101fb30b10_SiteId">
    <vt:lpwstr>fabb61b8-3afe-4e75-b934-a47f782b8cd7</vt:lpwstr>
  </property>
  <property fmtid="{D5CDD505-2E9C-101B-9397-08002B2CF9AE}" pid="7" name="MSIP_Label_7837230a-460a-4aec-98a3-ac101fb30b10_ActionId">
    <vt:lpwstr>6ce86d9f-8be1-44a4-9df6-1cebf1fc67fa</vt:lpwstr>
  </property>
  <property fmtid="{D5CDD505-2E9C-101B-9397-08002B2CF9AE}" pid="8" name="MSIP_Label_7837230a-460a-4aec-98a3-ac101fb30b10_ContentBits">
    <vt:lpwstr>0</vt:lpwstr>
  </property>
  <property fmtid="{D5CDD505-2E9C-101B-9397-08002B2CF9AE}" pid="9" name="MSIP_Label_7837230a-460a-4aec-98a3-ac101fb30b10_Tag">
    <vt:lpwstr>50, 0, 1, 1</vt:lpwstr>
  </property>
</Properties>
</file>