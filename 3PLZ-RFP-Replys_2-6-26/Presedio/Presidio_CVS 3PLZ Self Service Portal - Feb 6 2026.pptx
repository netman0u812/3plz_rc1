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14748296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5F93D56-6668-4D61-B2CE-0D62EE0956C5}">
          <p14:sldIdLst>
            <p14:sldId id="21474829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8633214-AD0B-FD4A-5004-5AE1A4DCB33C}" name="Sherwood, Roger" initials="SR" userId="S::rsherwood@presidio.com::52980d4f-bfb2-4da1-bdd2-57a06e7edac6" providerId="AD"/>
  <p188:author id="{B9DF92D3-21EA-76CC-ACA1-927FEA1C0B1F}" name="Rodriguez-Perez, Manny" initials="RM" userId="S::mrodriguezperez@presidio.com::4077a846-9a11-467d-a889-4ac39325528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EB8"/>
    <a:srgbClr val="C9A9CC"/>
    <a:srgbClr val="00A1E1"/>
    <a:srgbClr val="85A2BC"/>
    <a:srgbClr val="DDD9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CB58AC-A953-2843-87C3-05B8B404E09C}" v="269" dt="2026-02-06T18:30:20.215"/>
    <p1510:client id="{E9537B7F-3CF2-E445-8862-9EE78CF69796}" v="432" dt="2026-02-06T16:20:23.3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6327"/>
  </p:normalViewPr>
  <p:slideViewPr>
    <p:cSldViewPr snapToGrid="0">
      <p:cViewPr varScale="1">
        <p:scale>
          <a:sx n="123" d="100"/>
          <a:sy n="123" d="100"/>
        </p:scale>
        <p:origin x="1352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840AF7-19E2-408A-B196-9993BF83E53B}" type="datetimeFigureOut">
              <a:rPr lang="en-US" smtClean="0"/>
              <a:t>2/6/26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55F41C-54C6-4B11-94B3-805448203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940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9B5CC-D08B-00EB-4E4A-EDEAED782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025D9C-05B8-19DC-0930-F669936D1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4E602F-6108-547D-74DA-24C5197C0A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59CD64-5E11-FCE5-D0A7-212B0E496E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00F4DD-433F-9D42-8752-618973F7408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9005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sv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sv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5BC1842-1AA2-E248-8D74-DA9CC1F8097B}"/>
              </a:ext>
            </a:extLst>
          </p:cNvPr>
          <p:cNvCxnSpPr>
            <a:cxnSpLocks/>
          </p:cNvCxnSpPr>
          <p:nvPr/>
        </p:nvCxnSpPr>
        <p:spPr>
          <a:xfrm>
            <a:off x="666750" y="5038725"/>
            <a:ext cx="47625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5250" y="1990726"/>
            <a:ext cx="6475625" cy="2833982"/>
          </a:xfrm>
        </p:spPr>
        <p:txBody>
          <a:bodyPr anchor="b"/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5251" y="5278732"/>
            <a:ext cx="7647200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75DD5DF-B308-0D49-8B63-8E5315E2914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744" y="582344"/>
            <a:ext cx="2149348" cy="41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130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igh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4">
            <a:extLst>
              <a:ext uri="{FF2B5EF4-FFF2-40B4-BE49-F238E27FC236}">
                <a16:creationId xmlns:a16="http://schemas.microsoft.com/office/drawing/2014/main" id="{B8D1FC50-96A6-6343-9FEA-790DCE21B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75" y="652463"/>
            <a:ext cx="2030413" cy="290512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8F8DC7E-DD12-EB49-8B8E-8E789EA03F87}"/>
              </a:ext>
            </a:extLst>
          </p:cNvPr>
          <p:cNvCxnSpPr>
            <a:cxnSpLocks/>
          </p:cNvCxnSpPr>
          <p:nvPr/>
        </p:nvCxnSpPr>
        <p:spPr>
          <a:xfrm>
            <a:off x="666750" y="1227138"/>
            <a:ext cx="476250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5250" y="1990726"/>
            <a:ext cx="6475625" cy="2833982"/>
          </a:xfrm>
        </p:spPr>
        <p:txBody>
          <a:bodyPr anchor="b"/>
          <a:lstStyle>
            <a:lvl1pPr algn="l">
              <a:defRPr sz="6000" b="1">
                <a:solidFill>
                  <a:srgbClr val="33333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5251" y="5278732"/>
            <a:ext cx="7647200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96433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 Blu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0FBA752-FC68-E647-81EB-746DDC1EE942}"/>
              </a:ext>
            </a:extLst>
          </p:cNvPr>
          <p:cNvCxnSpPr>
            <a:cxnSpLocks/>
          </p:cNvCxnSpPr>
          <p:nvPr/>
        </p:nvCxnSpPr>
        <p:spPr>
          <a:xfrm>
            <a:off x="666750" y="4333875"/>
            <a:ext cx="47625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5250" y="2076449"/>
            <a:ext cx="10533275" cy="2071983"/>
          </a:xfrm>
        </p:spPr>
        <p:txBody>
          <a:bodyPr anchor="b"/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5251" y="4573882"/>
            <a:ext cx="7647200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2A2503A-D13F-2E4F-8941-684A2AD9BF4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744" y="582344"/>
            <a:ext cx="2149348" cy="41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068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 Grey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D89001D-A5D3-424C-AC1D-041A695D538E}"/>
              </a:ext>
            </a:extLst>
          </p:cNvPr>
          <p:cNvCxnSpPr>
            <a:cxnSpLocks/>
          </p:cNvCxnSpPr>
          <p:nvPr/>
        </p:nvCxnSpPr>
        <p:spPr>
          <a:xfrm>
            <a:off x="666750" y="4333875"/>
            <a:ext cx="47625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5251" y="4573882"/>
            <a:ext cx="7647200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525250" y="2076449"/>
            <a:ext cx="10533275" cy="2071983"/>
          </a:xfrm>
        </p:spPr>
        <p:txBody>
          <a:bodyPr anchor="b"/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 flipH="1">
            <a:off x="8301805" y="3853403"/>
            <a:ext cx="3239830" cy="3004598"/>
          </a:xfrm>
          <a:custGeom>
            <a:avLst/>
            <a:gdLst>
              <a:gd name="connsiteX0" fmla="*/ 0 w 3192104"/>
              <a:gd name="connsiteY0" fmla="*/ 3239729 h 3239729"/>
              <a:gd name="connsiteX1" fmla="*/ 0 w 3192104"/>
              <a:gd name="connsiteY1" fmla="*/ 0 h 3239729"/>
              <a:gd name="connsiteX2" fmla="*/ 3192104 w 3192104"/>
              <a:gd name="connsiteY2" fmla="*/ 3239729 h 3239729"/>
              <a:gd name="connsiteX3" fmla="*/ 0 w 3192104"/>
              <a:gd name="connsiteY3" fmla="*/ 3239729 h 3239729"/>
              <a:gd name="connsiteX0" fmla="*/ 0 w 3192104"/>
              <a:gd name="connsiteY0" fmla="*/ 3035078 h 3035078"/>
              <a:gd name="connsiteX1" fmla="*/ 209006 w 3192104"/>
              <a:gd name="connsiteY1" fmla="*/ 0 h 3035078"/>
              <a:gd name="connsiteX2" fmla="*/ 3192104 w 3192104"/>
              <a:gd name="connsiteY2" fmla="*/ 3035078 h 3035078"/>
              <a:gd name="connsiteX3" fmla="*/ 0 w 3192104"/>
              <a:gd name="connsiteY3" fmla="*/ 3035078 h 3035078"/>
              <a:gd name="connsiteX0" fmla="*/ 0 w 3192104"/>
              <a:gd name="connsiteY0" fmla="*/ 3035078 h 3035078"/>
              <a:gd name="connsiteX1" fmla="*/ 209006 w 3192104"/>
              <a:gd name="connsiteY1" fmla="*/ 0 h 3035078"/>
              <a:gd name="connsiteX2" fmla="*/ 3192104 w 3192104"/>
              <a:gd name="connsiteY2" fmla="*/ 3035078 h 3035078"/>
              <a:gd name="connsiteX3" fmla="*/ 0 w 3192104"/>
              <a:gd name="connsiteY3" fmla="*/ 3035078 h 3035078"/>
              <a:gd name="connsiteX0" fmla="*/ 49066 w 3241170"/>
              <a:gd name="connsiteY0" fmla="*/ 3035078 h 3035078"/>
              <a:gd name="connsiteX1" fmla="*/ 258072 w 3241170"/>
              <a:gd name="connsiteY1" fmla="*/ 0 h 3035078"/>
              <a:gd name="connsiteX2" fmla="*/ 3241170 w 3241170"/>
              <a:gd name="connsiteY2" fmla="*/ 3035078 h 3035078"/>
              <a:gd name="connsiteX3" fmla="*/ 49066 w 3241170"/>
              <a:gd name="connsiteY3" fmla="*/ 3035078 h 3035078"/>
              <a:gd name="connsiteX0" fmla="*/ 47726 w 3239830"/>
              <a:gd name="connsiteY0" fmla="*/ 3004598 h 3004598"/>
              <a:gd name="connsiteX1" fmla="*/ 261086 w 3239830"/>
              <a:gd name="connsiteY1" fmla="*/ 0 h 3004598"/>
              <a:gd name="connsiteX2" fmla="*/ 3239830 w 3239830"/>
              <a:gd name="connsiteY2" fmla="*/ 3004598 h 3004598"/>
              <a:gd name="connsiteX3" fmla="*/ 47726 w 3239830"/>
              <a:gd name="connsiteY3" fmla="*/ 3004598 h 3004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9830" h="3004598">
                <a:moveTo>
                  <a:pt x="47726" y="3004598"/>
                </a:moveTo>
                <a:cubicBezTo>
                  <a:pt x="-26297" y="2445751"/>
                  <a:pt x="-52423" y="1207636"/>
                  <a:pt x="261086" y="0"/>
                </a:cubicBezTo>
                <a:lnTo>
                  <a:pt x="3239830" y="3004598"/>
                </a:lnTo>
                <a:lnTo>
                  <a:pt x="47726" y="3004598"/>
                </a:lnTo>
                <a:close/>
              </a:path>
            </a:pathLst>
          </a:custGeom>
        </p:spPr>
        <p:txBody>
          <a:bodyPr rtlCol="0" anchor="ctr">
            <a:norm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C2A5051-57CB-D542-B99B-0D04097277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744" y="582344"/>
            <a:ext cx="2149348" cy="41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382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7D2B9C-90D4-F046-8A9A-9E286711CAF9}"/>
              </a:ext>
            </a:extLst>
          </p:cNvPr>
          <p:cNvCxnSpPr>
            <a:cxnSpLocks/>
          </p:cNvCxnSpPr>
          <p:nvPr/>
        </p:nvCxnSpPr>
        <p:spPr>
          <a:xfrm>
            <a:off x="666750" y="3633788"/>
            <a:ext cx="47625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1F229923-3A05-2A4F-8028-327C177F8637}"/>
              </a:ext>
            </a:extLst>
          </p:cNvPr>
          <p:cNvGrpSpPr/>
          <p:nvPr/>
        </p:nvGrpSpPr>
        <p:grpSpPr>
          <a:xfrm>
            <a:off x="672442" y="488835"/>
            <a:ext cx="2154734" cy="238118"/>
            <a:chOff x="1169102" y="2039490"/>
            <a:chExt cx="7663768" cy="846917"/>
          </a:xfrm>
          <a:solidFill>
            <a:schemeClr val="bg1"/>
          </a:solidFill>
        </p:grpSpPr>
        <p:pic>
          <p:nvPicPr>
            <p:cNvPr id="7" name="Graphic 8">
              <a:extLst>
                <a:ext uri="{FF2B5EF4-FFF2-40B4-BE49-F238E27FC236}">
                  <a16:creationId xmlns:a16="http://schemas.microsoft.com/office/drawing/2014/main" id="{2526D48F-0758-1E4C-B5A9-76D13E2D72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69102" y="2238361"/>
              <a:ext cx="979797" cy="587878"/>
            </a:xfrm>
            <a:prstGeom prst="rect">
              <a:avLst/>
            </a:prstGeom>
          </p:spPr>
        </p:pic>
        <p:pic>
          <p:nvPicPr>
            <p:cNvPr id="8" name="Graphic 9">
              <a:extLst>
                <a:ext uri="{FF2B5EF4-FFF2-40B4-BE49-F238E27FC236}">
                  <a16:creationId xmlns:a16="http://schemas.microsoft.com/office/drawing/2014/main" id="{678E6632-4639-6E40-BBA1-08E307FEF8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50920" y="2167889"/>
              <a:ext cx="783838" cy="718518"/>
            </a:xfrm>
            <a:prstGeom prst="rect">
              <a:avLst/>
            </a:prstGeom>
          </p:spPr>
        </p:pic>
        <p:pic>
          <p:nvPicPr>
            <p:cNvPr id="9" name="Graphic 10">
              <a:extLst>
                <a:ext uri="{FF2B5EF4-FFF2-40B4-BE49-F238E27FC236}">
                  <a16:creationId xmlns:a16="http://schemas.microsoft.com/office/drawing/2014/main" id="{C6281113-8E10-C848-B36A-373EC289E1C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59431" y="2039490"/>
              <a:ext cx="674971" cy="783837"/>
            </a:xfrm>
            <a:prstGeom prst="rect">
              <a:avLst/>
            </a:prstGeom>
          </p:spPr>
        </p:pic>
        <p:pic>
          <p:nvPicPr>
            <p:cNvPr id="10" name="Graphic 11">
              <a:extLst>
                <a:ext uri="{FF2B5EF4-FFF2-40B4-BE49-F238E27FC236}">
                  <a16:creationId xmlns:a16="http://schemas.microsoft.com/office/drawing/2014/main" id="{6650CC91-E16B-FA41-97D4-9CA2384D1F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83713" y="2049644"/>
              <a:ext cx="849157" cy="827383"/>
            </a:xfrm>
            <a:prstGeom prst="rect">
              <a:avLst/>
            </a:prstGeom>
          </p:spPr>
        </p:pic>
        <p:pic>
          <p:nvPicPr>
            <p:cNvPr id="11" name="Graphic 12">
              <a:extLst>
                <a:ext uri="{FF2B5EF4-FFF2-40B4-BE49-F238E27FC236}">
                  <a16:creationId xmlns:a16="http://schemas.microsoft.com/office/drawing/2014/main" id="{EB3480C3-60CE-C946-9E89-EB2B7BE00F1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68604" y="2122503"/>
              <a:ext cx="849157" cy="740291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5250" y="1434164"/>
            <a:ext cx="6491567" cy="1985255"/>
          </a:xfrm>
        </p:spPr>
        <p:txBody>
          <a:bodyPr anchor="b"/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5251" y="3873444"/>
            <a:ext cx="5940863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30A06C4-47FF-1843-9215-2EB700F604E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4744" y="5855384"/>
            <a:ext cx="2149348" cy="41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780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87265BB8-3CC4-D24C-9A80-A0DCEA34DC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5" y="6457950"/>
            <a:ext cx="27273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700">
                <a:solidFill>
                  <a:srgbClr val="989998"/>
                </a:solidFill>
              </a:rPr>
              <a:t>© Presidio, Inc. All rights reserved. Proprietary and Confidential.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1A32166-CD09-6C47-9170-C0E551CAC873}"/>
              </a:ext>
            </a:extLst>
          </p:cNvPr>
          <p:cNvCxnSpPr>
            <a:cxnSpLocks/>
          </p:cNvCxnSpPr>
          <p:nvPr/>
        </p:nvCxn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52251A6A-9906-0846-A0AE-A84C2CB71F53}"/>
              </a:ext>
            </a:extLst>
          </p:cNvPr>
          <p:cNvSpPr/>
          <p:nvPr/>
        </p:nvSpPr>
        <p:spPr>
          <a:xfrm>
            <a:off x="781050" y="0"/>
            <a:ext cx="561975" cy="66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8" name="Graphic 9">
            <a:extLst>
              <a:ext uri="{FF2B5EF4-FFF2-40B4-BE49-F238E27FC236}">
                <a16:creationId xmlns:a16="http://schemas.microsoft.com/office/drawing/2014/main" id="{19CC3A0E-059E-2348-8EB8-801EB3FD366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279400"/>
            <a:ext cx="400050" cy="8651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38125"/>
            <a:ext cx="11058525" cy="976313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325" y="1387475"/>
            <a:ext cx="1105852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5EB2BC9-D147-EE4E-A68D-31E4DEFB3B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337300"/>
            <a:ext cx="685800" cy="365125"/>
          </a:xfrm>
        </p:spPr>
        <p:txBody>
          <a:bodyPr/>
          <a:lstStyle>
            <a:lvl1pPr algn="r">
              <a:defRPr sz="1600" smtClean="0">
                <a:solidFill>
                  <a:srgbClr val="333333"/>
                </a:solidFill>
              </a:defRPr>
            </a:lvl1pPr>
          </a:lstStyle>
          <a:p>
            <a:pPr>
              <a:defRPr/>
            </a:pPr>
            <a:fld id="{CF94E228-EDBA-BC4C-ABED-6F3C1A9010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CA86B90-A6A0-EE42-BC9A-4B49D8805FC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04533" y="6360160"/>
            <a:ext cx="1397927" cy="26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545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F0B1224-DAF3-BF42-ADA2-342CA6A9BEE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279400"/>
            <a:ext cx="400050" cy="865188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402E737C-7032-7B45-9176-1933D43D2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5" y="6457950"/>
            <a:ext cx="27273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700">
                <a:solidFill>
                  <a:srgbClr val="989998"/>
                </a:solidFill>
              </a:rPr>
              <a:t>© Presidio, Inc. All rights reserved. Proprietary and Confidential.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A28DEB5-28F2-9E4C-A8D5-2AE84B94F30F}"/>
              </a:ext>
            </a:extLst>
          </p:cNvPr>
          <p:cNvCxnSpPr>
            <a:cxnSpLocks/>
          </p:cNvCxnSpPr>
          <p:nvPr/>
        </p:nvCxn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799" y="1482725"/>
            <a:ext cx="48577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725" y="1482725"/>
            <a:ext cx="52578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685800" y="238125"/>
            <a:ext cx="11058525" cy="976313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39BD169-C8AF-4D4E-9A58-1FB2D26B4E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337300"/>
            <a:ext cx="685800" cy="365125"/>
          </a:xfrm>
        </p:spPr>
        <p:txBody>
          <a:bodyPr/>
          <a:lstStyle>
            <a:lvl1pPr algn="r">
              <a:defRPr sz="1600" smtClean="0">
                <a:solidFill>
                  <a:srgbClr val="333333"/>
                </a:solidFill>
              </a:defRPr>
            </a:lvl1pPr>
          </a:lstStyle>
          <a:p>
            <a:pPr>
              <a:defRPr/>
            </a:pPr>
            <a:fld id="{B2419100-B348-6C46-A05D-815961EF68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53A901C-CEC7-784A-B8DC-2B648C7F2D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04533" y="6360160"/>
            <a:ext cx="1397927" cy="26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404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4">
            <a:extLst>
              <a:ext uri="{FF2B5EF4-FFF2-40B4-BE49-F238E27FC236}">
                <a16:creationId xmlns:a16="http://schemas.microsoft.com/office/drawing/2014/main" id="{DA66F2CF-2F42-5248-9C10-6405D62601C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279400"/>
            <a:ext cx="400050" cy="865188"/>
          </a:xfrm>
          <a:prstGeom prst="rect">
            <a:avLst/>
          </a:prstGeom>
        </p:spPr>
      </p:pic>
      <p:sp>
        <p:nvSpPr>
          <p:cNvPr id="4" name="TextBox 6">
            <a:extLst>
              <a:ext uri="{FF2B5EF4-FFF2-40B4-BE49-F238E27FC236}">
                <a16:creationId xmlns:a16="http://schemas.microsoft.com/office/drawing/2014/main" id="{D352EF0B-6323-DC4A-96F2-9F8D230E2D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5" y="6457950"/>
            <a:ext cx="27273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700">
                <a:solidFill>
                  <a:srgbClr val="989998"/>
                </a:solidFill>
              </a:rPr>
              <a:t>© Presidio, Inc. All rights reserved. Proprietary and Confidential.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EAD2150-CC17-0841-8FA6-F620F8E136E1}"/>
              </a:ext>
            </a:extLst>
          </p:cNvPr>
          <p:cNvCxnSpPr>
            <a:cxnSpLocks/>
          </p:cNvCxnSpPr>
          <p:nvPr/>
        </p:nvCxn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685800" y="238125"/>
            <a:ext cx="11058525" cy="976313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1237975-F5FC-224D-93D4-1BD687D25C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337300"/>
            <a:ext cx="685800" cy="365125"/>
          </a:xfrm>
        </p:spPr>
        <p:txBody>
          <a:bodyPr/>
          <a:lstStyle>
            <a:lvl1pPr algn="r">
              <a:defRPr sz="1600" smtClean="0">
                <a:solidFill>
                  <a:srgbClr val="333333"/>
                </a:solidFill>
              </a:defRPr>
            </a:lvl1pPr>
          </a:lstStyle>
          <a:p>
            <a:pPr>
              <a:defRPr/>
            </a:pPr>
            <a:fld id="{A1949909-090E-7F47-8180-F1C1AE5B46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3B43F62-D041-A34A-8BBA-6307FF5E162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04533" y="6360160"/>
            <a:ext cx="1397927" cy="26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262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-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4">
            <a:extLst>
              <a:ext uri="{FF2B5EF4-FFF2-40B4-BE49-F238E27FC236}">
                <a16:creationId xmlns:a16="http://schemas.microsoft.com/office/drawing/2014/main" id="{C92F021B-3E8B-7C4F-B75C-5349E20231B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279400"/>
            <a:ext cx="400050" cy="865188"/>
          </a:xfrm>
          <a:prstGeom prst="rect">
            <a:avLst/>
          </a:prstGeom>
        </p:spPr>
      </p:pic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685800" y="238125"/>
            <a:ext cx="11058525" cy="976313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0826976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E4508082-3C66-DE41-824B-8C7D959EE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5" y="6457950"/>
            <a:ext cx="27273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700">
                <a:solidFill>
                  <a:srgbClr val="989998"/>
                </a:solidFill>
              </a:rPr>
              <a:t>© Presidio, Inc. All rights reserved. Proprietary and Confidential.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18E294F-853D-3F43-97FD-73DCB4910F35}"/>
              </a:ext>
            </a:extLst>
          </p:cNvPr>
          <p:cNvCxnSpPr>
            <a:cxnSpLocks/>
          </p:cNvCxnSpPr>
          <p:nvPr/>
        </p:nvCxn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983A090-E8F6-644B-8CAD-AC1AE541E5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337300"/>
            <a:ext cx="685800" cy="365125"/>
          </a:xfrm>
        </p:spPr>
        <p:txBody>
          <a:bodyPr/>
          <a:lstStyle>
            <a:lvl1pPr algn="r">
              <a:defRPr sz="1600" smtClean="0">
                <a:solidFill>
                  <a:srgbClr val="333333"/>
                </a:solidFill>
              </a:defRPr>
            </a:lvl1pPr>
          </a:lstStyle>
          <a:p>
            <a:pPr>
              <a:defRPr/>
            </a:pPr>
            <a:fld id="{69BFB6C7-4CFE-684D-9F0F-089FE7A8AE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8D010D6-C6F8-F141-A1B1-181F06E83D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04533" y="6360160"/>
            <a:ext cx="1397927" cy="26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64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135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401AD8-5990-D04D-B5D4-8857BA954750}"/>
              </a:ext>
            </a:extLst>
          </p:cNvPr>
          <p:cNvSpPr/>
          <p:nvPr/>
        </p:nvSpPr>
        <p:spPr>
          <a:xfrm>
            <a:off x="896938" y="1662113"/>
            <a:ext cx="561975" cy="66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757719" y="2212262"/>
            <a:ext cx="5913669" cy="2495550"/>
          </a:xfrm>
        </p:spPr>
        <p:txBody>
          <a:bodyPr>
            <a:normAutofit/>
          </a:bodyPr>
          <a:lstStyle>
            <a:lvl1pPr algn="l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8465905" y="2373817"/>
            <a:ext cx="2117974" cy="2115990"/>
          </a:xfrm>
          <a:prstGeom prst="ellipse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044924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02930B-2940-CF45-BEB3-0F0DF29E955B}"/>
              </a:ext>
            </a:extLst>
          </p:cNvPr>
          <p:cNvSpPr/>
          <p:nvPr/>
        </p:nvSpPr>
        <p:spPr>
          <a:xfrm>
            <a:off x="896938" y="1662113"/>
            <a:ext cx="561975" cy="66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757720" y="2212262"/>
            <a:ext cx="5783040" cy="2495550"/>
          </a:xfrm>
        </p:spPr>
        <p:txBody>
          <a:bodyPr>
            <a:normAutofit/>
          </a:bodyPr>
          <a:lstStyle>
            <a:lvl1pPr algn="l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8465905" y="2373817"/>
            <a:ext cx="2117974" cy="2115990"/>
          </a:xfrm>
          <a:prstGeom prst="ellipse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0107235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A7C0B3E-6DAF-5249-ADEC-59A435FFAFBE}"/>
              </a:ext>
            </a:extLst>
          </p:cNvPr>
          <p:cNvCxnSpPr/>
          <p:nvPr/>
        </p:nvCxnSpPr>
        <p:spPr>
          <a:xfrm>
            <a:off x="1009650" y="3790950"/>
            <a:ext cx="390525" cy="0"/>
          </a:xfrm>
          <a:prstGeom prst="line">
            <a:avLst/>
          </a:prstGeom>
          <a:ln w="444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685925"/>
            <a:ext cx="6092825" cy="19907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8525" y="3922714"/>
            <a:ext cx="6083300" cy="7921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0"/>
          </p:nvPr>
        </p:nvSpPr>
        <p:spPr>
          <a:xfrm>
            <a:off x="6017035" y="-9834"/>
            <a:ext cx="5988152" cy="6907163"/>
          </a:xfrm>
          <a:custGeom>
            <a:avLst/>
            <a:gdLst>
              <a:gd name="connsiteX0" fmla="*/ 0 w 6656746"/>
              <a:gd name="connsiteY0" fmla="*/ 0 h 6858000"/>
              <a:gd name="connsiteX1" fmla="*/ 3248159 w 6656746"/>
              <a:gd name="connsiteY1" fmla="*/ 0 h 6858000"/>
              <a:gd name="connsiteX2" fmla="*/ 6656746 w 6656746"/>
              <a:gd name="connsiteY2" fmla="*/ 3429000 h 6858000"/>
              <a:gd name="connsiteX3" fmla="*/ 3248159 w 6656746"/>
              <a:gd name="connsiteY3" fmla="*/ 6858000 h 6858000"/>
              <a:gd name="connsiteX4" fmla="*/ 0 w 6656746"/>
              <a:gd name="connsiteY4" fmla="*/ 6858000 h 6858000"/>
              <a:gd name="connsiteX5" fmla="*/ 3408587 w 6656746"/>
              <a:gd name="connsiteY5" fmla="*/ 3429000 h 6858000"/>
              <a:gd name="connsiteX6" fmla="*/ 0 w 6656746"/>
              <a:gd name="connsiteY6" fmla="*/ 0 h 6858000"/>
              <a:gd name="connsiteX0" fmla="*/ 0 w 6656746"/>
              <a:gd name="connsiteY0" fmla="*/ 0 h 6858000"/>
              <a:gd name="connsiteX1" fmla="*/ 3248159 w 6656746"/>
              <a:gd name="connsiteY1" fmla="*/ 0 h 6858000"/>
              <a:gd name="connsiteX2" fmla="*/ 6656746 w 6656746"/>
              <a:gd name="connsiteY2" fmla="*/ 3429000 h 6858000"/>
              <a:gd name="connsiteX3" fmla="*/ 5103249 w 6656746"/>
              <a:gd name="connsiteY3" fmla="*/ 4975123 h 6858000"/>
              <a:gd name="connsiteX4" fmla="*/ 3248159 w 6656746"/>
              <a:gd name="connsiteY4" fmla="*/ 6858000 h 6858000"/>
              <a:gd name="connsiteX5" fmla="*/ 0 w 6656746"/>
              <a:gd name="connsiteY5" fmla="*/ 6858000 h 6858000"/>
              <a:gd name="connsiteX6" fmla="*/ 3408587 w 6656746"/>
              <a:gd name="connsiteY6" fmla="*/ 3429000 h 6858000"/>
              <a:gd name="connsiteX7" fmla="*/ 0 w 6656746"/>
              <a:gd name="connsiteY7" fmla="*/ 0 h 6858000"/>
              <a:gd name="connsiteX0" fmla="*/ 0 w 6656746"/>
              <a:gd name="connsiteY0" fmla="*/ 0 h 6858000"/>
              <a:gd name="connsiteX1" fmla="*/ 3248159 w 6656746"/>
              <a:gd name="connsiteY1" fmla="*/ 0 h 6858000"/>
              <a:gd name="connsiteX2" fmla="*/ 5299894 w 6656746"/>
              <a:gd name="connsiteY2" fmla="*/ 2084439 h 6858000"/>
              <a:gd name="connsiteX3" fmla="*/ 6656746 w 6656746"/>
              <a:gd name="connsiteY3" fmla="*/ 3429000 h 6858000"/>
              <a:gd name="connsiteX4" fmla="*/ 5103249 w 6656746"/>
              <a:gd name="connsiteY4" fmla="*/ 4975123 h 6858000"/>
              <a:gd name="connsiteX5" fmla="*/ 3248159 w 6656746"/>
              <a:gd name="connsiteY5" fmla="*/ 6858000 h 6858000"/>
              <a:gd name="connsiteX6" fmla="*/ 0 w 6656746"/>
              <a:gd name="connsiteY6" fmla="*/ 6858000 h 6858000"/>
              <a:gd name="connsiteX7" fmla="*/ 3408587 w 6656746"/>
              <a:gd name="connsiteY7" fmla="*/ 3429000 h 6858000"/>
              <a:gd name="connsiteX8" fmla="*/ 0 w 6656746"/>
              <a:gd name="connsiteY8" fmla="*/ 0 h 6858000"/>
              <a:gd name="connsiteX0" fmla="*/ 0 w 5299894"/>
              <a:gd name="connsiteY0" fmla="*/ 0 h 6858000"/>
              <a:gd name="connsiteX1" fmla="*/ 3248159 w 5299894"/>
              <a:gd name="connsiteY1" fmla="*/ 0 h 6858000"/>
              <a:gd name="connsiteX2" fmla="*/ 5299894 w 5299894"/>
              <a:gd name="connsiteY2" fmla="*/ 2084439 h 6858000"/>
              <a:gd name="connsiteX3" fmla="*/ 5103249 w 5299894"/>
              <a:gd name="connsiteY3" fmla="*/ 4975123 h 6858000"/>
              <a:gd name="connsiteX4" fmla="*/ 3248159 w 5299894"/>
              <a:gd name="connsiteY4" fmla="*/ 6858000 h 6858000"/>
              <a:gd name="connsiteX5" fmla="*/ 0 w 5299894"/>
              <a:gd name="connsiteY5" fmla="*/ 6858000 h 6858000"/>
              <a:gd name="connsiteX6" fmla="*/ 3408587 w 5299894"/>
              <a:gd name="connsiteY6" fmla="*/ 3429000 h 6858000"/>
              <a:gd name="connsiteX7" fmla="*/ 0 w 5299894"/>
              <a:gd name="connsiteY7" fmla="*/ 0 h 6858000"/>
              <a:gd name="connsiteX0" fmla="*/ 0 w 5880987"/>
              <a:gd name="connsiteY0" fmla="*/ 0 h 6858000"/>
              <a:gd name="connsiteX1" fmla="*/ 3248159 w 5880987"/>
              <a:gd name="connsiteY1" fmla="*/ 0 h 6858000"/>
              <a:gd name="connsiteX2" fmla="*/ 5299894 w 5880987"/>
              <a:gd name="connsiteY2" fmla="*/ 2084439 h 6858000"/>
              <a:gd name="connsiteX3" fmla="*/ 5879997 w 5880987"/>
              <a:gd name="connsiteY3" fmla="*/ 3451123 h 6858000"/>
              <a:gd name="connsiteX4" fmla="*/ 5103249 w 5880987"/>
              <a:gd name="connsiteY4" fmla="*/ 4975123 h 6858000"/>
              <a:gd name="connsiteX5" fmla="*/ 3248159 w 5880987"/>
              <a:gd name="connsiteY5" fmla="*/ 6858000 h 6858000"/>
              <a:gd name="connsiteX6" fmla="*/ 0 w 5880987"/>
              <a:gd name="connsiteY6" fmla="*/ 6858000 h 6858000"/>
              <a:gd name="connsiteX7" fmla="*/ 3408587 w 5880987"/>
              <a:gd name="connsiteY7" fmla="*/ 3429000 h 6858000"/>
              <a:gd name="connsiteX8" fmla="*/ 0 w 5880987"/>
              <a:gd name="connsiteY8" fmla="*/ 0 h 6858000"/>
              <a:gd name="connsiteX0" fmla="*/ 0 w 5879997"/>
              <a:gd name="connsiteY0" fmla="*/ 0 h 6858000"/>
              <a:gd name="connsiteX1" fmla="*/ 3248159 w 5879997"/>
              <a:gd name="connsiteY1" fmla="*/ 0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48159 w 5879997"/>
              <a:gd name="connsiteY1" fmla="*/ 0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48159 w 5879997"/>
              <a:gd name="connsiteY1" fmla="*/ 0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48159 w 5879997"/>
              <a:gd name="connsiteY1" fmla="*/ 0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48159 w 5879997"/>
              <a:gd name="connsiteY1" fmla="*/ 0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48159 w 5879997"/>
              <a:gd name="connsiteY1" fmla="*/ 0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198998 w 5879997"/>
              <a:gd name="connsiteY1" fmla="*/ 29497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48160 w 5879997"/>
              <a:gd name="connsiteY1" fmla="*/ 39329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18663 w 5879997"/>
              <a:gd name="connsiteY1" fmla="*/ 19664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29497 w 5909494"/>
              <a:gd name="connsiteY0" fmla="*/ 0 h 6867833"/>
              <a:gd name="connsiteX1" fmla="*/ 3248160 w 5909494"/>
              <a:gd name="connsiteY1" fmla="*/ 19664 h 6867833"/>
              <a:gd name="connsiteX2" fmla="*/ 5329391 w 5909494"/>
              <a:gd name="connsiteY2" fmla="*/ 2084439 h 6867833"/>
              <a:gd name="connsiteX3" fmla="*/ 5909494 w 5909494"/>
              <a:gd name="connsiteY3" fmla="*/ 3451123 h 6867833"/>
              <a:gd name="connsiteX4" fmla="*/ 5132746 w 5909494"/>
              <a:gd name="connsiteY4" fmla="*/ 4975123 h 6867833"/>
              <a:gd name="connsiteX5" fmla="*/ 3277656 w 5909494"/>
              <a:gd name="connsiteY5" fmla="*/ 6858000 h 6867833"/>
              <a:gd name="connsiteX6" fmla="*/ 0 w 5909494"/>
              <a:gd name="connsiteY6" fmla="*/ 6867833 h 6867833"/>
              <a:gd name="connsiteX7" fmla="*/ 3438084 w 5909494"/>
              <a:gd name="connsiteY7" fmla="*/ 3429000 h 6867833"/>
              <a:gd name="connsiteX8" fmla="*/ 29497 w 5909494"/>
              <a:gd name="connsiteY8" fmla="*/ 0 h 6867833"/>
              <a:gd name="connsiteX0" fmla="*/ 19665 w 5909494"/>
              <a:gd name="connsiteY0" fmla="*/ 0 h 6867833"/>
              <a:gd name="connsiteX1" fmla="*/ 3248160 w 5909494"/>
              <a:gd name="connsiteY1" fmla="*/ 19664 h 6867833"/>
              <a:gd name="connsiteX2" fmla="*/ 5329391 w 5909494"/>
              <a:gd name="connsiteY2" fmla="*/ 2084439 h 6867833"/>
              <a:gd name="connsiteX3" fmla="*/ 5909494 w 5909494"/>
              <a:gd name="connsiteY3" fmla="*/ 3451123 h 6867833"/>
              <a:gd name="connsiteX4" fmla="*/ 5132746 w 5909494"/>
              <a:gd name="connsiteY4" fmla="*/ 4975123 h 6867833"/>
              <a:gd name="connsiteX5" fmla="*/ 3277656 w 5909494"/>
              <a:gd name="connsiteY5" fmla="*/ 6858000 h 6867833"/>
              <a:gd name="connsiteX6" fmla="*/ 0 w 5909494"/>
              <a:gd name="connsiteY6" fmla="*/ 6867833 h 6867833"/>
              <a:gd name="connsiteX7" fmla="*/ 3438084 w 5909494"/>
              <a:gd name="connsiteY7" fmla="*/ 3429000 h 6867833"/>
              <a:gd name="connsiteX8" fmla="*/ 19665 w 5909494"/>
              <a:gd name="connsiteY8" fmla="*/ 0 h 6867833"/>
              <a:gd name="connsiteX0" fmla="*/ 19665 w 5909494"/>
              <a:gd name="connsiteY0" fmla="*/ 1 h 6867834"/>
              <a:gd name="connsiteX1" fmla="*/ 3228496 w 5909494"/>
              <a:gd name="connsiteY1" fmla="*/ 0 h 6867834"/>
              <a:gd name="connsiteX2" fmla="*/ 5329391 w 5909494"/>
              <a:gd name="connsiteY2" fmla="*/ 2084440 h 6867834"/>
              <a:gd name="connsiteX3" fmla="*/ 5909494 w 5909494"/>
              <a:gd name="connsiteY3" fmla="*/ 3451124 h 6867834"/>
              <a:gd name="connsiteX4" fmla="*/ 5132746 w 5909494"/>
              <a:gd name="connsiteY4" fmla="*/ 4975124 h 6867834"/>
              <a:gd name="connsiteX5" fmla="*/ 3277656 w 5909494"/>
              <a:gd name="connsiteY5" fmla="*/ 6858001 h 6867834"/>
              <a:gd name="connsiteX6" fmla="*/ 0 w 5909494"/>
              <a:gd name="connsiteY6" fmla="*/ 6867834 h 6867834"/>
              <a:gd name="connsiteX7" fmla="*/ 3438084 w 5909494"/>
              <a:gd name="connsiteY7" fmla="*/ 3429001 h 6867834"/>
              <a:gd name="connsiteX8" fmla="*/ 19665 w 5909494"/>
              <a:gd name="connsiteY8" fmla="*/ 1 h 6867834"/>
              <a:gd name="connsiteX0" fmla="*/ 68826 w 5958655"/>
              <a:gd name="connsiteY0" fmla="*/ 1 h 6887499"/>
              <a:gd name="connsiteX1" fmla="*/ 3277657 w 5958655"/>
              <a:gd name="connsiteY1" fmla="*/ 0 h 6887499"/>
              <a:gd name="connsiteX2" fmla="*/ 5378552 w 5958655"/>
              <a:gd name="connsiteY2" fmla="*/ 2084440 h 6887499"/>
              <a:gd name="connsiteX3" fmla="*/ 5958655 w 5958655"/>
              <a:gd name="connsiteY3" fmla="*/ 3451124 h 6887499"/>
              <a:gd name="connsiteX4" fmla="*/ 5181907 w 5958655"/>
              <a:gd name="connsiteY4" fmla="*/ 4975124 h 6887499"/>
              <a:gd name="connsiteX5" fmla="*/ 3326817 w 5958655"/>
              <a:gd name="connsiteY5" fmla="*/ 6858001 h 6887499"/>
              <a:gd name="connsiteX6" fmla="*/ 0 w 5958655"/>
              <a:gd name="connsiteY6" fmla="*/ 6887499 h 6887499"/>
              <a:gd name="connsiteX7" fmla="*/ 3487245 w 5958655"/>
              <a:gd name="connsiteY7" fmla="*/ 3429001 h 6887499"/>
              <a:gd name="connsiteX8" fmla="*/ 68826 w 5958655"/>
              <a:gd name="connsiteY8" fmla="*/ 1 h 6887499"/>
              <a:gd name="connsiteX0" fmla="*/ 68826 w 5958655"/>
              <a:gd name="connsiteY0" fmla="*/ 1 h 6887499"/>
              <a:gd name="connsiteX1" fmla="*/ 3277657 w 5958655"/>
              <a:gd name="connsiteY1" fmla="*/ 0 h 6887499"/>
              <a:gd name="connsiteX2" fmla="*/ 5378552 w 5958655"/>
              <a:gd name="connsiteY2" fmla="*/ 2084440 h 6887499"/>
              <a:gd name="connsiteX3" fmla="*/ 5958655 w 5958655"/>
              <a:gd name="connsiteY3" fmla="*/ 3451124 h 6887499"/>
              <a:gd name="connsiteX4" fmla="*/ 5181907 w 5958655"/>
              <a:gd name="connsiteY4" fmla="*/ 4975124 h 6887499"/>
              <a:gd name="connsiteX5" fmla="*/ 3326817 w 5958655"/>
              <a:gd name="connsiteY5" fmla="*/ 6858001 h 6887499"/>
              <a:gd name="connsiteX6" fmla="*/ 0 w 5958655"/>
              <a:gd name="connsiteY6" fmla="*/ 6887499 h 6887499"/>
              <a:gd name="connsiteX7" fmla="*/ 3477413 w 5958655"/>
              <a:gd name="connsiteY7" fmla="*/ 3438834 h 6887499"/>
              <a:gd name="connsiteX8" fmla="*/ 68826 w 5958655"/>
              <a:gd name="connsiteY8" fmla="*/ 1 h 6887499"/>
              <a:gd name="connsiteX0" fmla="*/ 68826 w 5958655"/>
              <a:gd name="connsiteY0" fmla="*/ 1 h 6887499"/>
              <a:gd name="connsiteX1" fmla="*/ 3277657 w 5958655"/>
              <a:gd name="connsiteY1" fmla="*/ 0 h 6887499"/>
              <a:gd name="connsiteX2" fmla="*/ 5378552 w 5958655"/>
              <a:gd name="connsiteY2" fmla="*/ 2084440 h 6887499"/>
              <a:gd name="connsiteX3" fmla="*/ 5958655 w 5958655"/>
              <a:gd name="connsiteY3" fmla="*/ 3451124 h 6887499"/>
              <a:gd name="connsiteX4" fmla="*/ 5181907 w 5958655"/>
              <a:gd name="connsiteY4" fmla="*/ 4975124 h 6887499"/>
              <a:gd name="connsiteX5" fmla="*/ 3307153 w 5958655"/>
              <a:gd name="connsiteY5" fmla="*/ 6887498 h 6887499"/>
              <a:gd name="connsiteX6" fmla="*/ 0 w 5958655"/>
              <a:gd name="connsiteY6" fmla="*/ 6887499 h 6887499"/>
              <a:gd name="connsiteX7" fmla="*/ 3477413 w 5958655"/>
              <a:gd name="connsiteY7" fmla="*/ 3438834 h 6887499"/>
              <a:gd name="connsiteX8" fmla="*/ 68826 w 5958655"/>
              <a:gd name="connsiteY8" fmla="*/ 1 h 6887499"/>
              <a:gd name="connsiteX0" fmla="*/ 68826 w 5988152"/>
              <a:gd name="connsiteY0" fmla="*/ 1 h 6887499"/>
              <a:gd name="connsiteX1" fmla="*/ 3277657 w 5988152"/>
              <a:gd name="connsiteY1" fmla="*/ 0 h 6887499"/>
              <a:gd name="connsiteX2" fmla="*/ 5378552 w 5988152"/>
              <a:gd name="connsiteY2" fmla="*/ 2084440 h 6887499"/>
              <a:gd name="connsiteX3" fmla="*/ 5988152 w 5988152"/>
              <a:gd name="connsiteY3" fmla="*/ 3451124 h 6887499"/>
              <a:gd name="connsiteX4" fmla="*/ 5181907 w 5988152"/>
              <a:gd name="connsiteY4" fmla="*/ 4975124 h 6887499"/>
              <a:gd name="connsiteX5" fmla="*/ 3307153 w 5988152"/>
              <a:gd name="connsiteY5" fmla="*/ 6887498 h 6887499"/>
              <a:gd name="connsiteX6" fmla="*/ 0 w 5988152"/>
              <a:gd name="connsiteY6" fmla="*/ 6887499 h 6887499"/>
              <a:gd name="connsiteX7" fmla="*/ 3477413 w 5988152"/>
              <a:gd name="connsiteY7" fmla="*/ 3438834 h 6887499"/>
              <a:gd name="connsiteX8" fmla="*/ 68826 w 5988152"/>
              <a:gd name="connsiteY8" fmla="*/ 1 h 6887499"/>
              <a:gd name="connsiteX0" fmla="*/ 68826 w 5988152"/>
              <a:gd name="connsiteY0" fmla="*/ 1 h 6887499"/>
              <a:gd name="connsiteX1" fmla="*/ 3277657 w 5988152"/>
              <a:gd name="connsiteY1" fmla="*/ 0 h 6887499"/>
              <a:gd name="connsiteX2" fmla="*/ 5378552 w 5988152"/>
              <a:gd name="connsiteY2" fmla="*/ 2084440 h 6887499"/>
              <a:gd name="connsiteX3" fmla="*/ 5988152 w 5988152"/>
              <a:gd name="connsiteY3" fmla="*/ 3451124 h 6887499"/>
              <a:gd name="connsiteX4" fmla="*/ 5181907 w 5988152"/>
              <a:gd name="connsiteY4" fmla="*/ 4975124 h 6887499"/>
              <a:gd name="connsiteX5" fmla="*/ 3307153 w 5988152"/>
              <a:gd name="connsiteY5" fmla="*/ 6887498 h 6887499"/>
              <a:gd name="connsiteX6" fmla="*/ 0 w 5988152"/>
              <a:gd name="connsiteY6" fmla="*/ 6887499 h 6887499"/>
              <a:gd name="connsiteX7" fmla="*/ 3457748 w 5988152"/>
              <a:gd name="connsiteY7" fmla="*/ 3429002 h 6887499"/>
              <a:gd name="connsiteX8" fmla="*/ 68826 w 5988152"/>
              <a:gd name="connsiteY8" fmla="*/ 1 h 6887499"/>
              <a:gd name="connsiteX0" fmla="*/ 68826 w 5988152"/>
              <a:gd name="connsiteY0" fmla="*/ 1 h 6897330"/>
              <a:gd name="connsiteX1" fmla="*/ 3277657 w 5988152"/>
              <a:gd name="connsiteY1" fmla="*/ 0 h 6897330"/>
              <a:gd name="connsiteX2" fmla="*/ 5378552 w 5988152"/>
              <a:gd name="connsiteY2" fmla="*/ 2084440 h 6897330"/>
              <a:gd name="connsiteX3" fmla="*/ 5988152 w 5988152"/>
              <a:gd name="connsiteY3" fmla="*/ 3451124 h 6897330"/>
              <a:gd name="connsiteX4" fmla="*/ 5181907 w 5988152"/>
              <a:gd name="connsiteY4" fmla="*/ 4975124 h 6897330"/>
              <a:gd name="connsiteX5" fmla="*/ 3336650 w 5988152"/>
              <a:gd name="connsiteY5" fmla="*/ 6897330 h 6897330"/>
              <a:gd name="connsiteX6" fmla="*/ 0 w 5988152"/>
              <a:gd name="connsiteY6" fmla="*/ 6887499 h 6897330"/>
              <a:gd name="connsiteX7" fmla="*/ 3457748 w 5988152"/>
              <a:gd name="connsiteY7" fmla="*/ 3429002 h 6897330"/>
              <a:gd name="connsiteX8" fmla="*/ 68826 w 5988152"/>
              <a:gd name="connsiteY8" fmla="*/ 1 h 6897330"/>
              <a:gd name="connsiteX0" fmla="*/ 68826 w 5988152"/>
              <a:gd name="connsiteY0" fmla="*/ 1 h 6897330"/>
              <a:gd name="connsiteX1" fmla="*/ 3277657 w 5988152"/>
              <a:gd name="connsiteY1" fmla="*/ 0 h 6897330"/>
              <a:gd name="connsiteX2" fmla="*/ 5368719 w 5988152"/>
              <a:gd name="connsiteY2" fmla="*/ 2054943 h 6897330"/>
              <a:gd name="connsiteX3" fmla="*/ 5988152 w 5988152"/>
              <a:gd name="connsiteY3" fmla="*/ 3451124 h 6897330"/>
              <a:gd name="connsiteX4" fmla="*/ 5181907 w 5988152"/>
              <a:gd name="connsiteY4" fmla="*/ 4975124 h 6897330"/>
              <a:gd name="connsiteX5" fmla="*/ 3336650 w 5988152"/>
              <a:gd name="connsiteY5" fmla="*/ 6897330 h 6897330"/>
              <a:gd name="connsiteX6" fmla="*/ 0 w 5988152"/>
              <a:gd name="connsiteY6" fmla="*/ 6887499 h 6897330"/>
              <a:gd name="connsiteX7" fmla="*/ 3457748 w 5988152"/>
              <a:gd name="connsiteY7" fmla="*/ 3429002 h 6897330"/>
              <a:gd name="connsiteX8" fmla="*/ 68826 w 5988152"/>
              <a:gd name="connsiteY8" fmla="*/ 1 h 6897330"/>
              <a:gd name="connsiteX0" fmla="*/ 68826 w 5988152"/>
              <a:gd name="connsiteY0" fmla="*/ 9834 h 6907163"/>
              <a:gd name="connsiteX1" fmla="*/ 3297321 w 5988152"/>
              <a:gd name="connsiteY1" fmla="*/ 0 h 6907163"/>
              <a:gd name="connsiteX2" fmla="*/ 5368719 w 5988152"/>
              <a:gd name="connsiteY2" fmla="*/ 2064776 h 6907163"/>
              <a:gd name="connsiteX3" fmla="*/ 5988152 w 5988152"/>
              <a:gd name="connsiteY3" fmla="*/ 3460957 h 6907163"/>
              <a:gd name="connsiteX4" fmla="*/ 5181907 w 5988152"/>
              <a:gd name="connsiteY4" fmla="*/ 4984957 h 6907163"/>
              <a:gd name="connsiteX5" fmla="*/ 3336650 w 5988152"/>
              <a:gd name="connsiteY5" fmla="*/ 6907163 h 6907163"/>
              <a:gd name="connsiteX6" fmla="*/ 0 w 5988152"/>
              <a:gd name="connsiteY6" fmla="*/ 6897332 h 6907163"/>
              <a:gd name="connsiteX7" fmla="*/ 3457748 w 5988152"/>
              <a:gd name="connsiteY7" fmla="*/ 3438835 h 6907163"/>
              <a:gd name="connsiteX8" fmla="*/ 68826 w 5988152"/>
              <a:gd name="connsiteY8" fmla="*/ 9834 h 6907163"/>
              <a:gd name="connsiteX0" fmla="*/ 29497 w 5988152"/>
              <a:gd name="connsiteY0" fmla="*/ 2 h 6907163"/>
              <a:gd name="connsiteX1" fmla="*/ 3297321 w 5988152"/>
              <a:gd name="connsiteY1" fmla="*/ 0 h 6907163"/>
              <a:gd name="connsiteX2" fmla="*/ 5368719 w 5988152"/>
              <a:gd name="connsiteY2" fmla="*/ 2064776 h 6907163"/>
              <a:gd name="connsiteX3" fmla="*/ 5988152 w 5988152"/>
              <a:gd name="connsiteY3" fmla="*/ 3460957 h 6907163"/>
              <a:gd name="connsiteX4" fmla="*/ 5181907 w 5988152"/>
              <a:gd name="connsiteY4" fmla="*/ 4984957 h 6907163"/>
              <a:gd name="connsiteX5" fmla="*/ 3336650 w 5988152"/>
              <a:gd name="connsiteY5" fmla="*/ 6907163 h 6907163"/>
              <a:gd name="connsiteX6" fmla="*/ 0 w 5988152"/>
              <a:gd name="connsiteY6" fmla="*/ 6897332 h 6907163"/>
              <a:gd name="connsiteX7" fmla="*/ 3457748 w 5988152"/>
              <a:gd name="connsiteY7" fmla="*/ 3438835 h 6907163"/>
              <a:gd name="connsiteX8" fmla="*/ 29497 w 5988152"/>
              <a:gd name="connsiteY8" fmla="*/ 2 h 6907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88152" h="6907163">
                <a:moveTo>
                  <a:pt x="29497" y="2"/>
                </a:moveTo>
                <a:lnTo>
                  <a:pt x="3297321" y="0"/>
                </a:lnTo>
                <a:lnTo>
                  <a:pt x="5368719" y="2064776"/>
                </a:lnTo>
                <a:cubicBezTo>
                  <a:pt x="5555532" y="2284363"/>
                  <a:pt x="5958656" y="2631770"/>
                  <a:pt x="5988152" y="3460957"/>
                </a:cubicBezTo>
                <a:cubicBezTo>
                  <a:pt x="5896384" y="4185267"/>
                  <a:pt x="5716127" y="4388466"/>
                  <a:pt x="5181907" y="4984957"/>
                </a:cubicBezTo>
                <a:lnTo>
                  <a:pt x="3336650" y="6907163"/>
                </a:lnTo>
                <a:lnTo>
                  <a:pt x="0" y="6897332"/>
                </a:lnTo>
                <a:lnTo>
                  <a:pt x="3457748" y="3438835"/>
                </a:lnTo>
                <a:lnTo>
                  <a:pt x="29497" y="2"/>
                </a:lnTo>
                <a:close/>
              </a:path>
            </a:pathLst>
          </a:custGeom>
        </p:spPr>
        <p:txBody>
          <a:bodyPr rtlCol="0" anchor="ctr"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5203232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>
            <a:extLst>
              <a:ext uri="{FF2B5EF4-FFF2-40B4-BE49-F238E27FC236}">
                <a16:creationId xmlns:a16="http://schemas.microsoft.com/office/drawing/2014/main" id="{935C4404-72A9-2745-A1B7-F0008387CD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14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7">
            <a:extLst>
              <a:ext uri="{FF2B5EF4-FFF2-40B4-BE49-F238E27FC236}">
                <a16:creationId xmlns:a16="http://schemas.microsoft.com/office/drawing/2014/main" id="{3579DBC6-611E-384B-AA33-7207919784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5" y="6457950"/>
            <a:ext cx="27273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700">
                <a:solidFill>
                  <a:srgbClr val="989998"/>
                </a:solidFill>
              </a:rPr>
              <a:t>© Presidio, Inc. All rights reserved. Proprietary and Confidential.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5B56B62-D687-0445-B458-08200F2CD8C2}"/>
              </a:ext>
            </a:extLst>
          </p:cNvPr>
          <p:cNvCxnSpPr>
            <a:cxnSpLocks/>
          </p:cNvCxnSpPr>
          <p:nvPr/>
        </p:nvCxn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685801" y="2047875"/>
            <a:ext cx="10763250" cy="2495550"/>
          </a:xfrm>
        </p:spPr>
        <p:txBody>
          <a:bodyPr anchor="t">
            <a:norm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0D69612-00A8-9A41-BE45-AD8D9AE401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337300"/>
            <a:ext cx="685800" cy="365125"/>
          </a:xfrm>
        </p:spPr>
        <p:txBody>
          <a:bodyPr/>
          <a:lstStyle>
            <a:lvl1pPr algn="r">
              <a:defRPr sz="1600" smtClean="0">
                <a:solidFill>
                  <a:srgbClr val="333333"/>
                </a:solidFill>
              </a:defRPr>
            </a:lvl1pPr>
          </a:lstStyle>
          <a:p>
            <a:pPr>
              <a:defRPr/>
            </a:pPr>
            <a:fld id="{142B1E9F-63E1-9644-8172-3F6AC64BB5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482B79F-8F4C-A04B-BE98-21CE97FA2E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04533" y="6360160"/>
            <a:ext cx="1397927" cy="26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9369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Quote w-Sub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B240EFC3-B389-4C47-84E5-4880A528C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14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D41F6A0-E102-CB48-89C3-7B755FD4763D}"/>
              </a:ext>
            </a:extLst>
          </p:cNvPr>
          <p:cNvSpPr/>
          <p:nvPr/>
        </p:nvSpPr>
        <p:spPr>
          <a:xfrm>
            <a:off x="5815013" y="3362325"/>
            <a:ext cx="561975" cy="66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F5326561-370A-C942-B96F-44FE881158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5" y="6457950"/>
            <a:ext cx="27273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700">
                <a:solidFill>
                  <a:srgbClr val="989998"/>
                </a:solidFill>
              </a:rPr>
              <a:t>© Presidio, Inc. All rights reserved. Proprietary and Confidential.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51E474D-14D8-8E47-9DCB-A63D25FC226C}"/>
              </a:ext>
            </a:extLst>
          </p:cNvPr>
          <p:cNvCxnSpPr>
            <a:cxnSpLocks/>
          </p:cNvCxnSpPr>
          <p:nvPr/>
        </p:nvCxn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685801" y="1219199"/>
            <a:ext cx="10763250" cy="1876425"/>
          </a:xfrm>
        </p:spPr>
        <p:txBody>
          <a:bodyPr anchor="b">
            <a:norm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2249276" y="3716632"/>
            <a:ext cx="7647200" cy="1160168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26D5FB4-E61A-574C-91D3-3E2D8C5089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337300"/>
            <a:ext cx="685800" cy="365125"/>
          </a:xfrm>
        </p:spPr>
        <p:txBody>
          <a:bodyPr/>
          <a:lstStyle>
            <a:lvl1pPr algn="r">
              <a:defRPr sz="1600" smtClean="0">
                <a:solidFill>
                  <a:srgbClr val="333333"/>
                </a:solidFill>
              </a:defRPr>
            </a:lvl1pPr>
          </a:lstStyle>
          <a:p>
            <a:pPr>
              <a:defRPr/>
            </a:pPr>
            <a:fld id="{F35897D1-7F04-3348-950C-969DA83C98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90B8171-99F7-6147-928A-D3EA9BF729C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04533" y="6360160"/>
            <a:ext cx="1397927" cy="26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6239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 City End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24088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AD3C2-28CA-034B-84E3-B20D631ADB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251" y="2920628"/>
            <a:ext cx="5199042" cy="2534975"/>
          </a:xfrm>
        </p:spPr>
        <p:txBody>
          <a:bodyPr anchor="b"/>
          <a:lstStyle>
            <a:lvl1pPr algn="l">
              <a:defRPr sz="6000" b="1">
                <a:solidFill>
                  <a:srgbClr val="333333"/>
                </a:solidFill>
              </a:defRPr>
            </a:lvl1pPr>
          </a:lstStyle>
          <a:p>
            <a:r>
              <a:rPr lang="en-US"/>
              <a:t>Click to add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B129FD-65BB-3C46-A192-5B4CE0EF1A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5251" y="5949386"/>
            <a:ext cx="6130192" cy="489513"/>
          </a:xfrm>
        </p:spPr>
        <p:txBody>
          <a:bodyPr anchor="t"/>
          <a:lstStyle>
            <a:lvl1pPr marL="0" indent="0" algn="l">
              <a:buNone/>
              <a:defRPr sz="240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9A5F4B4-789B-A8E3-82E9-41F6229161FB}"/>
              </a:ext>
            </a:extLst>
          </p:cNvPr>
          <p:cNvCxnSpPr>
            <a:cxnSpLocks/>
          </p:cNvCxnSpPr>
          <p:nvPr userDrawn="1"/>
        </p:nvCxnSpPr>
        <p:spPr>
          <a:xfrm>
            <a:off x="666750" y="5702494"/>
            <a:ext cx="476250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>
            <a:extLst>
              <a:ext uri="{FF2B5EF4-FFF2-40B4-BE49-F238E27FC236}">
                <a16:creationId xmlns:a16="http://schemas.microsoft.com/office/drawing/2014/main" id="{C98216DA-77CE-B1B3-C16B-1D1C313A882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316" y="1160896"/>
            <a:ext cx="2123754" cy="40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736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6D57D823-8F3B-8244-A2A2-F82A32281C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3EA322BF-5589-0A40-981A-CA01D0A8B6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2FFEC-18CB-E645-960D-8EDDDC5168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333333"/>
                </a:solidFill>
                <a:latin typeface="+mn-lt"/>
              </a:defRPr>
            </a:lvl1pPr>
          </a:lstStyle>
          <a:p>
            <a:pPr>
              <a:defRPr/>
            </a:pPr>
            <a:fld id="{A8C65966-93CC-F24E-90A5-02507490DB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72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rgbClr val="333333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2800" kern="1200">
          <a:solidFill>
            <a:srgbClr val="333333"/>
          </a:solidFill>
          <a:latin typeface="+mn-lt"/>
          <a:ea typeface="+mn-ea"/>
          <a:cs typeface="+mn-cs"/>
        </a:defRPr>
      </a:lvl1pPr>
      <a:lvl2pPr marL="635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Clr>
          <a:srgbClr val="616062"/>
        </a:buClr>
        <a:buFont typeface="Arial" panose="020B0604020202020204" pitchFamily="34" charset="0"/>
        <a:buChar char="•"/>
        <a:defRPr sz="2400" kern="1200">
          <a:solidFill>
            <a:srgbClr val="616062"/>
          </a:solidFill>
          <a:latin typeface="+mn-lt"/>
          <a:ea typeface="+mn-ea"/>
          <a:cs typeface="+mn-cs"/>
        </a:defRPr>
      </a:lvl2pPr>
      <a:lvl3pPr marL="804863" indent="-169863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616062"/>
          </a:solidFill>
          <a:latin typeface="+mn-lt"/>
          <a:ea typeface="+mn-ea"/>
          <a:cs typeface="+mn-cs"/>
        </a:defRPr>
      </a:lvl3pPr>
      <a:lvl4pPr marL="1146175" indent="-284163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616062"/>
          </a:solidFill>
          <a:latin typeface="+mn-lt"/>
          <a:ea typeface="+mn-ea"/>
          <a:cs typeface="+mn-cs"/>
        </a:defRPr>
      </a:lvl4pPr>
      <a:lvl5pPr marL="1430338" indent="-284163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61606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2887F-1FCF-55B8-D15E-570568A3B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D8EFD655-011F-3A58-C5B2-97EFD849E028}"/>
              </a:ext>
            </a:extLst>
          </p:cNvPr>
          <p:cNvSpPr/>
          <p:nvPr/>
        </p:nvSpPr>
        <p:spPr>
          <a:xfrm>
            <a:off x="381000" y="1297402"/>
            <a:ext cx="11541648" cy="1226480"/>
          </a:xfrm>
          <a:prstGeom prst="roundRect">
            <a:avLst>
              <a:gd name="adj" fmla="val 2323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25400" dir="2700000" algn="tl" rotWithShape="0">
              <a:schemeClr val="tx1">
                <a:lumMod val="50000"/>
                <a:lumOff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77D7A2-6C6E-4B54-76BE-286A10FCD39B}"/>
              </a:ext>
            </a:extLst>
          </p:cNvPr>
          <p:cNvSpPr txBox="1"/>
          <p:nvPr/>
        </p:nvSpPr>
        <p:spPr>
          <a:xfrm>
            <a:off x="590268" y="1241005"/>
            <a:ext cx="1799410" cy="240315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C62FB"/>
              </a:buClr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venir Book" panose="02000503020000020003" pitchFamily="2" charset="0"/>
                <a:cs typeface="Arial" panose="020B0604020202020204" pitchFamily="34" charset="0"/>
              </a:rPr>
              <a:t>Our Understanding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C89980D-1921-F85F-F70A-FA72CBE259AB}"/>
              </a:ext>
            </a:extLst>
          </p:cNvPr>
          <p:cNvSpPr/>
          <p:nvPr/>
        </p:nvSpPr>
        <p:spPr>
          <a:xfrm>
            <a:off x="2521001" y="2697958"/>
            <a:ext cx="6707858" cy="3534090"/>
          </a:xfrm>
          <a:prstGeom prst="roundRect">
            <a:avLst>
              <a:gd name="adj" fmla="val 1857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25400" dir="2700000" algn="tl" rotWithShape="0">
              <a:schemeClr val="tx1">
                <a:lumMod val="50000"/>
                <a:lumOff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57923D0-184B-5403-53B5-7F182A99BDF2}"/>
              </a:ext>
            </a:extLst>
          </p:cNvPr>
          <p:cNvSpPr txBox="1"/>
          <p:nvPr/>
        </p:nvSpPr>
        <p:spPr>
          <a:xfrm>
            <a:off x="2804870" y="2638399"/>
            <a:ext cx="3092077" cy="216767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C62FB"/>
              </a:buClr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venir Book" panose="02000503020000020003" pitchFamily="2" charset="0"/>
                <a:cs typeface="Arial" panose="020B0604020202020204" pitchFamily="34" charset="0"/>
              </a:rPr>
              <a:t>Solution Approach &amp; Architecture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6880126E-6AA0-DC33-8C0C-0EA4ECB75D63}"/>
              </a:ext>
            </a:extLst>
          </p:cNvPr>
          <p:cNvSpPr/>
          <p:nvPr/>
        </p:nvSpPr>
        <p:spPr>
          <a:xfrm>
            <a:off x="9432444" y="2710191"/>
            <a:ext cx="2490203" cy="2078769"/>
          </a:xfrm>
          <a:prstGeom prst="roundRect">
            <a:avLst>
              <a:gd name="adj" fmla="val 1857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25400" dir="2700000" algn="tl" rotWithShape="0">
              <a:schemeClr val="tx1">
                <a:lumMod val="50000"/>
                <a:lumOff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2496638-6AFC-1E43-9025-947367FB9317}"/>
              </a:ext>
            </a:extLst>
          </p:cNvPr>
          <p:cNvSpPr txBox="1"/>
          <p:nvPr/>
        </p:nvSpPr>
        <p:spPr>
          <a:xfrm>
            <a:off x="9455491" y="2654818"/>
            <a:ext cx="2167316" cy="189285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C62FB"/>
              </a:buClr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venir Book" panose="02000503020000020003" pitchFamily="2" charset="0"/>
                <a:cs typeface="Arial" panose="020B0604020202020204" pitchFamily="34" charset="0"/>
              </a:rPr>
              <a:t>Team Summary / Metrics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F9669D76-FEBA-CB96-4949-55D2AAC584D0}"/>
              </a:ext>
            </a:extLst>
          </p:cNvPr>
          <p:cNvSpPr/>
          <p:nvPr/>
        </p:nvSpPr>
        <p:spPr>
          <a:xfrm>
            <a:off x="9429702" y="5092443"/>
            <a:ext cx="2492945" cy="1151837"/>
          </a:xfrm>
          <a:prstGeom prst="roundRect">
            <a:avLst>
              <a:gd name="adj" fmla="val 1857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25400" dir="2700000" algn="tl" rotWithShape="0">
              <a:schemeClr val="tx1">
                <a:lumMod val="50000"/>
                <a:lumOff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5470F6F-EA94-7F10-EEC9-806F857CD4F0}"/>
              </a:ext>
            </a:extLst>
          </p:cNvPr>
          <p:cNvSpPr txBox="1"/>
          <p:nvPr/>
        </p:nvSpPr>
        <p:spPr>
          <a:xfrm>
            <a:off x="9474073" y="5019808"/>
            <a:ext cx="706824" cy="151742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C62FB"/>
              </a:buClr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venir Book" panose="02000503020000020003" pitchFamily="2" charset="0"/>
                <a:cs typeface="Arial" panose="020B0604020202020204" pitchFamily="34" charset="0"/>
              </a:rPr>
              <a:t>Price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AA134E3E-C287-44B2-4F90-B4E856554892}"/>
              </a:ext>
            </a:extLst>
          </p:cNvPr>
          <p:cNvSpPr/>
          <p:nvPr/>
        </p:nvSpPr>
        <p:spPr>
          <a:xfrm>
            <a:off x="368508" y="2710191"/>
            <a:ext cx="2021170" cy="3534090"/>
          </a:xfrm>
          <a:prstGeom prst="roundRect">
            <a:avLst>
              <a:gd name="adj" fmla="val 2323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25400" dir="2700000" algn="tl" rotWithShape="0">
              <a:schemeClr val="tx1">
                <a:lumMod val="50000"/>
                <a:lumOff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B27BED3-D6E2-4C4A-3C23-4510991B7081}"/>
              </a:ext>
            </a:extLst>
          </p:cNvPr>
          <p:cNvSpPr txBox="1"/>
          <p:nvPr/>
        </p:nvSpPr>
        <p:spPr>
          <a:xfrm>
            <a:off x="461070" y="2645235"/>
            <a:ext cx="1366190" cy="205327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C62FB"/>
              </a:buClr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venir Book" panose="02000503020000020003" pitchFamily="2" charset="0"/>
                <a:cs typeface="Arial" panose="020B0604020202020204" pitchFamily="34" charset="0"/>
              </a:rPr>
              <a:t>Key Assumptions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AB0FE9F-6C7F-968A-5687-EB4DEF424079}"/>
              </a:ext>
            </a:extLst>
          </p:cNvPr>
          <p:cNvSpPr txBox="1">
            <a:spLocks/>
          </p:cNvSpPr>
          <p:nvPr/>
        </p:nvSpPr>
        <p:spPr bwMode="auto">
          <a:xfrm>
            <a:off x="457928" y="169662"/>
            <a:ext cx="9225625" cy="1034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333333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333333"/>
                </a:solidFill>
                <a:latin typeface="Arial" panose="020B0604020202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333333"/>
                </a:solidFill>
                <a:latin typeface="Arial" panose="020B0604020202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333333"/>
                </a:solidFill>
                <a:latin typeface="Arial" panose="020B0604020202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333333"/>
                </a:solidFill>
                <a:latin typeface="Arial" panose="020B0604020202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333333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333333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333333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333333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dirty="0"/>
              <a:t>CVS Health 3</a:t>
            </a:r>
            <a:r>
              <a:rPr lang="en-US" baseline="30000" dirty="0"/>
              <a:t>rd</a:t>
            </a:r>
            <a:r>
              <a:rPr lang="en-US" dirty="0"/>
              <a:t> Party Landing Zone Portal</a:t>
            </a:r>
            <a:endParaRPr lang="en-US" b="0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3D7F1B-6325-CBC5-9D53-9CFDDB36D3A6}"/>
              </a:ext>
            </a:extLst>
          </p:cNvPr>
          <p:cNvSpPr txBox="1"/>
          <p:nvPr/>
        </p:nvSpPr>
        <p:spPr>
          <a:xfrm>
            <a:off x="590268" y="1525413"/>
            <a:ext cx="11220732" cy="842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000" dirty="0">
                <a:ea typeface="Segoe UI Black"/>
              </a:rPr>
              <a:t>This initiative is a strategic modernization of CVS’s third-party connectivity model, delivering a secure, automated, and self-service 3PLZ platform. The solution will replace manual, bespoke integrations with a standardized, policy-driven approach that enforces tenant isolation, least-privilege access, and identity-based controls by default. Through a simple portal and API, application teams will onboard partners without network expertise while maintaining compliance and reducing operational overhead. The program’s success is defined by delivering a production-ready platform within one year, onboarding up to five initial partners, and establishing a scalable foundation capable of supporting enterprise-wide third-party connectivity at scale.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A33DC6-53AF-9454-1179-C2B4F65BAA0B}"/>
              </a:ext>
            </a:extLst>
          </p:cNvPr>
          <p:cNvSpPr txBox="1"/>
          <p:nvPr/>
        </p:nvSpPr>
        <p:spPr>
          <a:xfrm>
            <a:off x="396778" y="2879724"/>
            <a:ext cx="1992083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CVS will provide executive sponsorship and timely decision-making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A primary vendor will be selected and fully engaged for the duration of the program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Existing CVS IAM, PKI, and SIEM platforms are available for integration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Initial scope is limited to defined service patterns and up to five partner onboardings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The platform will prioritize automation and self-service over custom integrations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Security and compliance requirements are approved during design and remain stable through delivery</a:t>
            </a:r>
          </a:p>
          <a:p>
            <a:pPr marL="115570" indent="-11557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/>
              </a:solidFill>
              <a:cs typeface="Arial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EC4C964-ED25-2348-D67B-98611EF0B719}"/>
              </a:ext>
            </a:extLst>
          </p:cNvPr>
          <p:cNvSpPr txBox="1"/>
          <p:nvPr/>
        </p:nvSpPr>
        <p:spPr>
          <a:xfrm>
            <a:off x="9494654" y="2867807"/>
            <a:ext cx="2391252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141413" algn="l"/>
                <a:tab pos="1946275" algn="l"/>
              </a:tabLst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Segoe UI Black" panose="020B0A02040204020203" pitchFamily="34" charset="0"/>
                <a:cs typeface="Segoe UI Black" panose="020B0A02040204020203" pitchFamily="34" charset="0"/>
              </a:rPr>
              <a:t>Solution Owner | US </a:t>
            </a: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141413" algn="l"/>
                <a:tab pos="1946275" algn="l"/>
              </a:tabLst>
              <a:defRPr/>
            </a:pPr>
            <a:r>
              <a:rPr lang="en-US" sz="800" b="1" dirty="0">
                <a:solidFill>
                  <a:schemeClr val="tx1"/>
                </a:solidFill>
                <a:ea typeface="Segoe UI Black" panose="020B0A02040204020203" pitchFamily="34" charset="0"/>
                <a:cs typeface="Segoe UI Black" panose="020B0A02040204020203" pitchFamily="34" charset="0"/>
              </a:rPr>
              <a:t>Application Architect | US </a:t>
            </a: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141413" algn="l"/>
                <a:tab pos="1946275" algn="l"/>
              </a:tabLst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Segoe UI Black" panose="020B0A02040204020203" pitchFamily="34" charset="0"/>
                <a:cs typeface="Segoe UI Black" panose="020B0A02040204020203" pitchFamily="34" charset="0"/>
              </a:rPr>
              <a:t>Sr. AppDev Principal Engineer | India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Segoe UI Black" panose="020B0A02040204020203" pitchFamily="34" charset="0"/>
              <a:cs typeface="Segoe UI Black" panose="020B0A02040204020203" pitchFamily="34" charset="0"/>
            </a:endParaRP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141413" algn="l"/>
                <a:tab pos="1946275" algn="l"/>
              </a:tabLst>
              <a:defRPr/>
            </a:pPr>
            <a:r>
              <a:rPr lang="en-US" sz="800" b="1" dirty="0">
                <a:ea typeface="Segoe UI Black" panose="020B0A02040204020203" pitchFamily="34" charset="0"/>
                <a:cs typeface="Segoe UI Black" panose="020B0A02040204020203" pitchFamily="34" charset="0"/>
              </a:rPr>
              <a:t>Sr. UI Designer | India (100% for 2 months)</a:t>
            </a: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141413" algn="l"/>
                <a:tab pos="1946275" algn="l"/>
              </a:tabLst>
              <a:defRPr/>
            </a:pPr>
            <a:r>
              <a:rPr lang="en-US" sz="800" b="1" dirty="0">
                <a:ea typeface="Segoe UI Black" panose="020B0A02040204020203" pitchFamily="34" charset="0"/>
                <a:cs typeface="Segoe UI Black" panose="020B0A02040204020203" pitchFamily="34" charset="0"/>
              </a:rPr>
              <a:t>3</a:t>
            </a:r>
            <a:r>
              <a:rPr lang="en-US" sz="800" b="1">
                <a:ea typeface="Segoe UI Black" panose="020B0A02040204020203" pitchFamily="34" charset="0"/>
                <a:cs typeface="Segoe UI Black" panose="020B0A02040204020203" pitchFamily="34" charset="0"/>
              </a:rPr>
              <a:t> </a:t>
            </a:r>
            <a:r>
              <a:rPr lang="en-US" sz="800" b="1" dirty="0">
                <a:ea typeface="Segoe UI Black" panose="020B0A02040204020203" pitchFamily="34" charset="0"/>
                <a:cs typeface="Segoe UI Black" panose="020B0A02040204020203" pitchFamily="34" charset="0"/>
              </a:rPr>
              <a:t>Engineers *</a:t>
            </a:r>
            <a:endParaRPr lang="en-US" sz="800" dirty="0">
              <a:ea typeface="Segoe UI Black" panose="020B0A02040204020203" pitchFamily="34" charset="0"/>
              <a:cs typeface="Segoe UI Black" panose="020B0A02040204020203" pitchFamily="34" charset="0"/>
            </a:endParaRPr>
          </a:p>
          <a:p>
            <a:pPr marL="114300" lvl="0" indent="-11430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1141413" algn="l"/>
                <a:tab pos="1946275" algn="l"/>
              </a:tabLst>
              <a:defRPr/>
            </a:pPr>
            <a:r>
              <a:rPr lang="en-US" sz="800" b="1" dirty="0">
                <a:ea typeface="Segoe UI Black" panose="020B0A02040204020203" pitchFamily="34" charset="0"/>
                <a:cs typeface="Segoe UI Black" panose="020B0A02040204020203" pitchFamily="34" charset="0"/>
              </a:rPr>
              <a:t>Sr. QA Engineer </a:t>
            </a:r>
            <a:r>
              <a:rPr lang="en-US" sz="800" dirty="0">
                <a:ea typeface="Segoe UI Black" panose="020B0A02040204020203" pitchFamily="34" charset="0"/>
                <a:cs typeface="Segoe UI Black" panose="020B0A02040204020203" pitchFamily="34" charset="0"/>
              </a:rPr>
              <a:t>*</a:t>
            </a:r>
            <a:endParaRPr lang="en-US" sz="800" b="1" dirty="0">
              <a:ea typeface="Segoe UI Black" panose="020B0A02040204020203" pitchFamily="34" charset="0"/>
              <a:cs typeface="Segoe UI Black" panose="020B0A02040204020203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4583C4E-94FB-DF09-2DF3-44779A961ABE}"/>
              </a:ext>
            </a:extLst>
          </p:cNvPr>
          <p:cNvSpPr txBox="1"/>
          <p:nvPr/>
        </p:nvSpPr>
        <p:spPr>
          <a:xfrm>
            <a:off x="9485690" y="5317506"/>
            <a:ext cx="2325309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tabLst>
                <a:tab pos="1141413" algn="l"/>
                <a:tab pos="1946275" algn="l"/>
              </a:tabLst>
              <a:defRPr/>
            </a:pPr>
            <a:r>
              <a:rPr lang="en-US" sz="1100" b="1" i="1" dirty="0">
                <a:solidFill>
                  <a:schemeClr val="tx1"/>
                </a:solidFill>
                <a:ea typeface="Segoe UI Black"/>
                <a:cs typeface="Segoe UI Black" panose="020B0A02040204020203" pitchFamily="34" charset="0"/>
              </a:rPr>
              <a:t>Estimated Cost: $2,032,000.00</a:t>
            </a:r>
            <a:endParaRPr lang="en-US" sz="1100" i="1" dirty="0">
              <a:ea typeface="Segoe UI Black"/>
              <a:cs typeface="Segoe UI Black" panose="020B0A02040204020203" pitchFamily="34" charset="0"/>
            </a:endParaRPr>
          </a:p>
          <a:p>
            <a:pPr>
              <a:spcBef>
                <a:spcPts val="600"/>
              </a:spcBef>
              <a:tabLst>
                <a:tab pos="1141413" algn="l"/>
                <a:tab pos="1946275" algn="l"/>
              </a:tabLst>
              <a:defRPr/>
            </a:pPr>
            <a:r>
              <a:rPr lang="en-US" sz="1100" i="1" dirty="0">
                <a:ea typeface="Segoe UI Black"/>
                <a:cs typeface="Segoe UI Black" panose="020B0A02040204020203" pitchFamily="34" charset="0"/>
              </a:rPr>
              <a:t>(*) Pending refinement of scope as the project matures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7DBA86-2E43-4149-7191-03E8A7C4E8F3}"/>
              </a:ext>
            </a:extLst>
          </p:cNvPr>
          <p:cNvSpPr txBox="1"/>
          <p:nvPr/>
        </p:nvSpPr>
        <p:spPr>
          <a:xfrm>
            <a:off x="9494654" y="4041120"/>
            <a:ext cx="18966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itchFamily="2" charset="2"/>
              <a:buChar char="Ø"/>
            </a:pPr>
            <a:r>
              <a:rPr lang="en-US" sz="800" dirty="0">
                <a:ea typeface="Segoe UI Black" panose="020B0A02040204020203" pitchFamily="34" charset="0"/>
                <a:cs typeface="Segoe UI Black" panose="020B0A02040204020203" pitchFamily="34" charset="0"/>
              </a:rPr>
              <a:t>(*) Resources assignment and refinement will adjust as scope as the project matures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US" sz="800" dirty="0">
                <a:ea typeface="Segoe UI Black" panose="020B0A02040204020203" pitchFamily="34" charset="0"/>
              </a:rPr>
              <a:t>All Resources shown are at 100% allocation unless otherwise stated</a:t>
            </a:r>
            <a:endParaRPr lang="en-US" sz="800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05FB3175-633A-568C-1840-2780BAA7BE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25843" y="169662"/>
            <a:ext cx="2160063" cy="29760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C358AB87-FA1F-3FC5-0BB9-79B03F185BB6}"/>
              </a:ext>
            </a:extLst>
          </p:cNvPr>
          <p:cNvSpPr/>
          <p:nvPr/>
        </p:nvSpPr>
        <p:spPr>
          <a:xfrm>
            <a:off x="2755839" y="2989708"/>
            <a:ext cx="1566363" cy="24649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rgbClr val="FFFFFF"/>
                </a:solidFill>
                <a:ea typeface="Segoe UI Black" panose="020B0A02040204020203" pitchFamily="34" charset="0"/>
                <a:cs typeface="Segoe UI Black" panose="020B0A02040204020203" pitchFamily="34" charset="0"/>
              </a:rPr>
              <a:t>Design and Alignment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Segoe UI Black" panose="020B0A02040204020203" pitchFamily="34" charset="0"/>
              <a:cs typeface="Segoe UI Black" panose="020B0A02040204020203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1C276F9-4ACB-9C3A-988C-BE756AC88333}"/>
              </a:ext>
            </a:extLst>
          </p:cNvPr>
          <p:cNvSpPr/>
          <p:nvPr/>
        </p:nvSpPr>
        <p:spPr>
          <a:xfrm>
            <a:off x="4335123" y="2989708"/>
            <a:ext cx="1566363" cy="24649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Segoe UI Black" panose="020B0A02040204020203" pitchFamily="34" charset="0"/>
                <a:cs typeface="Segoe UI Black" panose="020B0A02040204020203" pitchFamily="34" charset="0"/>
              </a:rPr>
              <a:t>Platform Build &amp; MVP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A17067F-EB1C-DA53-BFE8-F8F3C6E2BF44}"/>
              </a:ext>
            </a:extLst>
          </p:cNvPr>
          <p:cNvSpPr/>
          <p:nvPr/>
        </p:nvSpPr>
        <p:spPr>
          <a:xfrm>
            <a:off x="5914407" y="2989708"/>
            <a:ext cx="1566363" cy="24649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Segoe UI Black" panose="020B0A02040204020203" pitchFamily="34" charset="0"/>
                <a:cs typeface="Segoe UI Black" panose="020B0A02040204020203" pitchFamily="34" charset="0"/>
              </a:rPr>
              <a:t>Pilot Onboarding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E591BBA-2B05-4D9B-EA18-D8888140C2CC}"/>
              </a:ext>
            </a:extLst>
          </p:cNvPr>
          <p:cNvGrpSpPr/>
          <p:nvPr/>
        </p:nvGrpSpPr>
        <p:grpSpPr>
          <a:xfrm>
            <a:off x="2846391" y="2796662"/>
            <a:ext cx="6158665" cy="171537"/>
            <a:chOff x="5554817" y="2737265"/>
            <a:chExt cx="4491367" cy="171537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4077877-9749-B951-87AE-CAFCB4B24FC8}"/>
                </a:ext>
              </a:extLst>
            </p:cNvPr>
            <p:cNvSpPr/>
            <p:nvPr/>
          </p:nvSpPr>
          <p:spPr>
            <a:xfrm>
              <a:off x="5554817" y="2772404"/>
              <a:ext cx="66685" cy="9144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9144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9091C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2BD287A9-1292-B81A-4EDD-9DE67D3A35F8}"/>
                </a:ext>
              </a:extLst>
            </p:cNvPr>
            <p:cNvSpPr/>
            <p:nvPr/>
          </p:nvSpPr>
          <p:spPr>
            <a:xfrm>
              <a:off x="9979499" y="2772404"/>
              <a:ext cx="66685" cy="9144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9144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9091C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A84180E-094C-F695-855A-551A5B3275F9}"/>
                </a:ext>
              </a:extLst>
            </p:cNvPr>
            <p:cNvCxnSpPr>
              <a:cxnSpLocks/>
            </p:cNvCxnSpPr>
            <p:nvPr/>
          </p:nvCxnSpPr>
          <p:spPr>
            <a:xfrm>
              <a:off x="5624384" y="2818124"/>
              <a:ext cx="438912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0B8D7AB-8D56-B7AB-F917-73D7162EF58D}"/>
                </a:ext>
              </a:extLst>
            </p:cNvPr>
            <p:cNvSpPr txBox="1"/>
            <p:nvPr/>
          </p:nvSpPr>
          <p:spPr>
            <a:xfrm>
              <a:off x="6493064" y="2737265"/>
              <a:ext cx="2651760" cy="17153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>
                  <a:solidFill>
                    <a:schemeClr val="tx2"/>
                  </a:solidFill>
                  <a:effectLst/>
                  <a:uLnTx/>
                  <a:uFillTx/>
                  <a:ea typeface="+mn-ea"/>
                  <a:cs typeface="+mn-cs"/>
                </a:rPr>
                <a:t>12 Month breakdown of Activities and Outcomes by Phase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5E09BFC0-1C0D-952C-2CD4-7F333B4A8362}"/>
              </a:ext>
            </a:extLst>
          </p:cNvPr>
          <p:cNvSpPr txBox="1"/>
          <p:nvPr/>
        </p:nvSpPr>
        <p:spPr>
          <a:xfrm>
            <a:off x="2759555" y="3256639"/>
            <a:ext cx="1558930" cy="12311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800" dirty="0"/>
              <a:t>Months 1–2</a:t>
            </a:r>
            <a:endParaRPr lang="en-US" altLang="en-US" sz="800" dirty="0"/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800" b="1" dirty="0"/>
              <a:t>Define portal workflows</a:t>
            </a:r>
            <a:r>
              <a:rPr lang="en-US" altLang="en-US" sz="800" dirty="0"/>
              <a:t>, RBAC, and approval gates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800" dirty="0"/>
              <a:t>Establish governance, roles, and success metrics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800" dirty="0"/>
              <a:t>Finalize reference architecture, tenant/VLZ model, and service patterns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800" dirty="0"/>
              <a:t>Align security, compliance, and operating model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B9E61F-DD6F-AD7F-0C63-6790FC71E592}"/>
              </a:ext>
            </a:extLst>
          </p:cNvPr>
          <p:cNvSpPr txBox="1"/>
          <p:nvPr/>
        </p:nvSpPr>
        <p:spPr>
          <a:xfrm>
            <a:off x="4335124" y="3256639"/>
            <a:ext cx="1558930" cy="13542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800" dirty="0"/>
              <a:t>Months 3–6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800" dirty="0">
                <a:latin typeface="Arial" panose="020B0604020202020204" pitchFamily="34" charset="0"/>
              </a:rPr>
              <a:t>Build portal, APIs, and automation/orchestration layer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800" dirty="0">
                <a:latin typeface="Arial" panose="020B0604020202020204" pitchFamily="34" charset="0"/>
              </a:rPr>
              <a:t>Implement tenant/VLZ creation and IPsec “VPN to nowhere”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800" dirty="0">
                <a:latin typeface="Arial" panose="020B0604020202020204" pitchFamily="34" charset="0"/>
              </a:rPr>
              <a:t>Deliver DNS rewriting and initial service proxies (Web/API and generic TCP)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800" dirty="0">
                <a:latin typeface="Arial" panose="020B0604020202020204" pitchFamily="34" charset="0"/>
              </a:rPr>
              <a:t>Enable logging, monitoring, and SIEM integration</a:t>
            </a:r>
            <a:endParaRPr lang="en-US" sz="8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F50BB53-5DA8-A19C-80CF-10263FC98698}"/>
              </a:ext>
            </a:extLst>
          </p:cNvPr>
          <p:cNvCxnSpPr/>
          <p:nvPr/>
        </p:nvCxnSpPr>
        <p:spPr>
          <a:xfrm>
            <a:off x="2873830" y="4895900"/>
            <a:ext cx="613125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0430D45-4A15-6C23-7ED3-B8DBA38EEE82}"/>
              </a:ext>
            </a:extLst>
          </p:cNvPr>
          <p:cNvSpPr txBox="1"/>
          <p:nvPr/>
        </p:nvSpPr>
        <p:spPr>
          <a:xfrm rot="16200000">
            <a:off x="2300473" y="3752709"/>
            <a:ext cx="776796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900" i="1" dirty="0">
                <a:solidFill>
                  <a:schemeClr val="bg1">
                    <a:lumMod val="65000"/>
                  </a:schemeClr>
                </a:solidFill>
              </a:rPr>
              <a:t>Activities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24AE24E-DFAF-0EF9-B36A-482881062AAF}"/>
              </a:ext>
            </a:extLst>
          </p:cNvPr>
          <p:cNvSpPr txBox="1"/>
          <p:nvPr/>
        </p:nvSpPr>
        <p:spPr>
          <a:xfrm rot="16200000">
            <a:off x="2239595" y="5508461"/>
            <a:ext cx="904654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900" i="1" dirty="0">
                <a:solidFill>
                  <a:schemeClr val="bg1">
                    <a:lumMod val="65000"/>
                  </a:schemeClr>
                </a:solidFill>
              </a:rPr>
              <a:t>Outcomes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2A6140D-5A86-8C29-592B-CD3306E2E472}"/>
              </a:ext>
            </a:extLst>
          </p:cNvPr>
          <p:cNvSpPr txBox="1"/>
          <p:nvPr/>
        </p:nvSpPr>
        <p:spPr>
          <a:xfrm>
            <a:off x="2762297" y="4951278"/>
            <a:ext cx="1553445" cy="9848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800">
                <a:latin typeface="Arial" panose="020B0604020202020204" pitchFamily="34" charset="0"/>
              </a:rPr>
              <a:t>Approved end-to-end architecture and delivery plan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800">
                <a:latin typeface="Arial" panose="020B0604020202020204" pitchFamily="34" charset="0"/>
              </a:rPr>
              <a:t>Clear service catalog and onboarding workflows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800">
                <a:latin typeface="Arial" panose="020B0604020202020204" pitchFamily="34" charset="0"/>
              </a:rPr>
              <a:t>Security and compliance requirements locked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800">
                <a:latin typeface="Arial" panose="020B0604020202020204" pitchFamily="34" charset="0"/>
              </a:rPr>
              <a:t>Readiness to begin platform build</a:t>
            </a:r>
          </a:p>
        </p:txBody>
      </p:sp>
      <p:sp>
        <p:nvSpPr>
          <p:cNvPr id="36" name="Rectangle 11">
            <a:extLst>
              <a:ext uri="{FF2B5EF4-FFF2-40B4-BE49-F238E27FC236}">
                <a16:creationId xmlns:a16="http://schemas.microsoft.com/office/drawing/2014/main" id="{D2AE4870-A9CB-1452-15B1-C0CD197B9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5123" y="4944760"/>
            <a:ext cx="1558930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800"/>
              <a:t> </a:t>
            </a:r>
            <a:r>
              <a:rPr lang="en-US" altLang="en-US" sz="800">
                <a:latin typeface="Arial" panose="020B0604020202020204" pitchFamily="34" charset="0"/>
              </a:rPr>
              <a:t>Functional MVP platform in a production-like environment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800">
                <a:latin typeface="Arial" panose="020B0604020202020204" pitchFamily="34" charset="0"/>
              </a:rPr>
              <a:t>Automated, self-service tenant and tunnel provisioning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800">
                <a:latin typeface="Arial" panose="020B0604020202020204" pitchFamily="34" charset="0"/>
              </a:rPr>
              <a:t>First service patterns available for consumption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800">
                <a:latin typeface="Arial" panose="020B0604020202020204" pitchFamily="34" charset="0"/>
              </a:rPr>
              <a:t>Operational visibility and auditability established</a:t>
            </a:r>
            <a:endParaRPr lang="en-US" altLang="en-US" sz="800"/>
          </a:p>
        </p:txBody>
      </p:sp>
      <p:sp>
        <p:nvSpPr>
          <p:cNvPr id="37" name="Rectangle 12">
            <a:extLst>
              <a:ext uri="{FF2B5EF4-FFF2-40B4-BE49-F238E27FC236}">
                <a16:creationId xmlns:a16="http://schemas.microsoft.com/office/drawing/2014/main" id="{116C0601-FE48-9237-6206-94F3CC8B27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4407" y="3262518"/>
            <a:ext cx="1558930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800"/>
              <a:t>Months 7-9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800">
                <a:latin typeface="Arial" panose="020B0604020202020204" pitchFamily="34" charset="0"/>
              </a:rPr>
              <a:t>Onboard first 1–2 pilot partners using self-service workflows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800">
                <a:latin typeface="Arial" panose="020B0604020202020204" pitchFamily="34" charset="0"/>
              </a:rPr>
              <a:t>Execute functional, security, and failover testing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800">
                <a:latin typeface="Arial" panose="020B0604020202020204" pitchFamily="34" charset="0"/>
              </a:rPr>
              <a:t>Refine portal UX, automation, and dashboards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800">
                <a:latin typeface="Arial" panose="020B0604020202020204" pitchFamily="34" charset="0"/>
              </a:rPr>
              <a:t>Develop and validate runbooks and support processes</a:t>
            </a:r>
            <a:endParaRPr lang="en-US" altLang="en-US" sz="800"/>
          </a:p>
        </p:txBody>
      </p:sp>
      <p:sp>
        <p:nvSpPr>
          <p:cNvPr id="38" name="Rectangle 13">
            <a:extLst>
              <a:ext uri="{FF2B5EF4-FFF2-40B4-BE49-F238E27FC236}">
                <a16:creationId xmlns:a16="http://schemas.microsoft.com/office/drawing/2014/main" id="{D3028FD7-E522-23EB-27E7-5D07D3AD2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2342" y="4949129"/>
            <a:ext cx="1431726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800">
                <a:latin typeface="Arial" panose="020B0604020202020204" pitchFamily="34" charset="0"/>
              </a:rPr>
              <a:t>Successful onboarding of initial pilot partners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800">
                <a:latin typeface="Arial" panose="020B0604020202020204" pitchFamily="34" charset="0"/>
              </a:rPr>
              <a:t>Validated security, resilience, and operational model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800">
                <a:latin typeface="Arial" panose="020B0604020202020204" pitchFamily="34" charset="0"/>
              </a:rPr>
              <a:t>Refined platform based on real-world usage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800">
                <a:latin typeface="Arial" panose="020B0604020202020204" pitchFamily="34" charset="0"/>
              </a:rPr>
              <a:t>Operations team ready to support production use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2FDA29E-4CB7-6B32-5016-15DC6186A824}"/>
              </a:ext>
            </a:extLst>
          </p:cNvPr>
          <p:cNvSpPr/>
          <p:nvPr/>
        </p:nvSpPr>
        <p:spPr>
          <a:xfrm>
            <a:off x="7493690" y="2992793"/>
            <a:ext cx="1566363" cy="24649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Segoe UI Black" panose="020B0A02040204020203" pitchFamily="34" charset="0"/>
                <a:cs typeface="Segoe UI Black" panose="020B0A02040204020203" pitchFamily="34" charset="0"/>
              </a:rPr>
              <a:t>Scale Pilot &amp; Transition</a:t>
            </a:r>
          </a:p>
        </p:txBody>
      </p:sp>
      <p:sp>
        <p:nvSpPr>
          <p:cNvPr id="41" name="Rectangle 12">
            <a:extLst>
              <a:ext uri="{FF2B5EF4-FFF2-40B4-BE49-F238E27FC236}">
                <a16:creationId xmlns:a16="http://schemas.microsoft.com/office/drawing/2014/main" id="{271242B4-7A02-0801-D65D-A82248F1D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690" y="3263305"/>
            <a:ext cx="155893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/>
              <a:t>Months 9-12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800">
                <a:latin typeface="Arial" panose="020B0604020202020204" pitchFamily="34" charset="0"/>
              </a:rPr>
              <a:t>Onboard additional partners (up to 5 total) using standardized patterns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800">
                <a:latin typeface="Arial" panose="020B0604020202020204" pitchFamily="34" charset="0"/>
              </a:rPr>
              <a:t>Validate repeatability, onboarding SLAs, and minimal operational touch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800">
                <a:latin typeface="Arial" panose="020B0604020202020204" pitchFamily="34" charset="0"/>
              </a:rPr>
              <a:t>Complete production acceptance and security sign-off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800">
                <a:latin typeface="Arial" panose="020B0604020202020204" pitchFamily="34" charset="0"/>
              </a:rPr>
              <a:t>Define Year-2 roadmap and scale strategy</a:t>
            </a:r>
            <a:endParaRPr lang="en-US" altLang="en-US" sz="800"/>
          </a:p>
        </p:txBody>
      </p:sp>
      <p:sp>
        <p:nvSpPr>
          <p:cNvPr id="47" name="Rectangle 13">
            <a:extLst>
              <a:ext uri="{FF2B5EF4-FFF2-40B4-BE49-F238E27FC236}">
                <a16:creationId xmlns:a16="http://schemas.microsoft.com/office/drawing/2014/main" id="{F9123FC4-DD96-FB33-0511-FC450AB91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4819" y="4951278"/>
            <a:ext cx="1431726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800">
                <a:latin typeface="Arial" panose="020B0604020202020204" pitchFamily="34" charset="0"/>
              </a:rPr>
              <a:t>Up to five partners live on the platform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800">
                <a:latin typeface="Arial" panose="020B0604020202020204" pitchFamily="34" charset="0"/>
              </a:rPr>
              <a:t>Proven, repeatable self-service onboarding model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800">
                <a:latin typeface="Arial" panose="020B0604020202020204" pitchFamily="34" charset="0"/>
              </a:rPr>
              <a:t>Reduced manual effort and operational risk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800">
                <a:latin typeface="Arial" panose="020B0604020202020204" pitchFamily="34" charset="0"/>
              </a:rPr>
              <a:t>Scalable foundation ready for enterprise-wide expansion</a:t>
            </a:r>
          </a:p>
        </p:txBody>
      </p:sp>
    </p:spTree>
    <p:extLst>
      <p:ext uri="{BB962C8B-B14F-4D97-AF65-F5344CB8AC3E}">
        <p14:creationId xmlns:p14="http://schemas.microsoft.com/office/powerpoint/2010/main" val="291676270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Presidio 2021">
      <a:dk1>
        <a:srgbClr val="000000"/>
      </a:dk1>
      <a:lt1>
        <a:srgbClr val="FFFFFF"/>
      </a:lt1>
      <a:dk2>
        <a:srgbClr val="007EB8"/>
      </a:dk2>
      <a:lt2>
        <a:srgbClr val="EEECE1"/>
      </a:lt2>
      <a:accent1>
        <a:srgbClr val="0080BA"/>
      </a:accent1>
      <a:accent2>
        <a:srgbClr val="FF9901"/>
      </a:accent2>
      <a:accent3>
        <a:srgbClr val="989998"/>
      </a:accent3>
      <a:accent4>
        <a:srgbClr val="71D24B"/>
      </a:accent4>
      <a:accent5>
        <a:srgbClr val="616062"/>
      </a:accent5>
      <a:accent6>
        <a:srgbClr val="00447A"/>
      </a:accent6>
      <a:hlink>
        <a:srgbClr val="05ABEF"/>
      </a:hlink>
      <a:folHlink>
        <a:srgbClr val="00447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>
            <a:solidFill>
              <a:schemeClr val="accent5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igital and MP One Page Proposals" id="{E918846B-CFBA-4D4F-AFBC-457CDF70B9D7}" vid="{8507CAEF-FBDB-D642-94FD-DF3D711D61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DC9FCF24A2C9498A9062B4FB7C1287" ma:contentTypeVersion="31" ma:contentTypeDescription="Create a new document." ma:contentTypeScope="" ma:versionID="7a0b4919094328d2f781eb4dc373244d">
  <xsd:schema xmlns:xsd="http://www.w3.org/2001/XMLSchema" xmlns:xs="http://www.w3.org/2001/XMLSchema" xmlns:p="http://schemas.microsoft.com/office/2006/metadata/properties" xmlns:ns2="03c69a5d-8250-4aa5-aeac-4011adae435d" xmlns:ns3="29fb9784-142d-4739-b143-bc46aa681e03" targetNamespace="http://schemas.microsoft.com/office/2006/metadata/properties" ma:root="true" ma:fieldsID="8bb8cbdd065ac529297ce25fcaa65744" ns2:_="" ns3:_="">
    <xsd:import namespace="03c69a5d-8250-4aa5-aeac-4011adae435d"/>
    <xsd:import namespace="29fb9784-142d-4739-b143-bc46aa681e03"/>
    <xsd:element name="properties">
      <xsd:complexType>
        <xsd:sequence>
          <xsd:element name="documentManagement">
            <xsd:complexType>
              <xsd:all>
                <xsd:element ref="ns2:Area" minOccurs="0"/>
                <xsd:element ref="ns2:Fiscal_x0020_Year" minOccurs="0"/>
                <xsd:element ref="ns2:Fiscal_x0020_Quarter" minOccurs="0"/>
                <xsd:element ref="ns2:SF_Opportunity" minOccurs="0"/>
                <xsd:element ref="ns2:MyOrders_Opp" minOccurs="0"/>
                <xsd:element ref="ns2:Salesforce_x003f_" minOccurs="0"/>
                <xsd:element ref="ns2:SF_Record" minOccurs="0"/>
                <xsd:element ref="ns2:_Flow_SignoffStatus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SalesForce_x0020_Opp_x0020_Name" minOccurs="0"/>
                <xsd:element ref="ns2:SF_x0020_Account_x0020_Name" minOccurs="0"/>
                <xsd:element ref="ns2:Document_x0020_Type" minOccurs="0"/>
                <xsd:element ref="ns2:Add_x0020_Path_x0020_to_x0020_Salesforce_x003f_" minOccurs="0"/>
                <xsd:element ref="ns2:SF_Account" minOccurs="0"/>
                <xsd:element ref="ns2:Delete_x003f_" minOccurs="0"/>
                <xsd:element ref="ns2:Bulk_x0020_Delete_x003f_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Rename_x003f_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c69a5d-8250-4aa5-aeac-4011adae435d" elementFormDefault="qualified">
    <xsd:import namespace="http://schemas.microsoft.com/office/2006/documentManagement/types"/>
    <xsd:import namespace="http://schemas.microsoft.com/office/infopath/2007/PartnerControls"/>
    <xsd:element name="Area" ma:index="8" nillable="true" ma:displayName="Area" ma:indexed="true" ma:internalName="Area">
      <xsd:simpleType>
        <xsd:restriction base="dms:Text">
          <xsd:maxLength value="255"/>
        </xsd:restriction>
      </xsd:simpleType>
    </xsd:element>
    <xsd:element name="Fiscal_x0020_Year" ma:index="9" nillable="true" ma:displayName="Fiscal Year" ma:indexed="true" ma:internalName="Fiscal_x0020_Year">
      <xsd:simpleType>
        <xsd:restriction base="dms:Text">
          <xsd:maxLength value="255"/>
        </xsd:restriction>
      </xsd:simpleType>
    </xsd:element>
    <xsd:element name="Fiscal_x0020_Quarter" ma:index="10" nillable="true" ma:displayName="Fiscal Quarter" ma:indexed="true" ma:internalName="Fiscal_x0020_Quarter">
      <xsd:simpleType>
        <xsd:restriction base="dms:Text">
          <xsd:maxLength value="255"/>
        </xsd:restriction>
      </xsd:simpleType>
    </xsd:element>
    <xsd:element name="SF_Opportunity" ma:index="11" nillable="true" ma:displayName="SF_Opportunity" ma:indexed="true" ma:internalName="SF_Opportunity">
      <xsd:simpleType>
        <xsd:restriction base="dms:Text">
          <xsd:maxLength value="255"/>
        </xsd:restriction>
      </xsd:simpleType>
    </xsd:element>
    <xsd:element name="MyOrders_Opp" ma:index="12" nillable="true" ma:displayName="MyOrders_Opp" ma:indexed="true" ma:internalName="MyOrders_Opp">
      <xsd:simpleType>
        <xsd:restriction base="dms:Text">
          <xsd:maxLength value="255"/>
        </xsd:restriction>
      </xsd:simpleType>
    </xsd:element>
    <xsd:element name="Salesforce_x003f_" ma:index="13" nillable="true" ma:displayName="Salesforce?" ma:default="0" ma:internalName="Salesforce_x003f_">
      <xsd:simpleType>
        <xsd:restriction base="dms:Boolean"/>
      </xsd:simpleType>
    </xsd:element>
    <xsd:element name="SF_Record" ma:index="14" nillable="true" ma:displayName="SF_Record" ma:internalName="SF_Record">
      <xsd:simpleType>
        <xsd:restriction base="dms:Text">
          <xsd:maxLength value="255"/>
        </xsd:restriction>
      </xsd:simpleType>
    </xsd:element>
    <xsd:element name="_Flow_SignoffStatus" ma:index="15" nillable="true" ma:displayName="Sign-off status" ma:internalName="Sign_x002d_off_x0020_status">
      <xsd:simpleType>
        <xsd:restriction base="dms:Text"/>
      </xsd:simpleType>
    </xsd:element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SalesForce_x0020_Opp_x0020_Name" ma:index="19" nillable="true" ma:displayName="SF Opp Name" ma:internalName="SalesForce_x0020_Opp_x0020_Name">
      <xsd:simpleType>
        <xsd:restriction base="dms:Text">
          <xsd:maxLength value="255"/>
        </xsd:restriction>
      </xsd:simpleType>
    </xsd:element>
    <xsd:element name="SF_x0020_Account_x0020_Name" ma:index="20" nillable="true" ma:displayName="SF Account Name" ma:internalName="SF_x0020_Account_x0020_Name">
      <xsd:simpleType>
        <xsd:restriction base="dms:Text">
          <xsd:maxLength value="255"/>
        </xsd:restriction>
      </xsd:simpleType>
    </xsd:element>
    <xsd:element name="Document_x0020_Type" ma:index="21" nillable="true" ma:displayName="Document Type" ma:format="Dropdown" ma:indexed="true" ma:internalName="Document_x0020_Type">
      <xsd:simpleType>
        <xsd:union memberTypes="dms:Text">
          <xsd:simpleType>
            <xsd:restriction base="dms:Choice">
              <xsd:enumeration value="SOW"/>
              <xsd:enumeration value="BOM"/>
              <xsd:enumeration value="Solution Summary"/>
              <xsd:enumeration value="SO-Summary"/>
              <xsd:enumeration value="Diagram"/>
              <xsd:enumeration value="PPT"/>
              <xsd:enumeration value="MSA"/>
              <xsd:enumeration value="Other"/>
            </xsd:restriction>
          </xsd:simpleType>
        </xsd:union>
      </xsd:simpleType>
    </xsd:element>
    <xsd:element name="Add_x0020_Path_x0020_to_x0020_Salesforce_x003f_" ma:index="22" nillable="true" ma:displayName="Add Path to Salesforce?" ma:default="0" ma:description="This can only be run from the Opportunity folder level, else it will fail" ma:format="Dropdown" ma:internalName="Add_x0020_Path_x0020_to_x0020_Salesforce_x003f_">
      <xsd:simpleType>
        <xsd:restriction base="dms:Boolean"/>
      </xsd:simpleType>
    </xsd:element>
    <xsd:element name="SF_Account" ma:index="23" nillable="true" ma:displayName="SF_Account" ma:internalName="SF_Account">
      <xsd:simpleType>
        <xsd:restriction base="dms:Text">
          <xsd:maxLength value="255"/>
        </xsd:restriction>
      </xsd:simpleType>
    </xsd:element>
    <xsd:element name="Delete_x003f_" ma:index="24" nillable="true" ma:displayName="Delete?" ma:default="0" ma:indexed="true" ma:internalName="Delete_x003f_">
      <xsd:simpleType>
        <xsd:restriction base="dms:Boolean"/>
      </xsd:simpleType>
    </xsd:element>
    <xsd:element name="Bulk_x0020_Delete_x003f_" ma:index="25" nillable="true" ma:displayName="Bulk Delete?" ma:default="0" ma:internalName="Bulk_x0020_Delete_x003f_">
      <xsd:simpleType>
        <xsd:restriction base="dms:Boolean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8" nillable="true" ma:taxonomy="true" ma:internalName="lcf76f155ced4ddcb4097134ff3c332f" ma:taxonomyFieldName="MediaServiceImageTags" ma:displayName="Image Tags" ma:readOnly="false" ma:fieldId="{5cf76f15-5ced-4ddc-b409-7134ff3c332f}" ma:taxonomyMulti="true" ma:sspId="cefb7213-5598-45af-a1e8-bb0227de72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2" nillable="true" ma:displayName="MediaServiceEventHashCode" ma:hidden="true" ma:internalName="MediaServiceEventHashCode" ma:readOnly="true">
      <xsd:simpleType>
        <xsd:restriction base="dms:Text"/>
      </xsd:simpleType>
    </xsd:element>
    <xsd:element name="Rename_x003f_" ma:index="33" nillable="true" ma:displayName="Rename?" ma:description="Enter in the New File / Folder Name" ma:indexed="true" ma:internalName="Rename_x003f_">
      <xsd:simpleType>
        <xsd:restriction base="dms:Text">
          <xsd:maxLength value="255"/>
        </xsd:restriction>
      </xsd:simpleType>
    </xsd:element>
    <xsd:element name="MediaServiceDateTaken" ma:index="3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35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3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3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fb9784-142d-4739-b143-bc46aa681e03" elementFormDefault="qualified">
    <xsd:import namespace="http://schemas.microsoft.com/office/2006/documentManagement/types"/>
    <xsd:import namespace="http://schemas.microsoft.com/office/infopath/2007/PartnerControls"/>
    <xsd:element name="TaxCatchAll" ma:index="29" nillable="true" ma:displayName="Taxonomy Catch All Column" ma:hidden="true" ma:list="{36032ee0-dfb1-42a2-9ec9-1363844a4d3c}" ma:internalName="TaxCatchAll" ma:showField="CatchAllData" ma:web="29fb9784-142d-4739-b143-bc46aa681e0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03c69a5d-8250-4aa5-aeac-4011adae435d" xsi:nil="true"/>
    <Document_x0020_Type xmlns="03c69a5d-8250-4aa5-aeac-4011adae435d" xsi:nil="true"/>
    <MyOrders_Opp xmlns="03c69a5d-8250-4aa5-aeac-4011adae435d" xsi:nil="true"/>
    <Area xmlns="03c69a5d-8250-4aa5-aeac-4011adae435d" xsi:nil="true"/>
    <Fiscal_x0020_Quarter xmlns="03c69a5d-8250-4aa5-aeac-4011adae435d" xsi:nil="true"/>
    <Rename_x003f_ xmlns="03c69a5d-8250-4aa5-aeac-4011adae435d" xsi:nil="true"/>
    <SF_x0020_Account_x0020_Name xmlns="03c69a5d-8250-4aa5-aeac-4011adae435d" xsi:nil="true"/>
    <Salesforce_x003f_ xmlns="03c69a5d-8250-4aa5-aeac-4011adae435d">false</Salesforce_x003f_>
    <Delete_x003f_ xmlns="03c69a5d-8250-4aa5-aeac-4011adae435d">false</Delete_x003f_>
    <Bulk_x0020_Delete_x003f_ xmlns="03c69a5d-8250-4aa5-aeac-4011adae435d">false</Bulk_x0020_Delete_x003f_>
    <Fiscal_x0020_Year xmlns="03c69a5d-8250-4aa5-aeac-4011adae435d" xsi:nil="true"/>
    <Add_x0020_Path_x0020_to_x0020_Salesforce_x003f_ xmlns="03c69a5d-8250-4aa5-aeac-4011adae435d">false</Add_x0020_Path_x0020_to_x0020_Salesforce_x003f_>
    <SalesForce_x0020_Opp_x0020_Name xmlns="03c69a5d-8250-4aa5-aeac-4011adae435d" xsi:nil="true"/>
    <TaxCatchAll xmlns="29fb9784-142d-4739-b143-bc46aa681e03" xsi:nil="true"/>
    <SF_Record xmlns="03c69a5d-8250-4aa5-aeac-4011adae435d" xsi:nil="true"/>
    <SF_Account xmlns="03c69a5d-8250-4aa5-aeac-4011adae435d" xsi:nil="true"/>
    <lcf76f155ced4ddcb4097134ff3c332f xmlns="03c69a5d-8250-4aa5-aeac-4011adae435d">
      <Terms xmlns="http://schemas.microsoft.com/office/infopath/2007/PartnerControls"/>
    </lcf76f155ced4ddcb4097134ff3c332f>
    <SF_Opportunity xmlns="03c69a5d-8250-4aa5-aeac-4011adae435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BE9C92E-DF96-454A-B46F-A8A1584E90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3c69a5d-8250-4aa5-aeac-4011adae435d"/>
    <ds:schemaRef ds:uri="29fb9784-142d-4739-b143-bc46aa681e0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F396C73-2351-4768-A547-DAF1F55D0652}">
  <ds:schemaRefs>
    <ds:schemaRef ds:uri="http://purl.org/dc/dcmitype/"/>
    <ds:schemaRef ds:uri="http://www.w3.org/XML/1998/namespace"/>
    <ds:schemaRef ds:uri="http://schemas.microsoft.com/office/2006/documentManagement/types"/>
    <ds:schemaRef ds:uri="http://purl.org/dc/terms/"/>
    <ds:schemaRef ds:uri="http://schemas.microsoft.com/office/2006/metadata/properties"/>
    <ds:schemaRef ds:uri="29fb9784-142d-4739-b143-bc46aa681e03"/>
    <ds:schemaRef ds:uri="http://schemas.microsoft.com/office/infopath/2007/PartnerControls"/>
    <ds:schemaRef ds:uri="http://schemas.openxmlformats.org/package/2006/metadata/core-properties"/>
    <ds:schemaRef ds:uri="03c69a5d-8250-4aa5-aeac-4011adae435d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78D244D3-66E1-4B10-868A-4D63D1F1E53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1_Office Theme</Template>
  <TotalTime>11391</TotalTime>
  <Words>557</Words>
  <Application>Microsoft Macintosh PowerPoint</Application>
  <PresentationFormat>Widescreen</PresentationFormat>
  <Paragraphs>67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Avenir Book</vt:lpstr>
      <vt:lpstr>Segoe UI Black</vt:lpstr>
      <vt:lpstr>Wingdings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Pothier, Matthew</dc:creator>
  <cp:lastModifiedBy>Hubby, Russell</cp:lastModifiedBy>
  <cp:revision>4</cp:revision>
  <dcterms:created xsi:type="dcterms:W3CDTF">2026-01-05T22:57:10Z</dcterms:created>
  <dcterms:modified xsi:type="dcterms:W3CDTF">2026-02-06T19:21:05Z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0x010100C3DC9FCF24A2C9498A9062B4FB7C1287</vt:lpwstr>
  </property>
  <property fmtid="{D5CDD505-2E9C-101B-9397-08002B2CF9AE}" pid="3" name="MediaServiceImageTags">
    <vt:lpwstr/>
  </property>
</Properties>
</file>